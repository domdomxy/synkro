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aa9a55-857d-fbfa-3611-9257645baa72}">
          <p14:sldIdLst>
            <p14:sldId id="256"/>
            <p14:sldId id="257"/>
            <p14:sldId id="258"/>
          </p14:sldIdLst>
        </p14:section>
        <p14:section name="Host organization" id="{50b13939-2e2a-2e82-3363-86268a841860}">
          <p14:sldIdLst>
            <p14:sldId id="259"/>
          </p14:sldIdLst>
        </p14:section>
        <p14:section name="Problem statement" id="{326caeb4-5613-c488-df17-80859462772c}">
          <p14:sldIdLst>
            <p14:sldId id="260"/>
            <p14:sldId id="261"/>
          </p14:sldIdLst>
        </p14:section>
        <p14:section name="Solution" id="{95b36aa0-ed40-7000-3447-6abb92681a7c}">
          <p14:sldIdLst>
            <p14:sldId id="262"/>
          </p14:sldIdLst>
        </p14:section>
        <p14:section name="Objectives" id="{44760b32-cd64-0bcd-8530-dd6c1fa91741}">
          <p14:sldIdLst>
            <p14:sldId id="263"/>
          </p14:sldIdLst>
        </p14:section>
        <p14:section name="Design" id="{c56f3ac4-8b64-e746-296f-36241d7c9c97}">
          <p14:sldIdLst>
            <p14:sldId id="264"/>
            <p14:sldId id="265"/>
            <p14:sldId id="266"/>
            <p14:sldId id="267"/>
            <p14:sldId id="268"/>
            <p14:sldId id="269"/>
            <p14:sldId id="270"/>
          </p14:sldIdLst>
        </p14:section>
        <p14:section name="Realisation" id="{d565eecf-d8a0-c3ee-c091-574c594fd519}">
          <p14:sldIdLst>
            <p14:sldId id="271"/>
            <p14:sldId id="272"/>
            <p14:sldId id="273"/>
            <p14:sldId id="274"/>
            <p14:sldId id="275"/>
            <p14:sldId id="276"/>
            <p14:sldId id="277"/>
            <p14:sldId id="278"/>
          </p14:sldIdLst>
        </p14:section>
        <p14:section name="Conclusion" id="{bfe7b5ae-47a8-e22b-b299-646d17e52ff7}">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jury, and everyone present. My name is Adem Ouerhani. I'm a student in the Licence in Software Engineering and Information Systems at ISLAIB, and today I'm presenting my end-of-year internship project: Synkro, a platform that helps teams manage their projects and tasks. I did this internship at Kernel Solution &amp; Innovation, under the supervision of Mr. Mkaissi Khalil.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I'll start with the introduction and the host company. Then the problem I wanted to solve, the solution and its objectives. After that, the design part: the method, the requirements and the diagrams. Then the realisation: the architecture, the technologies, and the four sprints with screenshots. And I'll finish with the conclusion and the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almost every team works on several tasks at the same time, often remotely. In that situation, two questions matter every day: who is doing what, and where does each task stand? The problem is that existing tools don't answer these questions well for small teams. Some are too basic, others are too heavy. And the consequences are real: unclear responsibilities, tasks that fall through the cracks, slow feedback, and no clear view of the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my internship at Kernel Solution &amp; Innovation, a digital agency in Hammam-Lif. They have more than seven years of experience, and they build custom software, mobile applications and websites, and they also do digital marketing. The agency works in an Agile way, with four steps that repeat: planning, development, testing, and launch with support. My internship was self-directed. I chose the topic, I designed the product, and I built it myself. The CEO, Mr. Khalil, supervised me, but the technical decisions were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exact problem? I see four points. First, simple tools like Trello are easy to use, but their roles are basic. Second, complete tools like Jira or ClickUp have advanced roles, but they take time to learn and they are heavy for a small team. Third, real-time collaboration is limited in most of them. And fourth, nobody can easily see who owns a task and who has to validate it. Simplicity, real-time and precise roles are rarely found together in one lightweight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four popular tools with Synkro, on three criteria: ease of use, real-time collaboration, and role granularity. Trello is very simple, but limited in real-time, with basic roles. Asana is simple and fast, with moderate roles. Jira and ClickUp have advanced roles, but a steep learning curve. Synkro aims to combine the three: simple and fast, true real-time, and four granular roles. This is the gap I wanted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is Synkro, a collaborative web platform. It is built on four ideas. First, role-aware projects: every member is an owner, a manager, a member or a tester. Second, a complete task lifecycle, with checklists, deliverables and a review step. Third, real-time notifications through WebSockets, so nobody needs to refresh the page. And fourth, an administration layer, to moderate the platform and follow its statistics. I built all of this alone, in seven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five objectives. One, deliver a complete and usable platform within seven weeks. Two, control access by role, so each person only sees and does what their role allows. Three, real-time collaboration through WebSockets. Four, administration and moderation tools, so the platform stays healthy as it grows. And five, run the internship itself as an Agile project, with sprints, because I wanted to manage my own work like a real team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design part. I used an Agile method inspired by Scrum. I was the only developer, so I was also the product owner. The work started with a planning sprint, Sprint 0, and then four development sprints. In each sprint, I repeated the same cycle: UML modelling, development, then testing and self-review. And each sprint ended with a working increment that I could demonstrate.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lasted seven weeks, from June 15 to July 31. The first week was Sprint 0, for planning and setting up the environment. Sprint 1, authentication, and Sprint 2, projects and tasks, took two weeks each, because they are the core of the application, and I wanted a solid base. Sprint 3, real-time collaboration, and Sprint 4, administration, took one week each, because they are built on top of that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levels of roles. At project level, four. The owner has full control of the project, including the roles and the deletion. The manager creates and assigns tasks and manages the members. The member works on the assigned tasks, with checklists and deliverables. And the tester validates the submitted work, with restricted permissions. Then, at platform level, two roles on top of the normal user. The administrator moderates users and handles support tickets and appeals. And the superadmin can promote or demote users, edit their information and delete accounts. Every sensitive action is checked against these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non-functional requirements, I focused on four things. Usability: a clean and responsive interface, on desktop and on mobile, with light, dark and black themes. Performance: real-time updates with minimal latency. Security: every sensitive action goes through role-based authorization. And maintainability: a clean MVC separation and a normalized data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use case diagram. It shows the actors and the main things each of them can do in the system. I'll let you look at it for a moment, but the key point is that the roles I just described are all modelled here, from the simple user to the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extract of the class diagram, the one from Sprint 2, which is the core of the application. A project has tasks, notes and invitations. A task has checklist items, deliverables, and dependencies on other tasks. This model is what makes the role-based workflow possible, and I kept it normalized, so it stays easy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sequence diagram of the login. The user enters their credentials in the login form, which goes to the authentication controller, and then a login request validates them. Depending on the state of the account, the user is redirected in different ways: for example to a suspension page, to a forced password change, or to the page they wanted. It shows how the checks happen,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works technically, from top to bottom. The browser runs React with Inertia.js and Tailwind CSS. Requests go to Laravel controllers and policies, and the policies check what each role is allowed to do. Then the application services handle notifications, logs and scheduled jobs. From there, the data goes two ways. Persistent data goes through Eloquent to the MySQL database. Events are broadcast and, depending on the user's notification preferences, they become either a live push through Laravel Reverb and Echo, or an e-mail in a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realisation. Here are the main technologies. Laravel 13 for the whole backend: routing, controllers, policies and the Eloquent ORM. React for the interface, linked to Laravel with Inertia.js, so I didn't need a separate REST API. Tailwind CSS for the styling and the themes. MySQL for the database. And Laravel Reverb, the WebSocket server that makes the real-time part possible. I also used Recharts for the charts, and Git and GitHub for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the result. First, the public landing page, with the pitch of the platform, some statistics, and the buttons to register or to log in. It also links to the Terms of Use and the Privacy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1 was authentication and user management. Users can register with e-mail verification, log in, reset their password and manage their profile. I added three themes: light, dark and black. Users can also see their active sessions, so they know which devices are logged in. And a deactivated or deleted account can be restored when the user comes back. After this sprint, I had a complete and secure account system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2 is the heart of Synkro. It covers projects, invitations and roles, and the task lifecycle: To Do, In Progress, Submitted, In Review, and Done. After a member submits a task, a reviewer approves it or sends it back. Tasks have checklists and deliverables, which can be files or links. Everything appears on a Kanban board that updates live for the whole team. I also built the Testing Queue for reviewers, a My Tasks page, and bulk actions for managers. After this sprint, a team could already plan and follow its work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Sprint 3, the platform started to feel alive. I added task comments, with structured feedback from the reviewers. Comments, status changes and invitations are pushed instantly through WebSockets. I also added personal notes, shared project resources, and an activity log for each project, so it's clear who did what. Users can mute notifications per project or per task, so they aren't flooded. And there is a personal dashboard with charts and a calendar, plus reminders and deadline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4 was administration. Admins can manage users and promote or demote them. There is a suspension process, and a suspended user can send a formal appeal. I built a feedback and support ticket system, with categories that the admin can configure. And admins can give a temporary password to a user, who must then change it at the next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analytics dashboard for admins. It gives platform-wide numbers about users, projects and tasks, with activity charts and recent activity, so the administrators have a clear picture of the platform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skills. I learned a lot about the Laravel ecosystem: policies, jobs and scheduling. I learned to use React with Inertia without a separate REST API, how real-time systems work with WebSockets, and how to model relational data on a bigger platform than I had done before. There were also challenges. Real-time updates: I had to make sure the same event wasn't sent twice. The role system: I wanted it flexible but still simple, and it took several attempts. The scope: with seven weeks, I had to say no to good ideas to finish the important ones. And managing my own Agile process, as developer and product owner, was a lesson in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Synkro meets the objectives I set at the beginning: collaboration based on roles, real-time updates, and an administration layer. I delivered it with a sprint-based process, from the first requirement to a working product. For me, this internship was a full experience of software engineering. I learned how to ship something real, alone, with a deadline and limited time. The code is public on GitHub, if you want to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future, I have ideas in four directions. Security: two-factor authentication, a CAPTCHA, and Google sign-in. Communication: direct messages and a chat for each project, a chatbot, and announcements from the superadmin. Moderation: warnings before a suspension. And the product itself: a search across all projects, because today the search works inside one project, custom roles instead of the four fixed ones, and public profiles where a project can be shown as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Before the questions, I would like to thank Mr. Mkaissi Khalil and everyone at Kernel Solution &amp; Innovation for their trust and support, and my teachers at ISLAIB. I'm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IG">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263640"/>
            <a:ext cx="411480" cy="41148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FFFFFF"/>
                </a:solidFill>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MALL">
    <p:bg>
      <p:bgPr>
        <a:solidFill>
          <a:schemeClr val="bg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263640"/>
            <a:ext cx="411480" cy="411480"/>
          </a:xfrm>
          <a:prstGeom prst="rect">
            <a:avLst/>
          </a:prstGeom>
          <a:extLst>
            <a:ext uri="{C572A759-6A51-4108-AA02-DFA0A04FC94B}">
              <ma14:wrappingTextBoxFlag xmlns:ma14="http://schemas.microsoft.com/office/mac/drawingml/2011/main" val="0"/>
            </a:ext>
          </a:extLst>
        </p:spPr>
        <p:txBody>
          <a:bodyPr anchor="ctr"/>
          <a:lstStyle>
            <a:lvl1pPr>
              <a:defRPr sz="1200">
                <a:solidFill>
                  <a:srgbClr val="FFFFFF"/>
                </a:solidFill>
              </a:defRPr>
            </a:lvl1pPr>
          </a:lstStyle>
          <a:p>
            <a:pPr algn="ct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SLAIB logo">    </p:cNvPr>
          <p:cNvPicPr>
            <a:picLocks noChangeAspect="1"/>
          </p:cNvPicPr>
          <p:nvPr/>
        </p:nvPicPr>
        <p:blipFill>
          <a:blip r:embed="rId1"/>
          <a:stretch>
            <a:fillRect/>
          </a:stretch>
        </p:blipFill>
        <p:spPr>
          <a:xfrm>
            <a:off x="502920" y="274320"/>
            <a:ext cx="1280160" cy="1280160"/>
          </a:xfrm>
          <a:prstGeom prst="rect">
            <a:avLst/>
          </a:prstGeom>
        </p:spPr>
      </p:pic>
      <p:pic>
        <p:nvPicPr>
          <p:cNvPr id="3" name="Image 1" descr="University of Jendouba logo">    </p:cNvPr>
          <p:cNvPicPr>
            <a:picLocks noChangeAspect="1"/>
          </p:cNvPicPr>
          <p:nvPr/>
        </p:nvPicPr>
        <p:blipFill>
          <a:blip r:embed="rId2"/>
          <a:stretch>
            <a:fillRect/>
          </a:stretch>
        </p:blipFill>
        <p:spPr>
          <a:xfrm>
            <a:off x="10698480" y="274320"/>
            <a:ext cx="1005840" cy="1188720"/>
          </a:xfrm>
          <a:prstGeom prst="rect">
            <a:avLst/>
          </a:prstGeom>
        </p:spPr>
      </p:pic>
      <p:sp>
        <p:nvSpPr>
          <p:cNvPr id="4" name="Text 0"/>
          <p:cNvSpPr txBox="1"/>
          <p:nvPr/>
        </p:nvSpPr>
        <p:spPr>
          <a:xfrm>
            <a:off x="2103120" y="274320"/>
            <a:ext cx="7955280" cy="1280160"/>
          </a:xfrm>
          <a:prstGeom prst="rect">
            <a:avLst/>
          </a:prstGeom>
          <a:noFill/>
          <a:ln/>
        </p:spPr>
        <p:txBody>
          <a:bodyPr wrap="square" lIns="0" tIns="0" rIns="0" bIns="0" rtlCol="0" anchor="ctr"/>
          <a:lstStyle/>
          <a:p>
            <a:pPr algn="ctr" indent="0" marL="0">
              <a:buNone/>
            </a:pPr>
            <a:r>
              <a:rPr lang="en-US" sz="1400" b="1" dirty="0">
                <a:solidFill>
                  <a:schemeClr val="tx1"/>
                </a:solidFill>
              </a:rPr>
              <a:t>Republic of Tunisia</a:t>
            </a:r>
            <a:endParaRPr lang="en-US" sz="1400" dirty="0"/>
          </a:p>
          <a:p>
            <a:pPr algn="ctr" indent="0" marL="0">
              <a:buNone/>
            </a:pPr>
            <a:r>
              <a:rPr lang="en-US" sz="1400" dirty="0">
                <a:solidFill>
                  <a:schemeClr val="tx1"/>
                </a:solidFill>
              </a:rPr>
              <a:t>Ministry of Higher Education and Scientific Research</a:t>
            </a:r>
            <a:endParaRPr lang="en-US" sz="1400" dirty="0"/>
          </a:p>
          <a:p>
            <a:pPr algn="ctr" indent="0" marL="0">
              <a:buNone/>
            </a:pPr>
            <a:r>
              <a:rPr lang="en-US" sz="1400" dirty="0">
                <a:solidFill>
                  <a:schemeClr val="tx1"/>
                </a:solidFill>
              </a:rPr>
              <a:t>University of Jendouba</a:t>
            </a:r>
            <a:endParaRPr lang="en-US" sz="1400" dirty="0"/>
          </a:p>
          <a:p>
            <a:pPr algn="ctr" indent="0" marL="0">
              <a:buNone/>
            </a:pPr>
            <a:r>
              <a:rPr lang="en-US" sz="1400" dirty="0">
                <a:solidFill>
                  <a:schemeClr val="tx1"/>
                </a:solidFill>
              </a:rPr>
              <a:t>Higher Institute of Applied Languages and Computer Science of Béja (ISLAIB)</a:t>
            </a:r>
            <a:endParaRPr lang="en-US" sz="1400" dirty="0"/>
          </a:p>
        </p:txBody>
      </p:sp>
      <p:sp>
        <p:nvSpPr>
          <p:cNvPr id="5" name="Text 1"/>
          <p:cNvSpPr txBox="1"/>
          <p:nvPr/>
        </p:nvSpPr>
        <p:spPr>
          <a:xfrm>
            <a:off x="731520" y="1783080"/>
            <a:ext cx="10698480" cy="457200"/>
          </a:xfrm>
          <a:prstGeom prst="rect">
            <a:avLst/>
          </a:prstGeom>
          <a:noFill/>
          <a:ln/>
        </p:spPr>
        <p:txBody>
          <a:bodyPr wrap="square" lIns="0" tIns="0" rIns="0" bIns="0" rtlCol="0" anchor="ctr"/>
          <a:lstStyle/>
          <a:p>
            <a:pPr algn="ctr" indent="0" marL="0">
              <a:buNone/>
            </a:pPr>
            <a:r>
              <a:rPr lang="en-US" sz="2200" b="1" dirty="0">
                <a:solidFill>
                  <a:schemeClr val="accent1"/>
                </a:solidFill>
              </a:rPr>
              <a:t>End-of-Year Internship Project (PFA)</a:t>
            </a:r>
            <a:endParaRPr lang="en-US" sz="2200" dirty="0"/>
          </a:p>
        </p:txBody>
      </p:sp>
      <p:sp>
        <p:nvSpPr>
          <p:cNvPr id="6" name="Text 2"/>
          <p:cNvSpPr txBox="1"/>
          <p:nvPr/>
        </p:nvSpPr>
        <p:spPr>
          <a:xfrm>
            <a:off x="731520" y="2286000"/>
            <a:ext cx="10698480" cy="1280160"/>
          </a:xfrm>
          <a:prstGeom prst="rect">
            <a:avLst/>
          </a:prstGeom>
          <a:noFill/>
          <a:ln/>
        </p:spPr>
        <p:txBody>
          <a:bodyPr wrap="square" lIns="0" tIns="0" rIns="0" bIns="0" rtlCol="0" anchor="ctr"/>
          <a:lstStyle/>
          <a:p>
            <a:pPr algn="ctr" indent="0" marL="0">
              <a:buNone/>
            </a:pPr>
            <a:r>
              <a:rPr lang="en-US" sz="2800" b="1" dirty="0">
                <a:solidFill>
                  <a:schemeClr val="accent3"/>
                </a:solidFill>
              </a:rPr>
              <a:t>DESIGN AND DEVELOPMENT OF SYNKRO,</a:t>
            </a:r>
            <a:endParaRPr lang="en-US" sz="2800" dirty="0"/>
          </a:p>
          <a:p>
            <a:pPr algn="ctr" indent="0" marL="0">
              <a:buNone/>
            </a:pPr>
            <a:r>
              <a:rPr lang="en-US" sz="2800" b="1" dirty="0">
                <a:solidFill>
                  <a:schemeClr val="accent3"/>
                </a:solidFill>
              </a:rPr>
              <a:t>A COLLABORATIVE PROJECT AND TASK MANAGEMENT PLATFORM</a:t>
            </a:r>
            <a:endParaRPr lang="en-US" sz="2800" dirty="0"/>
          </a:p>
        </p:txBody>
      </p:sp>
      <p:sp>
        <p:nvSpPr>
          <p:cNvPr id="7" name="Text 3"/>
          <p:cNvSpPr txBox="1"/>
          <p:nvPr/>
        </p:nvSpPr>
        <p:spPr>
          <a:xfrm>
            <a:off x="731520" y="3657600"/>
            <a:ext cx="10698480" cy="365760"/>
          </a:xfrm>
          <a:prstGeom prst="rect">
            <a:avLst/>
          </a:prstGeom>
          <a:noFill/>
          <a:ln/>
        </p:spPr>
        <p:txBody>
          <a:bodyPr wrap="square" lIns="0" tIns="0" rIns="0" bIns="0" rtlCol="0" anchor="ctr"/>
          <a:lstStyle/>
          <a:p>
            <a:pPr algn="ctr" indent="0" marL="0">
              <a:buNone/>
            </a:pPr>
            <a:r>
              <a:rPr lang="en-US" sz="1600" dirty="0">
                <a:solidFill>
                  <a:schemeClr val="tx1"/>
                </a:solidFill>
              </a:rPr>
              <a:t>Bachelor's Degree in Computer Engineering (Licence GLSI)</a:t>
            </a:r>
            <a:endParaRPr lang="en-US" sz="1600" dirty="0"/>
          </a:p>
        </p:txBody>
      </p:sp>
      <p:sp>
        <p:nvSpPr>
          <p:cNvPr id="8" name="Cover band"/>
          <p:cNvSpPr/>
          <p:nvPr/>
        </p:nvSpPr>
        <p:spPr>
          <a:xfrm>
            <a:off x="0" y="4526280"/>
            <a:ext cx="12188952" cy="2331720"/>
          </a:xfrm>
          <a:prstGeom prst="rect">
            <a:avLst/>
          </a:prstGeom>
          <a:solidFill>
            <a:schemeClr val="accent1"/>
          </a:solidFill>
          <a:ln w="12700">
            <a:solidFill>
              <a:schemeClr val="accent1"/>
            </a:solidFill>
            <a:prstDash val="solid"/>
          </a:ln>
        </p:spPr>
      </p:sp>
      <p:sp>
        <p:nvSpPr>
          <p:cNvPr id="9" name="Cover circle"/>
          <p:cNvSpPr/>
          <p:nvPr/>
        </p:nvSpPr>
        <p:spPr>
          <a:xfrm>
            <a:off x="9692640" y="3840480"/>
            <a:ext cx="4206240" cy="4206240"/>
          </a:xfrm>
          <a:prstGeom prst="ellipse">
            <a:avLst/>
          </a:prstGeom>
          <a:solidFill>
            <a:schemeClr val="accent3">
              <a:alpha val="45000"/>
            </a:schemeClr>
          </a:solidFill>
          <a:ln w="12700">
            <a:solidFill>
              <a:schemeClr val="accent3"/>
            </a:solidFill>
            <a:prstDash val="solid"/>
          </a:ln>
        </p:spPr>
      </p:sp>
      <p:sp>
        <p:nvSpPr>
          <p:cNvPr id="10" name="Text 6"/>
          <p:cNvSpPr txBox="1"/>
          <p:nvPr/>
        </p:nvSpPr>
        <p:spPr>
          <a:xfrm>
            <a:off x="731520" y="4800600"/>
            <a:ext cx="4023360" cy="914400"/>
          </a:xfrm>
          <a:prstGeom prst="rect">
            <a:avLst/>
          </a:prstGeom>
          <a:noFill/>
          <a:ln/>
        </p:spPr>
        <p:txBody>
          <a:bodyPr wrap="square" lIns="0" tIns="0" rIns="0" bIns="0" rtlCol="0" anchor="t"/>
          <a:lstStyle/>
          <a:p>
            <a:pPr indent="0" marL="0">
              <a:buNone/>
            </a:pPr>
            <a:r>
              <a:rPr lang="en-US" sz="1400" dirty="0">
                <a:solidFill>
                  <a:schemeClr val="accent4"/>
                </a:solidFill>
              </a:rPr>
              <a:t>Prepared by</a:t>
            </a:r>
            <a:endParaRPr lang="en-US" sz="1400" dirty="0"/>
          </a:p>
          <a:p>
            <a:pPr indent="0" marL="0">
              <a:buNone/>
            </a:pPr>
            <a:r>
              <a:rPr lang="en-US" sz="2200" b="1" dirty="0">
                <a:solidFill>
                  <a:schemeClr val="bg1"/>
                </a:solidFill>
              </a:rPr>
              <a:t>Adem Ouerhani</a:t>
            </a:r>
            <a:endParaRPr lang="en-US" sz="1400" dirty="0"/>
          </a:p>
        </p:txBody>
      </p:sp>
      <p:sp>
        <p:nvSpPr>
          <p:cNvPr id="11" name="Text 7"/>
          <p:cNvSpPr txBox="1"/>
          <p:nvPr/>
        </p:nvSpPr>
        <p:spPr>
          <a:xfrm>
            <a:off x="4937760" y="4800600"/>
            <a:ext cx="4572000" cy="1280160"/>
          </a:xfrm>
          <a:prstGeom prst="rect">
            <a:avLst/>
          </a:prstGeom>
          <a:noFill/>
          <a:ln/>
        </p:spPr>
        <p:txBody>
          <a:bodyPr wrap="square" lIns="0" tIns="0" rIns="0" bIns="0" rtlCol="0" anchor="t"/>
          <a:lstStyle/>
          <a:p>
            <a:pPr indent="0" marL="0">
              <a:buNone/>
            </a:pPr>
            <a:r>
              <a:rPr lang="en-US" sz="1400" dirty="0">
                <a:solidFill>
                  <a:schemeClr val="accent4"/>
                </a:solidFill>
              </a:rPr>
              <a:t>Professional supervisor</a:t>
            </a:r>
            <a:endParaRPr lang="en-US" sz="1400" dirty="0"/>
          </a:p>
          <a:p>
            <a:pPr indent="0" marL="0">
              <a:buNone/>
            </a:pPr>
            <a:r>
              <a:rPr lang="en-US" sz="2200" b="1" dirty="0">
                <a:solidFill>
                  <a:schemeClr val="bg1"/>
                </a:solidFill>
              </a:rPr>
              <a:t>Mr. Mkaissi Khalil</a:t>
            </a:r>
            <a:endParaRPr lang="en-US" sz="1400" dirty="0"/>
          </a:p>
          <a:p>
            <a:pPr indent="0" marL="0">
              <a:buNone/>
            </a:pPr>
            <a:r>
              <a:rPr lang="en-US" sz="1400" dirty="0">
                <a:solidFill>
                  <a:schemeClr val="bg1"/>
                </a:solidFill>
              </a:rPr>
              <a:t>Kernel Solution &amp; Innovation</a:t>
            </a:r>
            <a:endParaRPr lang="en-US" sz="1400" dirty="0"/>
          </a:p>
        </p:txBody>
      </p:sp>
      <p:sp>
        <p:nvSpPr>
          <p:cNvPr id="12" name="Text 8"/>
          <p:cNvSpPr txBox="1"/>
          <p:nvPr/>
        </p:nvSpPr>
        <p:spPr>
          <a:xfrm>
            <a:off x="731520" y="6080760"/>
            <a:ext cx="4023360" cy="365760"/>
          </a:xfrm>
          <a:prstGeom prst="rect">
            <a:avLst/>
          </a:prstGeom>
          <a:noFill/>
          <a:ln/>
        </p:spPr>
        <p:txBody>
          <a:bodyPr wrap="square" lIns="0" tIns="0" rIns="0" bIns="0" rtlCol="0" anchor="ctr"/>
          <a:lstStyle/>
          <a:p>
            <a:pPr indent="0" marL="0">
              <a:buNone/>
            </a:pPr>
            <a:r>
              <a:rPr lang="en-US" sz="1400" dirty="0">
                <a:solidFill>
                  <a:schemeClr val="bg1"/>
                </a:solidFill>
              </a:rPr>
              <a:t>Academic year 2025 –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985266" cy="237744"/>
          </a:xfrm>
          <a:prstGeom prst="rect">
            <a:avLst/>
          </a:prstGeom>
          <a:solidFill>
            <a:schemeClr val="accent4"/>
          </a:solidFill>
          <a:ln w="12700">
            <a:solidFill>
              <a:schemeClr val="accent4"/>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Host organization</a:t>
            </a:r>
            <a:endParaRPr lang="en-US" sz="1000" dirty="0"/>
          </a:p>
        </p:txBody>
      </p:sp>
      <p:sp>
        <p:nvSpPr>
          <p:cNvPr id="10"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1"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Problem statement</a:t>
            </a:r>
            <a:endParaRPr lang="en-US" sz="1000" dirty="0"/>
          </a:p>
        </p:txBody>
      </p:sp>
      <p:sp>
        <p:nvSpPr>
          <p:cNvPr id="12"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3"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Solution</a:t>
            </a:r>
            <a:endParaRPr lang="en-US" sz="1000" dirty="0"/>
          </a:p>
        </p:txBody>
      </p:sp>
      <p:sp>
        <p:nvSpPr>
          <p:cNvPr id="14"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5"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6"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17"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18"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19"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0"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1"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2"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3"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Outline</a:t>
            </a:r>
            <a:endParaRPr lang="en-US" sz="2600" dirty="0"/>
          </a:p>
        </p:txBody>
      </p:sp>
      <p:sp>
        <p:nvSpPr>
          <p:cNvPr id="24" name="Outline badge 1"/>
          <p:cNvSpPr txBox="1"/>
          <p:nvPr/>
        </p:nvSpPr>
        <p:spPr>
          <a:xfrm>
            <a:off x="4297680" y="91440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01</a:t>
            </a:r>
            <a:endParaRPr lang="en-US" sz="1600" dirty="0"/>
          </a:p>
        </p:txBody>
      </p:sp>
      <p:sp>
        <p:nvSpPr>
          <p:cNvPr id="25" name="Outline item 1"/>
          <p:cNvSpPr txBox="1"/>
          <p:nvPr/>
        </p:nvSpPr>
        <p:spPr>
          <a:xfrm>
            <a:off x="5074920" y="86868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Introduction</a:t>
            </a:r>
            <a:endParaRPr lang="en-US" sz="1800" dirty="0"/>
          </a:p>
        </p:txBody>
      </p:sp>
      <p:sp>
        <p:nvSpPr>
          <p:cNvPr id="26" name="Outline badge 2"/>
          <p:cNvSpPr txBox="1"/>
          <p:nvPr/>
        </p:nvSpPr>
        <p:spPr>
          <a:xfrm>
            <a:off x="8138160" y="91440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02</a:t>
            </a:r>
            <a:endParaRPr lang="en-US" sz="1600" dirty="0"/>
          </a:p>
        </p:txBody>
      </p:sp>
      <p:sp>
        <p:nvSpPr>
          <p:cNvPr id="27" name="Outline item 2"/>
          <p:cNvSpPr txBox="1"/>
          <p:nvPr/>
        </p:nvSpPr>
        <p:spPr>
          <a:xfrm>
            <a:off x="8915400" y="86868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Host organization</a:t>
            </a:r>
            <a:endParaRPr lang="en-US" sz="1800" dirty="0"/>
          </a:p>
        </p:txBody>
      </p:sp>
      <p:sp>
        <p:nvSpPr>
          <p:cNvPr id="28" name="Outline badge 3"/>
          <p:cNvSpPr txBox="1"/>
          <p:nvPr/>
        </p:nvSpPr>
        <p:spPr>
          <a:xfrm>
            <a:off x="4297680" y="21488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03</a:t>
            </a:r>
            <a:endParaRPr lang="en-US" sz="1600" dirty="0"/>
          </a:p>
        </p:txBody>
      </p:sp>
      <p:sp>
        <p:nvSpPr>
          <p:cNvPr id="29" name="Outline item 3"/>
          <p:cNvSpPr txBox="1"/>
          <p:nvPr/>
        </p:nvSpPr>
        <p:spPr>
          <a:xfrm>
            <a:off x="5074920" y="210312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Problem statement</a:t>
            </a:r>
            <a:endParaRPr lang="en-US" sz="1800" dirty="0"/>
          </a:p>
        </p:txBody>
      </p:sp>
      <p:sp>
        <p:nvSpPr>
          <p:cNvPr id="30" name="Outline badge 4"/>
          <p:cNvSpPr txBox="1"/>
          <p:nvPr/>
        </p:nvSpPr>
        <p:spPr>
          <a:xfrm>
            <a:off x="8138160" y="21488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04</a:t>
            </a:r>
            <a:endParaRPr lang="en-US" sz="1600" dirty="0"/>
          </a:p>
        </p:txBody>
      </p:sp>
      <p:sp>
        <p:nvSpPr>
          <p:cNvPr id="31" name="Outline item 4"/>
          <p:cNvSpPr txBox="1"/>
          <p:nvPr/>
        </p:nvSpPr>
        <p:spPr>
          <a:xfrm>
            <a:off x="8915400" y="210312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Solution</a:t>
            </a:r>
            <a:endParaRPr lang="en-US" sz="1800" dirty="0"/>
          </a:p>
        </p:txBody>
      </p:sp>
      <p:sp>
        <p:nvSpPr>
          <p:cNvPr id="32" name="Outline badge 5"/>
          <p:cNvSpPr txBox="1"/>
          <p:nvPr/>
        </p:nvSpPr>
        <p:spPr>
          <a:xfrm>
            <a:off x="4297680" y="338328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05</a:t>
            </a:r>
            <a:endParaRPr lang="en-US" sz="1600" dirty="0"/>
          </a:p>
        </p:txBody>
      </p:sp>
      <p:sp>
        <p:nvSpPr>
          <p:cNvPr id="33" name="Outline item 5"/>
          <p:cNvSpPr txBox="1"/>
          <p:nvPr/>
        </p:nvSpPr>
        <p:spPr>
          <a:xfrm>
            <a:off x="5074920" y="333756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Objectives</a:t>
            </a:r>
            <a:endParaRPr lang="en-US" sz="1800" dirty="0"/>
          </a:p>
        </p:txBody>
      </p:sp>
      <p:sp>
        <p:nvSpPr>
          <p:cNvPr id="34" name="Outline badge 6"/>
          <p:cNvSpPr txBox="1"/>
          <p:nvPr/>
        </p:nvSpPr>
        <p:spPr>
          <a:xfrm>
            <a:off x="8138160" y="338328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06</a:t>
            </a:r>
            <a:endParaRPr lang="en-US" sz="1600" dirty="0"/>
          </a:p>
        </p:txBody>
      </p:sp>
      <p:sp>
        <p:nvSpPr>
          <p:cNvPr id="35" name="Outline item 6"/>
          <p:cNvSpPr txBox="1"/>
          <p:nvPr/>
        </p:nvSpPr>
        <p:spPr>
          <a:xfrm>
            <a:off x="8915400" y="333756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Design</a:t>
            </a:r>
            <a:endParaRPr lang="en-US" sz="1800" dirty="0"/>
          </a:p>
        </p:txBody>
      </p:sp>
      <p:sp>
        <p:nvSpPr>
          <p:cNvPr id="36" name="Outline badge 7"/>
          <p:cNvSpPr txBox="1"/>
          <p:nvPr/>
        </p:nvSpPr>
        <p:spPr>
          <a:xfrm>
            <a:off x="4297680" y="46177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07</a:t>
            </a:r>
            <a:endParaRPr lang="en-US" sz="1600" dirty="0"/>
          </a:p>
        </p:txBody>
      </p:sp>
      <p:sp>
        <p:nvSpPr>
          <p:cNvPr id="37" name="Outline item 7"/>
          <p:cNvSpPr txBox="1"/>
          <p:nvPr/>
        </p:nvSpPr>
        <p:spPr>
          <a:xfrm>
            <a:off x="5074920" y="457200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Realisation</a:t>
            </a:r>
            <a:endParaRPr lang="en-US" sz="1800" dirty="0"/>
          </a:p>
        </p:txBody>
      </p:sp>
      <p:sp>
        <p:nvSpPr>
          <p:cNvPr id="38" name="Outline badge 8"/>
          <p:cNvSpPr txBox="1"/>
          <p:nvPr/>
        </p:nvSpPr>
        <p:spPr>
          <a:xfrm>
            <a:off x="8138160" y="46177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08</a:t>
            </a:r>
            <a:endParaRPr lang="en-US" sz="1600" dirty="0"/>
          </a:p>
        </p:txBody>
      </p:sp>
      <p:sp>
        <p:nvSpPr>
          <p:cNvPr id="39" name="Outline item 8"/>
          <p:cNvSpPr txBox="1"/>
          <p:nvPr/>
        </p:nvSpPr>
        <p:spPr>
          <a:xfrm>
            <a:off x="8915400" y="4572000"/>
            <a:ext cx="2834640" cy="685800"/>
          </a:xfrm>
          <a:prstGeom prst="rect">
            <a:avLst/>
          </a:prstGeom>
          <a:noFill/>
          <a:ln/>
        </p:spPr>
        <p:txBody>
          <a:bodyPr wrap="square" lIns="0" tIns="0" rIns="0" bIns="0" rtlCol="0" anchor="ctr"/>
          <a:lstStyle/>
          <a:p>
            <a:pPr indent="0" marL="0">
              <a:buNone/>
            </a:pPr>
            <a:r>
              <a:rPr lang="en-US" sz="1800" b="1" dirty="0">
                <a:solidFill>
                  <a:schemeClr val="accent3"/>
                </a:solidFill>
              </a:rPr>
              <a:t>Conclusion &amp; perspectives</a:t>
            </a:r>
            <a:endParaRPr lang="en-US" sz="18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4"/>
          </a:solidFill>
          <a:ln w="12700">
            <a:solidFill>
              <a:schemeClr val="accent4"/>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Host organization</a:t>
            </a:r>
            <a:endParaRPr lang="en-US" sz="1000" dirty="0"/>
          </a:p>
        </p:txBody>
      </p:sp>
      <p:sp>
        <p:nvSpPr>
          <p:cNvPr id="10"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1"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Problem statement</a:t>
            </a:r>
            <a:endParaRPr lang="en-US" sz="1000" dirty="0"/>
          </a:p>
        </p:txBody>
      </p:sp>
      <p:sp>
        <p:nvSpPr>
          <p:cNvPr id="12"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3"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Solution</a:t>
            </a:r>
            <a:endParaRPr lang="en-US" sz="1000" dirty="0"/>
          </a:p>
        </p:txBody>
      </p:sp>
      <p:sp>
        <p:nvSpPr>
          <p:cNvPr id="14"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5"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6"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17"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18"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19"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0"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1"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2"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3"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01  ·  INTRODUCTION</a:t>
            </a:r>
            <a:endParaRPr lang="en-US" sz="1200" dirty="0"/>
          </a:p>
        </p:txBody>
      </p:sp>
      <p:sp>
        <p:nvSpPr>
          <p:cNvPr id="24"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Introduction</a:t>
            </a:r>
            <a:endParaRPr lang="en-US" sz="3400" dirty="0"/>
          </a:p>
        </p:txBody>
      </p:sp>
      <p:sp>
        <p:nvSpPr>
          <p:cNvPr id="25" name="Card Context"/>
          <p:cNvSpPr/>
          <p:nvPr/>
        </p:nvSpPr>
        <p:spPr>
          <a:xfrm>
            <a:off x="5394960" y="822960"/>
            <a:ext cx="6309360" cy="1645920"/>
          </a:xfrm>
          <a:prstGeom prst="rect">
            <a:avLst/>
          </a:prstGeom>
          <a:solidFill>
            <a:schemeClr val="bg2"/>
          </a:solidFill>
          <a:ln w="12700">
            <a:solidFill>
              <a:schemeClr val="bg2"/>
            </a:solidFill>
            <a:prstDash val="solid"/>
          </a:ln>
        </p:spPr>
      </p:sp>
      <p:sp>
        <p:nvSpPr>
          <p:cNvPr id="26" name="Card bar Context"/>
          <p:cNvSpPr/>
          <p:nvPr/>
        </p:nvSpPr>
        <p:spPr>
          <a:xfrm>
            <a:off x="5394960" y="822960"/>
            <a:ext cx="82296" cy="1645920"/>
          </a:xfrm>
          <a:prstGeom prst="rect">
            <a:avLst/>
          </a:prstGeom>
          <a:solidFill>
            <a:schemeClr val="accent1"/>
          </a:solidFill>
          <a:ln w="12700">
            <a:solidFill>
              <a:schemeClr val="accent1"/>
            </a:solidFill>
            <a:prstDash val="solid"/>
          </a:ln>
        </p:spPr>
      </p:sp>
      <p:sp>
        <p:nvSpPr>
          <p:cNvPr id="27" name="Icon disc Context"/>
          <p:cNvSpPr/>
          <p:nvPr/>
        </p:nvSpPr>
        <p:spPr>
          <a:xfrm>
            <a:off x="5669280" y="1325880"/>
            <a:ext cx="640080" cy="640080"/>
          </a:xfrm>
          <a:prstGeom prst="ellipse">
            <a:avLst/>
          </a:prstGeom>
          <a:solidFill>
            <a:schemeClr val="accent1"/>
          </a:solidFill>
          <a:ln w="12700">
            <a:solidFill>
              <a:schemeClr val="accent1"/>
            </a:solidFill>
            <a:prstDash val="solid"/>
          </a:ln>
        </p:spPr>
      </p:sp>
      <p:pic>
        <p:nvPicPr>
          <p:cNvPr id="28" name="Image 0" descr="Context icon">    </p:cNvPr>
          <p:cNvPicPr>
            <a:picLocks noChangeAspect="1"/>
          </p:cNvPicPr>
          <p:nvPr/>
        </p:nvPicPr>
        <p:blipFill>
          <a:blip r:embed="rId1"/>
          <a:stretch>
            <a:fillRect/>
          </a:stretch>
        </p:blipFill>
        <p:spPr>
          <a:xfrm>
            <a:off x="5824728" y="1481328"/>
            <a:ext cx="329184" cy="329184"/>
          </a:xfrm>
          <a:prstGeom prst="rect">
            <a:avLst/>
          </a:prstGeom>
        </p:spPr>
      </p:pic>
      <p:sp>
        <p:nvSpPr>
          <p:cNvPr id="29" name="Card text Context"/>
          <p:cNvSpPr txBox="1"/>
          <p:nvPr/>
        </p:nvSpPr>
        <p:spPr>
          <a:xfrm>
            <a:off x="6492240" y="822960"/>
            <a:ext cx="5074920" cy="1645920"/>
          </a:xfrm>
          <a:prstGeom prst="rect">
            <a:avLst/>
          </a:prstGeom>
          <a:noFill/>
          <a:ln/>
        </p:spPr>
        <p:txBody>
          <a:bodyPr wrap="square" lIns="0" tIns="0" rIns="0" bIns="0" rtlCol="0" anchor="ctr"/>
          <a:lstStyle/>
          <a:p>
            <a:pPr indent="0" marL="0">
              <a:buNone/>
            </a:pPr>
            <a:r>
              <a:rPr lang="en-US" sz="1800" b="1" dirty="0">
                <a:solidFill>
                  <a:schemeClr val="accent1"/>
                </a:solidFill>
              </a:rPr>
              <a:t>Context</a:t>
            </a:r>
            <a:endParaRPr lang="en-US" sz="1800" dirty="0"/>
          </a:p>
          <a:p>
            <a:pPr indent="0" marL="0">
              <a:buNone/>
            </a:pPr>
            <a:r>
              <a:rPr lang="en-US" sz="1500" dirty="0">
                <a:solidFill>
                  <a:schemeClr val="tx1"/>
                </a:solidFill>
              </a:rPr>
              <a:t>Teams of every size now work on many tasks in parallel, often remotely. Knowing who does what, and where each task stands, is essential.</a:t>
            </a:r>
            <a:endParaRPr lang="en-US" sz="1800" dirty="0"/>
          </a:p>
        </p:txBody>
      </p:sp>
      <p:sp>
        <p:nvSpPr>
          <p:cNvPr id="30" name="Card Problem"/>
          <p:cNvSpPr/>
          <p:nvPr/>
        </p:nvSpPr>
        <p:spPr>
          <a:xfrm>
            <a:off x="5394960" y="2697480"/>
            <a:ext cx="6309360" cy="1645920"/>
          </a:xfrm>
          <a:prstGeom prst="rect">
            <a:avLst/>
          </a:prstGeom>
          <a:solidFill>
            <a:schemeClr val="bg2"/>
          </a:solidFill>
          <a:ln w="12700">
            <a:solidFill>
              <a:schemeClr val="bg2"/>
            </a:solidFill>
            <a:prstDash val="solid"/>
          </a:ln>
        </p:spPr>
      </p:sp>
      <p:sp>
        <p:nvSpPr>
          <p:cNvPr id="31" name="Card bar Problem"/>
          <p:cNvSpPr/>
          <p:nvPr/>
        </p:nvSpPr>
        <p:spPr>
          <a:xfrm>
            <a:off x="5394960" y="2697480"/>
            <a:ext cx="82296" cy="1645920"/>
          </a:xfrm>
          <a:prstGeom prst="rect">
            <a:avLst/>
          </a:prstGeom>
          <a:solidFill>
            <a:schemeClr val="accent1"/>
          </a:solidFill>
          <a:ln w="12700">
            <a:solidFill>
              <a:schemeClr val="accent1"/>
            </a:solidFill>
            <a:prstDash val="solid"/>
          </a:ln>
        </p:spPr>
      </p:sp>
      <p:sp>
        <p:nvSpPr>
          <p:cNvPr id="32" name="Icon disc Problem"/>
          <p:cNvSpPr/>
          <p:nvPr/>
        </p:nvSpPr>
        <p:spPr>
          <a:xfrm>
            <a:off x="5669280" y="3200400"/>
            <a:ext cx="640080" cy="640080"/>
          </a:xfrm>
          <a:prstGeom prst="ellipse">
            <a:avLst/>
          </a:prstGeom>
          <a:solidFill>
            <a:schemeClr val="accent1"/>
          </a:solidFill>
          <a:ln w="12700">
            <a:solidFill>
              <a:schemeClr val="accent1"/>
            </a:solidFill>
            <a:prstDash val="solid"/>
          </a:ln>
        </p:spPr>
      </p:sp>
      <p:pic>
        <p:nvPicPr>
          <p:cNvPr id="33" name="Image 1" descr="Problem icon">    </p:cNvPr>
          <p:cNvPicPr>
            <a:picLocks noChangeAspect="1"/>
          </p:cNvPicPr>
          <p:nvPr/>
        </p:nvPicPr>
        <p:blipFill>
          <a:blip r:embed="rId2"/>
          <a:stretch>
            <a:fillRect/>
          </a:stretch>
        </p:blipFill>
        <p:spPr>
          <a:xfrm>
            <a:off x="5824728" y="3355848"/>
            <a:ext cx="329184" cy="329184"/>
          </a:xfrm>
          <a:prstGeom prst="rect">
            <a:avLst/>
          </a:prstGeom>
        </p:spPr>
      </p:pic>
      <p:sp>
        <p:nvSpPr>
          <p:cNvPr id="34" name="Card text Problem"/>
          <p:cNvSpPr txBox="1"/>
          <p:nvPr/>
        </p:nvSpPr>
        <p:spPr>
          <a:xfrm>
            <a:off x="6492240" y="2697480"/>
            <a:ext cx="5074920" cy="1645920"/>
          </a:xfrm>
          <a:prstGeom prst="rect">
            <a:avLst/>
          </a:prstGeom>
          <a:noFill/>
          <a:ln/>
        </p:spPr>
        <p:txBody>
          <a:bodyPr wrap="square" lIns="0" tIns="0" rIns="0" bIns="0" rtlCol="0" anchor="ctr"/>
          <a:lstStyle/>
          <a:p>
            <a:pPr indent="0" marL="0">
              <a:buNone/>
            </a:pPr>
            <a:r>
              <a:rPr lang="en-US" sz="1800" b="1" dirty="0">
                <a:solidFill>
                  <a:schemeClr val="accent1"/>
                </a:solidFill>
              </a:rPr>
              <a:t>Problem</a:t>
            </a:r>
            <a:endParaRPr lang="en-US" sz="1800" dirty="0"/>
          </a:p>
          <a:p>
            <a:pPr indent="0" marL="0">
              <a:buNone/>
            </a:pPr>
            <a:r>
              <a:rPr lang="en-US" sz="1500" dirty="0">
                <a:solidFill>
                  <a:schemeClr val="tx1"/>
                </a:solidFill>
              </a:rPr>
              <a:t>Simple tools stay too basic on roles and live collaboration; complete tools are heavy for a small team.</a:t>
            </a:r>
            <a:endParaRPr lang="en-US" sz="1800" dirty="0"/>
          </a:p>
        </p:txBody>
      </p:sp>
      <p:sp>
        <p:nvSpPr>
          <p:cNvPr id="35" name="Card Consequences"/>
          <p:cNvSpPr/>
          <p:nvPr/>
        </p:nvSpPr>
        <p:spPr>
          <a:xfrm>
            <a:off x="5394960" y="4572000"/>
            <a:ext cx="6309360" cy="1645920"/>
          </a:xfrm>
          <a:prstGeom prst="rect">
            <a:avLst/>
          </a:prstGeom>
          <a:solidFill>
            <a:schemeClr val="bg2"/>
          </a:solidFill>
          <a:ln w="12700">
            <a:solidFill>
              <a:schemeClr val="bg2"/>
            </a:solidFill>
            <a:prstDash val="solid"/>
          </a:ln>
        </p:spPr>
      </p:sp>
      <p:sp>
        <p:nvSpPr>
          <p:cNvPr id="36" name="Card bar Consequences"/>
          <p:cNvSpPr/>
          <p:nvPr/>
        </p:nvSpPr>
        <p:spPr>
          <a:xfrm>
            <a:off x="5394960" y="4572000"/>
            <a:ext cx="82296" cy="1645920"/>
          </a:xfrm>
          <a:prstGeom prst="rect">
            <a:avLst/>
          </a:prstGeom>
          <a:solidFill>
            <a:schemeClr val="accent1"/>
          </a:solidFill>
          <a:ln w="12700">
            <a:solidFill>
              <a:schemeClr val="accent1"/>
            </a:solidFill>
            <a:prstDash val="solid"/>
          </a:ln>
        </p:spPr>
      </p:sp>
      <p:sp>
        <p:nvSpPr>
          <p:cNvPr id="37" name="Icon disc Consequences"/>
          <p:cNvSpPr/>
          <p:nvPr/>
        </p:nvSpPr>
        <p:spPr>
          <a:xfrm>
            <a:off x="5669280" y="5074920"/>
            <a:ext cx="640080" cy="640080"/>
          </a:xfrm>
          <a:prstGeom prst="ellipse">
            <a:avLst/>
          </a:prstGeom>
          <a:solidFill>
            <a:schemeClr val="accent1"/>
          </a:solidFill>
          <a:ln w="12700">
            <a:solidFill>
              <a:schemeClr val="accent1"/>
            </a:solidFill>
            <a:prstDash val="solid"/>
          </a:ln>
        </p:spPr>
      </p:sp>
      <p:pic>
        <p:nvPicPr>
          <p:cNvPr id="38" name="Image 2" descr="Consequences icon">    </p:cNvPr>
          <p:cNvPicPr>
            <a:picLocks noChangeAspect="1"/>
          </p:cNvPicPr>
          <p:nvPr/>
        </p:nvPicPr>
        <p:blipFill>
          <a:blip r:embed="rId3"/>
          <a:stretch>
            <a:fillRect/>
          </a:stretch>
        </p:blipFill>
        <p:spPr>
          <a:xfrm>
            <a:off x="5824728" y="5230368"/>
            <a:ext cx="329184" cy="329184"/>
          </a:xfrm>
          <a:prstGeom prst="rect">
            <a:avLst/>
          </a:prstGeom>
        </p:spPr>
      </p:pic>
      <p:sp>
        <p:nvSpPr>
          <p:cNvPr id="39" name="Card text Consequences"/>
          <p:cNvSpPr txBox="1"/>
          <p:nvPr/>
        </p:nvSpPr>
        <p:spPr>
          <a:xfrm>
            <a:off x="6492240" y="4572000"/>
            <a:ext cx="5074920" cy="1645920"/>
          </a:xfrm>
          <a:prstGeom prst="rect">
            <a:avLst/>
          </a:prstGeom>
          <a:noFill/>
          <a:ln/>
        </p:spPr>
        <p:txBody>
          <a:bodyPr wrap="square" lIns="0" tIns="0" rIns="0" bIns="0" rtlCol="0" anchor="ctr"/>
          <a:lstStyle/>
          <a:p>
            <a:pPr indent="0" marL="0">
              <a:buNone/>
            </a:pPr>
            <a:r>
              <a:rPr lang="en-US" sz="1800" b="1" dirty="0">
                <a:solidFill>
                  <a:schemeClr val="accent1"/>
                </a:solidFill>
              </a:rPr>
              <a:t>Consequences</a:t>
            </a:r>
            <a:endParaRPr lang="en-US" sz="1800" dirty="0"/>
          </a:p>
          <a:p>
            <a:pPr indent="0" marL="0">
              <a:buNone/>
            </a:pPr>
            <a:r>
              <a:rPr lang="en-US" sz="1500" dirty="0">
                <a:solidFill>
                  <a:schemeClr val="tx1"/>
                </a:solidFill>
              </a:rPr>
              <a:t>Unclear responsibilities, tasks falling through the cracks, slow feedback, and no clear view of progress.</a:t>
            </a:r>
            <a:endParaRPr lang="en-US" sz="18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4"/>
          </a:solidFill>
          <a:ln w="12700">
            <a:solidFill>
              <a:schemeClr val="accent4"/>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Problem statement</a:t>
            </a:r>
            <a:endParaRPr lang="en-US" sz="1000" dirty="0"/>
          </a:p>
        </p:txBody>
      </p:sp>
      <p:sp>
        <p:nvSpPr>
          <p:cNvPr id="13"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4"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Solution</a:t>
            </a:r>
            <a:endParaRPr lang="en-US" sz="1000" dirty="0"/>
          </a:p>
        </p:txBody>
      </p:sp>
      <p:sp>
        <p:nvSpPr>
          <p:cNvPr id="15"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6"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7"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18"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19"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0"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1"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2"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3"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4"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02  ·  HOST ORGANIZATION</a:t>
            </a:r>
            <a:endParaRPr lang="en-US" sz="1200" dirty="0"/>
          </a:p>
        </p:txBody>
      </p:sp>
      <p:sp>
        <p:nvSpPr>
          <p:cNvPr id="25"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Host organization</a:t>
            </a:r>
            <a:endParaRPr lang="en-US" sz="3400" dirty="0"/>
          </a:p>
        </p:txBody>
      </p:sp>
      <p:sp>
        <p:nvSpPr>
          <p:cNvPr id="26" name="Subtitle"/>
          <p:cNvSpPr txBox="1"/>
          <p:nvPr/>
        </p:nvSpPr>
        <p:spPr>
          <a:xfrm>
            <a:off x="502920" y="3931920"/>
            <a:ext cx="3383280" cy="914400"/>
          </a:xfrm>
          <a:prstGeom prst="rect">
            <a:avLst/>
          </a:prstGeom>
          <a:noFill/>
          <a:ln/>
        </p:spPr>
        <p:txBody>
          <a:bodyPr wrap="square" lIns="0" tIns="0" rIns="0" bIns="0" rtlCol="0" anchor="t"/>
          <a:lstStyle/>
          <a:p>
            <a:pPr algn="l" indent="0" marL="0">
              <a:buNone/>
            </a:pPr>
            <a:r>
              <a:rPr lang="en-US" sz="1800" dirty="0">
                <a:solidFill>
                  <a:schemeClr val="accent4"/>
                </a:solidFill>
              </a:rPr>
              <a:t>Kernel Solution &amp; Innovation</a:t>
            </a:r>
            <a:endParaRPr lang="en-US" sz="1800" dirty="0"/>
          </a:p>
        </p:txBody>
      </p:sp>
      <p:sp>
        <p:nvSpPr>
          <p:cNvPr id="27" name="Connector 1"/>
          <p:cNvSpPr/>
          <p:nvPr/>
        </p:nvSpPr>
        <p:spPr>
          <a:xfrm>
            <a:off x="5623560" y="1611630"/>
            <a:ext cx="0" cy="937260"/>
          </a:xfrm>
          <a:prstGeom prst="line">
            <a:avLst/>
          </a:prstGeom>
          <a:noFill/>
          <a:ln w="15875">
            <a:solidFill>
              <a:schemeClr val="accent4"/>
            </a:solidFill>
            <a:prstDash val="dash"/>
          </a:ln>
        </p:spPr>
      </p:sp>
      <p:sp>
        <p:nvSpPr>
          <p:cNvPr id="28" name="Step badge 1"/>
          <p:cNvSpPr txBox="1"/>
          <p:nvPr/>
        </p:nvSpPr>
        <p:spPr>
          <a:xfrm>
            <a:off x="5394960" y="115443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29" name="Step text 1"/>
          <p:cNvSpPr txBox="1"/>
          <p:nvPr/>
        </p:nvSpPr>
        <p:spPr>
          <a:xfrm>
            <a:off x="6126480" y="72237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Digital agency in Hammam-Lif, Tunisia</a:t>
            </a:r>
            <a:endParaRPr lang="en-US" sz="2200" dirty="0"/>
          </a:p>
          <a:p>
            <a:pPr indent="0" marL="0">
              <a:buNone/>
            </a:pPr>
            <a:r>
              <a:rPr lang="en-US" sz="1600" dirty="0">
                <a:solidFill>
                  <a:schemeClr val="tx1"/>
                </a:solidFill>
              </a:rPr>
              <a:t>More than seven years of experience</a:t>
            </a:r>
            <a:endParaRPr lang="en-US" sz="2200" dirty="0"/>
          </a:p>
        </p:txBody>
      </p:sp>
      <p:sp>
        <p:nvSpPr>
          <p:cNvPr id="30" name="Connector 2"/>
          <p:cNvSpPr/>
          <p:nvPr/>
        </p:nvSpPr>
        <p:spPr>
          <a:xfrm>
            <a:off x="5623560" y="3006090"/>
            <a:ext cx="0" cy="937260"/>
          </a:xfrm>
          <a:prstGeom prst="line">
            <a:avLst/>
          </a:prstGeom>
          <a:noFill/>
          <a:ln w="15875">
            <a:solidFill>
              <a:schemeClr val="accent4"/>
            </a:solidFill>
            <a:prstDash val="dash"/>
          </a:ln>
        </p:spPr>
      </p:sp>
      <p:sp>
        <p:nvSpPr>
          <p:cNvPr id="31" name="Step badge 2"/>
          <p:cNvSpPr txBox="1"/>
          <p:nvPr/>
        </p:nvSpPr>
        <p:spPr>
          <a:xfrm>
            <a:off x="5394960" y="254889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2" name="Step text 2"/>
          <p:cNvSpPr txBox="1"/>
          <p:nvPr/>
        </p:nvSpPr>
        <p:spPr>
          <a:xfrm>
            <a:off x="6126480" y="211683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What they build</a:t>
            </a:r>
            <a:endParaRPr lang="en-US" sz="2200" dirty="0"/>
          </a:p>
          <a:p>
            <a:pPr indent="0" marL="0">
              <a:buNone/>
            </a:pPr>
            <a:r>
              <a:rPr lang="en-US" sz="1600" dirty="0">
                <a:solidFill>
                  <a:schemeClr val="tx1"/>
                </a:solidFill>
              </a:rPr>
              <a:t>Custom software, mobile apps, web design and digital marketing</a:t>
            </a:r>
            <a:endParaRPr lang="en-US" sz="2200" dirty="0"/>
          </a:p>
        </p:txBody>
      </p:sp>
      <p:sp>
        <p:nvSpPr>
          <p:cNvPr id="33" name="Connector 3"/>
          <p:cNvSpPr/>
          <p:nvPr/>
        </p:nvSpPr>
        <p:spPr>
          <a:xfrm>
            <a:off x="5623560" y="4400550"/>
            <a:ext cx="0" cy="937260"/>
          </a:xfrm>
          <a:prstGeom prst="line">
            <a:avLst/>
          </a:prstGeom>
          <a:noFill/>
          <a:ln w="15875">
            <a:solidFill>
              <a:schemeClr val="accent4"/>
            </a:solidFill>
            <a:prstDash val="dash"/>
          </a:ln>
        </p:spPr>
      </p:sp>
      <p:sp>
        <p:nvSpPr>
          <p:cNvPr id="34" name="Step badge 3"/>
          <p:cNvSpPr txBox="1"/>
          <p:nvPr/>
        </p:nvSpPr>
        <p:spPr>
          <a:xfrm>
            <a:off x="5394960" y="394335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5" name="Step text 3"/>
          <p:cNvSpPr txBox="1"/>
          <p:nvPr/>
        </p:nvSpPr>
        <p:spPr>
          <a:xfrm>
            <a:off x="6126480" y="351129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Agile delivery culture</a:t>
            </a:r>
            <a:endParaRPr lang="en-US" sz="2200" dirty="0"/>
          </a:p>
          <a:p>
            <a:pPr indent="0" marL="0">
              <a:buNone/>
            </a:pPr>
            <a:r>
              <a:rPr lang="en-US" sz="1600" dirty="0">
                <a:solidFill>
                  <a:schemeClr val="tx1"/>
                </a:solidFill>
              </a:rPr>
              <a:t>Planning → Development → Testing &amp; QA → Launch &amp; support</a:t>
            </a:r>
            <a:endParaRPr lang="en-US" sz="2200" dirty="0"/>
          </a:p>
        </p:txBody>
      </p:sp>
      <p:sp>
        <p:nvSpPr>
          <p:cNvPr id="36" name="Step badge 4"/>
          <p:cNvSpPr txBox="1"/>
          <p:nvPr/>
        </p:nvSpPr>
        <p:spPr>
          <a:xfrm>
            <a:off x="5394960" y="533781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37" name="Step text 4"/>
          <p:cNvSpPr txBox="1"/>
          <p:nvPr/>
        </p:nvSpPr>
        <p:spPr>
          <a:xfrm>
            <a:off x="6126480" y="490575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A self-directed internship</a:t>
            </a:r>
            <a:endParaRPr lang="en-US" sz="2200" dirty="0"/>
          </a:p>
          <a:p>
            <a:pPr indent="0" marL="0">
              <a:buNone/>
            </a:pPr>
            <a:r>
              <a:rPr lang="en-US" sz="1600" dirty="0">
                <a:solidFill>
                  <a:schemeClr val="tx1"/>
                </a:solidFill>
              </a:rPr>
              <a:t>Topic, design and implementation chosen and built by me, under the CEO's professional supervision</a:t>
            </a:r>
            <a:endParaRPr lang="en-US" sz="2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738950" cy="237744"/>
          </a:xfrm>
          <a:prstGeom prst="rect">
            <a:avLst/>
          </a:prstGeom>
          <a:solidFill>
            <a:schemeClr val="accent4"/>
          </a:solidFill>
          <a:ln w="12700">
            <a:solidFill>
              <a:schemeClr val="accent4"/>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Solution</a:t>
            </a:r>
            <a:endParaRPr lang="en-US" sz="1000" dirty="0"/>
          </a:p>
        </p:txBody>
      </p:sp>
      <p:sp>
        <p:nvSpPr>
          <p:cNvPr id="16"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7"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8"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19"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20"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1"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2"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3"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4"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5"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03  ·  PROBLEM STATEMENT</a:t>
            </a:r>
            <a:endParaRPr lang="en-US" sz="1200" dirty="0"/>
          </a:p>
        </p:txBody>
      </p:sp>
      <p:sp>
        <p:nvSpPr>
          <p:cNvPr id="26"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Problem statement</a:t>
            </a:r>
            <a:endParaRPr lang="en-US" sz="3400" dirty="0"/>
          </a:p>
        </p:txBody>
      </p:sp>
      <p:sp>
        <p:nvSpPr>
          <p:cNvPr id="27" name="Connector 1"/>
          <p:cNvSpPr/>
          <p:nvPr/>
        </p:nvSpPr>
        <p:spPr>
          <a:xfrm>
            <a:off x="5623560" y="1611630"/>
            <a:ext cx="0" cy="937260"/>
          </a:xfrm>
          <a:prstGeom prst="line">
            <a:avLst/>
          </a:prstGeom>
          <a:noFill/>
          <a:ln w="15875">
            <a:solidFill>
              <a:schemeClr val="accent4"/>
            </a:solidFill>
            <a:prstDash val="dash"/>
          </a:ln>
        </p:spPr>
      </p:sp>
      <p:sp>
        <p:nvSpPr>
          <p:cNvPr id="28" name="Step badge 1"/>
          <p:cNvSpPr txBox="1"/>
          <p:nvPr/>
        </p:nvSpPr>
        <p:spPr>
          <a:xfrm>
            <a:off x="5394960" y="115443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29" name="Step text 1"/>
          <p:cNvSpPr txBox="1"/>
          <p:nvPr/>
        </p:nvSpPr>
        <p:spPr>
          <a:xfrm>
            <a:off x="6126480" y="72237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Simple tools, basic roles</a:t>
            </a:r>
            <a:endParaRPr lang="en-US" sz="2200" dirty="0"/>
          </a:p>
          <a:p>
            <a:pPr indent="0" marL="0">
              <a:buNone/>
            </a:pPr>
            <a:r>
              <a:rPr lang="en-US" sz="1600" dirty="0">
                <a:solidFill>
                  <a:schemeClr val="tx1"/>
                </a:solidFill>
              </a:rPr>
              <a:t>Trello and Asana are easy to use but offer limited role control</a:t>
            </a:r>
            <a:endParaRPr lang="en-US" sz="2200" dirty="0"/>
          </a:p>
        </p:txBody>
      </p:sp>
      <p:sp>
        <p:nvSpPr>
          <p:cNvPr id="30" name="Connector 2"/>
          <p:cNvSpPr/>
          <p:nvPr/>
        </p:nvSpPr>
        <p:spPr>
          <a:xfrm>
            <a:off x="5623560" y="3006090"/>
            <a:ext cx="0" cy="937260"/>
          </a:xfrm>
          <a:prstGeom prst="line">
            <a:avLst/>
          </a:prstGeom>
          <a:noFill/>
          <a:ln w="15875">
            <a:solidFill>
              <a:schemeClr val="accent4"/>
            </a:solidFill>
            <a:prstDash val="dash"/>
          </a:ln>
        </p:spPr>
      </p:sp>
      <p:sp>
        <p:nvSpPr>
          <p:cNvPr id="31" name="Step badge 2"/>
          <p:cNvSpPr txBox="1"/>
          <p:nvPr/>
        </p:nvSpPr>
        <p:spPr>
          <a:xfrm>
            <a:off x="5394960" y="254889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2" name="Step text 2"/>
          <p:cNvSpPr txBox="1"/>
          <p:nvPr/>
        </p:nvSpPr>
        <p:spPr>
          <a:xfrm>
            <a:off x="6126480" y="211683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Complete tools, heavy to learn</a:t>
            </a:r>
            <a:endParaRPr lang="en-US" sz="2200" dirty="0"/>
          </a:p>
          <a:p>
            <a:pPr indent="0" marL="0">
              <a:buNone/>
            </a:pPr>
            <a:r>
              <a:rPr lang="en-US" sz="1600" dirty="0">
                <a:solidFill>
                  <a:schemeClr val="tx1"/>
                </a:solidFill>
              </a:rPr>
              <a:t>Jira and ClickUp have advanced roles but a steep learning curve</a:t>
            </a:r>
            <a:endParaRPr lang="en-US" sz="2200" dirty="0"/>
          </a:p>
        </p:txBody>
      </p:sp>
      <p:sp>
        <p:nvSpPr>
          <p:cNvPr id="33" name="Connector 3"/>
          <p:cNvSpPr/>
          <p:nvPr/>
        </p:nvSpPr>
        <p:spPr>
          <a:xfrm>
            <a:off x="5623560" y="4400550"/>
            <a:ext cx="0" cy="937260"/>
          </a:xfrm>
          <a:prstGeom prst="line">
            <a:avLst/>
          </a:prstGeom>
          <a:noFill/>
          <a:ln w="15875">
            <a:solidFill>
              <a:schemeClr val="accent4"/>
            </a:solidFill>
            <a:prstDash val="dash"/>
          </a:ln>
        </p:spPr>
      </p:sp>
      <p:sp>
        <p:nvSpPr>
          <p:cNvPr id="34" name="Step badge 3"/>
          <p:cNvSpPr txBox="1"/>
          <p:nvPr/>
        </p:nvSpPr>
        <p:spPr>
          <a:xfrm>
            <a:off x="5394960" y="394335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5" name="Step text 3"/>
          <p:cNvSpPr txBox="1"/>
          <p:nvPr/>
        </p:nvSpPr>
        <p:spPr>
          <a:xfrm>
            <a:off x="6126480" y="351129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Real-time collaboration is limited</a:t>
            </a:r>
            <a:endParaRPr lang="en-US" sz="2200" dirty="0"/>
          </a:p>
          <a:p>
            <a:pPr indent="0" marL="0">
              <a:buNone/>
            </a:pPr>
            <a:r>
              <a:rPr lang="en-US" sz="1600" dirty="0">
                <a:solidFill>
                  <a:schemeClr val="tx1"/>
                </a:solidFill>
              </a:rPr>
              <a:t>Only limited to moderate in most of these tools</a:t>
            </a:r>
            <a:endParaRPr lang="en-US" sz="2200" dirty="0"/>
          </a:p>
        </p:txBody>
      </p:sp>
      <p:sp>
        <p:nvSpPr>
          <p:cNvPr id="36" name="Step badge 4"/>
          <p:cNvSpPr txBox="1"/>
          <p:nvPr/>
        </p:nvSpPr>
        <p:spPr>
          <a:xfrm>
            <a:off x="5394960" y="533781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37" name="Step text 4"/>
          <p:cNvSpPr txBox="1"/>
          <p:nvPr/>
        </p:nvSpPr>
        <p:spPr>
          <a:xfrm>
            <a:off x="6126480" y="490575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Unclear ownership and review</a:t>
            </a:r>
            <a:endParaRPr lang="en-US" sz="2200" dirty="0"/>
          </a:p>
          <a:p>
            <a:pPr indent="0" marL="0">
              <a:buNone/>
            </a:pPr>
            <a:r>
              <a:rPr lang="en-US" sz="1600" dirty="0">
                <a:solidFill>
                  <a:schemeClr val="tx1"/>
                </a:solidFill>
              </a:rPr>
              <a:t>Hard to see who owns a task and who must validate it</a:t>
            </a:r>
            <a:endParaRPr lang="en-US" sz="2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4"/>
          </a:solidFill>
          <a:ln w="12700">
            <a:solidFill>
              <a:schemeClr val="accent4"/>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Solution</a:t>
            </a:r>
            <a:endParaRPr lang="en-US" sz="1000" dirty="0"/>
          </a:p>
        </p:txBody>
      </p:sp>
      <p:sp>
        <p:nvSpPr>
          <p:cNvPr id="16"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7"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8"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19"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20"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1"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2"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3"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4"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5"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Existing tools</a:t>
            </a:r>
            <a:endParaRPr lang="en-US" sz="2600" dirty="0"/>
          </a:p>
        </p:txBody>
      </p:sp>
      <p:sp>
        <p:nvSpPr>
          <p:cNvPr id="26"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Simple tools sacrifice roles and real-time depth</a:t>
            </a:r>
            <a:endParaRPr lang="en-US" sz="1500" dirty="0"/>
          </a:p>
          <a:p>
            <a:pPr marL="177800" indent="-177800">
              <a:spcAft>
                <a:spcPts val="700"/>
              </a:spcAft>
              <a:buSzPct val="100000"/>
              <a:buChar char="•"/>
            </a:pPr>
            <a:r>
              <a:rPr lang="en-US" sz="1500" dirty="0">
                <a:solidFill>
                  <a:schemeClr val="tx1"/>
                </a:solidFill>
              </a:rPr>
              <a:t>Complete tools become heavy</a:t>
            </a:r>
            <a:endParaRPr lang="en-US" sz="1500" dirty="0"/>
          </a:p>
          <a:p>
            <a:pPr marL="177800" indent="-177800">
              <a:spcAft>
                <a:spcPts val="700"/>
              </a:spcAft>
              <a:buSzPct val="100000"/>
              <a:buChar char="•"/>
            </a:pPr>
            <a:r>
              <a:rPr lang="en-US" sz="1500" dirty="0">
                <a:solidFill>
                  <a:schemeClr val="tx1"/>
                </a:solidFill>
              </a:rPr>
              <a:t>Synkro targets that gap</a:t>
            </a:r>
            <a:endParaRPr lang="en-US" sz="15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3977640" y="1188720"/>
          <a:ext cx="7772400" cy="914400"/>
        </p:xfrm>
        <a:graphic>
          <a:graphicData uri="http://schemas.openxmlformats.org/drawingml/2006/table">
            <a:tbl>
              <a:tblPr/>
              <a:tblGrid>
                <a:gridCol w="1554480"/>
                <a:gridCol w="1188720"/>
                <a:gridCol w="1188720"/>
                <a:gridCol w="1280160"/>
                <a:gridCol w="1280160"/>
                <a:gridCol w="1280160"/>
              </a:tblGrid>
              <a:tr h="548640">
                <a:tc>
                  <a:txBody>
                    <a:bodyPr/>
                    <a:lstStyle/>
                    <a:p>
                      <a:pPr algn="ctr" indent="0" marL="0">
                        <a:buNone/>
                      </a:pP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Trello</a:t>
                      </a: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Asana</a:t>
                      </a: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Jira</a:t>
                      </a: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ClickUp</a:t>
                      </a: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Synkro</a:t>
                      </a:r>
                      <a:endParaRPr lang="en-US" sz="14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3"/>
                    </a:solidFill>
                  </a:tcPr>
                </a:tc>
              </a:tr>
              <a:tr h="1143000">
                <a:tc>
                  <a:txBody>
                    <a:bodyPr/>
                    <a:lstStyle/>
                    <a:p>
                      <a:pPr indent="0" marL="0">
                        <a:buNone/>
                      </a:pPr>
                      <a:r>
                        <a:rPr lang="en-US" sz="1300" b="1" dirty="0">
                          <a:solidFill>
                            <a:schemeClr val="accent3"/>
                          </a:solidFill>
                        </a:rPr>
                        <a:t>Ease of use</a:t>
                      </a:r>
                      <a:endParaRPr lang="en-US" sz="13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Very simple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Simple &amp; fast</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Steep learning curve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Steep learning curve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1"/>
                          </a:solidFill>
                        </a:rPr>
                        <a:t>Simple &amp; fast</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r>
              <a:tr h="1143000">
                <a:tc>
                  <a:txBody>
                    <a:bodyPr/>
                    <a:lstStyle/>
                    <a:p>
                      <a:pPr indent="0" marL="0">
                        <a:buNone/>
                      </a:pPr>
                      <a:r>
                        <a:rPr lang="en-US" sz="1300" b="1" dirty="0">
                          <a:solidFill>
                            <a:schemeClr val="accent3"/>
                          </a:solidFill>
                        </a:rPr>
                        <a:t>Real-time collaboration</a:t>
                      </a:r>
                      <a:endParaRPr lang="en-US" sz="13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Limited</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Moderate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Moderate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Moderate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1"/>
                          </a:solidFill>
                        </a:rPr>
                        <a:t>True real-time</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r>
              <a:tr h="1143000">
                <a:tc>
                  <a:txBody>
                    <a:bodyPr/>
                    <a:lstStyle/>
                    <a:p>
                      <a:pPr indent="0" marL="0">
                        <a:buNone/>
                      </a:pPr>
                      <a:r>
                        <a:rPr lang="en-US" sz="1300" b="1" dirty="0">
                          <a:solidFill>
                            <a:schemeClr val="accent3"/>
                          </a:solidFill>
                        </a:rPr>
                        <a:t>Role granularity</a:t>
                      </a:r>
                      <a:endParaRPr lang="en-US" sz="130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2"/>
                    </a:solidFill>
                  </a:tcPr>
                </a:tc>
                <a:tc>
                  <a:txBody>
                    <a:bodyPr/>
                    <a:lstStyle/>
                    <a:p>
                      <a:pPr algn="ctr" indent="0" marL="0">
                        <a:buNone/>
                      </a:pPr>
                      <a:r>
                        <a:rPr lang="en-US" sz="1250" dirty="0">
                          <a:solidFill>
                            <a:schemeClr val="tx1"/>
                          </a:solidFill>
                        </a:rPr>
                        <a:t>Basic roles</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Moderate roles</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Advanced roles</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dirty="0">
                          <a:solidFill>
                            <a:schemeClr val="tx1"/>
                          </a:solidFill>
                        </a:rPr>
                        <a:t>Advanced roles</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tx1"/>
                          </a:solidFill>
                        </a:rPr>
                        <a:t>4 granular roles</a:t>
                      </a:r>
                      <a:endParaRPr lang="en-US" sz="1250" dirty="0"/>
                    </a:p>
                  </a:txBody>
                  <a:tcPr marL="73152" marR="73152" marT="45720" marB="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4"/>
          </a:solidFill>
          <a:ln w="12700">
            <a:solidFill>
              <a:schemeClr val="accent4"/>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Objectives</a:t>
            </a:r>
            <a:endParaRPr lang="en-US" sz="1000" dirty="0"/>
          </a:p>
        </p:txBody>
      </p:sp>
      <p:sp>
        <p:nvSpPr>
          <p:cNvPr id="19"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0"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21"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2"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3"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4"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5"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6"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Solution</a:t>
            </a:r>
            <a:endParaRPr lang="en-US" sz="2600" dirty="0"/>
          </a:p>
        </p:txBody>
      </p:sp>
      <p:sp>
        <p:nvSpPr>
          <p:cNvPr id="27"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chemeClr val="tx1"/>
                </a:solidFill>
              </a:rPr>
              <a:t>A collaborative web platform</a:t>
            </a:r>
            <a:endParaRPr lang="en-US" sz="1600" dirty="0"/>
          </a:p>
          <a:p>
            <a:pPr marL="177800" indent="-177800">
              <a:spcAft>
                <a:spcPts val="700"/>
              </a:spcAft>
              <a:buSzPct val="100000"/>
              <a:buChar char="•"/>
            </a:pPr>
            <a:r>
              <a:rPr lang="en-US" sz="1600" dirty="0">
                <a:solidFill>
                  <a:schemeClr val="tx1"/>
                </a:solidFill>
              </a:rPr>
              <a:t>Built solo in seven weeks</a:t>
            </a:r>
            <a:endParaRPr lang="en-US" sz="1600" dirty="0"/>
          </a:p>
        </p:txBody>
      </p:sp>
      <p:sp>
        <p:nvSpPr>
          <p:cNvPr id="28" name="Card Role-aware projects"/>
          <p:cNvSpPr/>
          <p:nvPr/>
        </p:nvSpPr>
        <p:spPr>
          <a:xfrm>
            <a:off x="4114800" y="777240"/>
            <a:ext cx="3703320" cy="2560320"/>
          </a:xfrm>
          <a:prstGeom prst="rect">
            <a:avLst/>
          </a:prstGeom>
          <a:solidFill>
            <a:schemeClr val="bg2"/>
          </a:solidFill>
          <a:ln w="12700">
            <a:solidFill>
              <a:schemeClr val="bg2"/>
            </a:solidFill>
            <a:prstDash val="solid"/>
          </a:ln>
        </p:spPr>
      </p:sp>
      <p:sp>
        <p:nvSpPr>
          <p:cNvPr id="29" name="Card bar Role-aware projects"/>
          <p:cNvSpPr/>
          <p:nvPr/>
        </p:nvSpPr>
        <p:spPr>
          <a:xfrm>
            <a:off x="4114800" y="777240"/>
            <a:ext cx="82296" cy="2560320"/>
          </a:xfrm>
          <a:prstGeom prst="rect">
            <a:avLst/>
          </a:prstGeom>
          <a:solidFill>
            <a:schemeClr val="accent1"/>
          </a:solidFill>
          <a:ln w="12700">
            <a:solidFill>
              <a:schemeClr val="accent1"/>
            </a:solidFill>
            <a:prstDash val="solid"/>
          </a:ln>
        </p:spPr>
      </p:sp>
      <p:sp>
        <p:nvSpPr>
          <p:cNvPr id="30" name="Icon disc Role-aware projects"/>
          <p:cNvSpPr/>
          <p:nvPr/>
        </p:nvSpPr>
        <p:spPr>
          <a:xfrm>
            <a:off x="4389120" y="1033272"/>
            <a:ext cx="640080" cy="640080"/>
          </a:xfrm>
          <a:prstGeom prst="ellipse">
            <a:avLst/>
          </a:prstGeom>
          <a:solidFill>
            <a:schemeClr val="accent1"/>
          </a:solidFill>
          <a:ln w="12700">
            <a:solidFill>
              <a:schemeClr val="accent1"/>
            </a:solidFill>
            <a:prstDash val="solid"/>
          </a:ln>
        </p:spPr>
      </p:sp>
      <p:pic>
        <p:nvPicPr>
          <p:cNvPr id="31" name="Image 0" descr="Role-aware projects icon">    </p:cNvPr>
          <p:cNvPicPr>
            <a:picLocks noChangeAspect="1"/>
          </p:cNvPicPr>
          <p:nvPr/>
        </p:nvPicPr>
        <p:blipFill>
          <a:blip r:embed="rId1"/>
          <a:stretch>
            <a:fillRect/>
          </a:stretch>
        </p:blipFill>
        <p:spPr>
          <a:xfrm>
            <a:off x="4544568" y="1188720"/>
            <a:ext cx="329184" cy="329184"/>
          </a:xfrm>
          <a:prstGeom prst="rect">
            <a:avLst/>
          </a:prstGeom>
        </p:spPr>
      </p:pic>
      <p:sp>
        <p:nvSpPr>
          <p:cNvPr id="32" name="Card text Role-aware projects"/>
          <p:cNvSpPr txBox="1"/>
          <p:nvPr/>
        </p:nvSpPr>
        <p:spPr>
          <a:xfrm>
            <a:off x="4389120" y="1783080"/>
            <a:ext cx="3291840" cy="1417320"/>
          </a:xfrm>
          <a:prstGeom prst="rect">
            <a:avLst/>
          </a:prstGeom>
          <a:noFill/>
          <a:ln/>
        </p:spPr>
        <p:txBody>
          <a:bodyPr wrap="square" lIns="0" tIns="0" rIns="0" bIns="0" rtlCol="0" anchor="t"/>
          <a:lstStyle/>
          <a:p>
            <a:pPr indent="0" marL="0">
              <a:buNone/>
            </a:pPr>
            <a:r>
              <a:rPr lang="en-US" sz="1900" b="1" dirty="0">
                <a:solidFill>
                  <a:schemeClr val="accent1"/>
                </a:solidFill>
              </a:rPr>
              <a:t>Role-aware projects</a:t>
            </a:r>
            <a:endParaRPr lang="en-US" sz="1900" dirty="0"/>
          </a:p>
          <a:p>
            <a:pPr indent="0" marL="0">
              <a:buNone/>
            </a:pPr>
            <a:r>
              <a:rPr lang="en-US" sz="1500" dirty="0">
                <a:solidFill>
                  <a:schemeClr val="tx1"/>
                </a:solidFill>
              </a:rPr>
              <a:t>Owner, Manager, Member and Tester, each with its own permissions</a:t>
            </a:r>
            <a:endParaRPr lang="en-US" sz="1900" dirty="0"/>
          </a:p>
        </p:txBody>
      </p:sp>
      <p:sp>
        <p:nvSpPr>
          <p:cNvPr id="33" name="Card Full task lifecycle"/>
          <p:cNvSpPr/>
          <p:nvPr/>
        </p:nvSpPr>
        <p:spPr>
          <a:xfrm>
            <a:off x="8001000" y="777240"/>
            <a:ext cx="3703320" cy="2560320"/>
          </a:xfrm>
          <a:prstGeom prst="rect">
            <a:avLst/>
          </a:prstGeom>
          <a:solidFill>
            <a:schemeClr val="bg2"/>
          </a:solidFill>
          <a:ln w="12700">
            <a:solidFill>
              <a:schemeClr val="bg2"/>
            </a:solidFill>
            <a:prstDash val="solid"/>
          </a:ln>
        </p:spPr>
      </p:sp>
      <p:sp>
        <p:nvSpPr>
          <p:cNvPr id="34" name="Card bar Full task lifecycle"/>
          <p:cNvSpPr/>
          <p:nvPr/>
        </p:nvSpPr>
        <p:spPr>
          <a:xfrm>
            <a:off x="8001000" y="777240"/>
            <a:ext cx="82296" cy="2560320"/>
          </a:xfrm>
          <a:prstGeom prst="rect">
            <a:avLst/>
          </a:prstGeom>
          <a:solidFill>
            <a:schemeClr val="accent1"/>
          </a:solidFill>
          <a:ln w="12700">
            <a:solidFill>
              <a:schemeClr val="accent1"/>
            </a:solidFill>
            <a:prstDash val="solid"/>
          </a:ln>
        </p:spPr>
      </p:sp>
      <p:sp>
        <p:nvSpPr>
          <p:cNvPr id="35" name="Icon disc Full task lifecycle"/>
          <p:cNvSpPr/>
          <p:nvPr/>
        </p:nvSpPr>
        <p:spPr>
          <a:xfrm>
            <a:off x="8275320" y="1033272"/>
            <a:ext cx="640080" cy="640080"/>
          </a:xfrm>
          <a:prstGeom prst="ellipse">
            <a:avLst/>
          </a:prstGeom>
          <a:solidFill>
            <a:schemeClr val="accent1"/>
          </a:solidFill>
          <a:ln w="12700">
            <a:solidFill>
              <a:schemeClr val="accent1"/>
            </a:solidFill>
            <a:prstDash val="solid"/>
          </a:ln>
        </p:spPr>
      </p:sp>
      <p:pic>
        <p:nvPicPr>
          <p:cNvPr id="36" name="Image 1" descr="Full task lifecycle icon">    </p:cNvPr>
          <p:cNvPicPr>
            <a:picLocks noChangeAspect="1"/>
          </p:cNvPicPr>
          <p:nvPr/>
        </p:nvPicPr>
        <p:blipFill>
          <a:blip r:embed="rId2"/>
          <a:stretch>
            <a:fillRect/>
          </a:stretch>
        </p:blipFill>
        <p:spPr>
          <a:xfrm>
            <a:off x="8430768" y="1188720"/>
            <a:ext cx="329184" cy="329184"/>
          </a:xfrm>
          <a:prstGeom prst="rect">
            <a:avLst/>
          </a:prstGeom>
        </p:spPr>
      </p:pic>
      <p:sp>
        <p:nvSpPr>
          <p:cNvPr id="37" name="Card text Full task lifecycle"/>
          <p:cNvSpPr txBox="1"/>
          <p:nvPr/>
        </p:nvSpPr>
        <p:spPr>
          <a:xfrm>
            <a:off x="8275320" y="1783080"/>
            <a:ext cx="3291840" cy="1417320"/>
          </a:xfrm>
          <a:prstGeom prst="rect">
            <a:avLst/>
          </a:prstGeom>
          <a:noFill/>
          <a:ln/>
        </p:spPr>
        <p:txBody>
          <a:bodyPr wrap="square" lIns="0" tIns="0" rIns="0" bIns="0" rtlCol="0" anchor="t"/>
          <a:lstStyle/>
          <a:p>
            <a:pPr indent="0" marL="0">
              <a:buNone/>
            </a:pPr>
            <a:r>
              <a:rPr lang="en-US" sz="1900" b="1" dirty="0">
                <a:solidFill>
                  <a:schemeClr val="accent1"/>
                </a:solidFill>
              </a:rPr>
              <a:t>Full task lifecycle</a:t>
            </a:r>
            <a:endParaRPr lang="en-US" sz="1900" dirty="0"/>
          </a:p>
          <a:p>
            <a:pPr indent="0" marL="0">
              <a:buNone/>
            </a:pPr>
            <a:r>
              <a:rPr lang="en-US" sz="1500" dirty="0">
                <a:solidFill>
                  <a:schemeClr val="tx1"/>
                </a:solidFill>
              </a:rPr>
              <a:t>Status workflow, checklists, deliverables and a review step</a:t>
            </a:r>
            <a:endParaRPr lang="en-US" sz="1900" dirty="0"/>
          </a:p>
        </p:txBody>
      </p:sp>
      <p:sp>
        <p:nvSpPr>
          <p:cNvPr id="38" name="Card Real-time updates"/>
          <p:cNvSpPr/>
          <p:nvPr/>
        </p:nvSpPr>
        <p:spPr>
          <a:xfrm>
            <a:off x="4114800" y="3520440"/>
            <a:ext cx="3703320" cy="2560320"/>
          </a:xfrm>
          <a:prstGeom prst="rect">
            <a:avLst/>
          </a:prstGeom>
          <a:solidFill>
            <a:schemeClr val="bg2"/>
          </a:solidFill>
          <a:ln w="12700">
            <a:solidFill>
              <a:schemeClr val="bg2"/>
            </a:solidFill>
            <a:prstDash val="solid"/>
          </a:ln>
        </p:spPr>
      </p:sp>
      <p:sp>
        <p:nvSpPr>
          <p:cNvPr id="39" name="Card bar Real-time updates"/>
          <p:cNvSpPr/>
          <p:nvPr/>
        </p:nvSpPr>
        <p:spPr>
          <a:xfrm>
            <a:off x="4114800" y="3520440"/>
            <a:ext cx="82296" cy="2560320"/>
          </a:xfrm>
          <a:prstGeom prst="rect">
            <a:avLst/>
          </a:prstGeom>
          <a:solidFill>
            <a:schemeClr val="accent1"/>
          </a:solidFill>
          <a:ln w="12700">
            <a:solidFill>
              <a:schemeClr val="accent1"/>
            </a:solidFill>
            <a:prstDash val="solid"/>
          </a:ln>
        </p:spPr>
      </p:sp>
      <p:sp>
        <p:nvSpPr>
          <p:cNvPr id="40" name="Icon disc Real-time updates"/>
          <p:cNvSpPr/>
          <p:nvPr/>
        </p:nvSpPr>
        <p:spPr>
          <a:xfrm>
            <a:off x="4389120" y="3776472"/>
            <a:ext cx="640080" cy="640080"/>
          </a:xfrm>
          <a:prstGeom prst="ellipse">
            <a:avLst/>
          </a:prstGeom>
          <a:solidFill>
            <a:schemeClr val="accent1"/>
          </a:solidFill>
          <a:ln w="12700">
            <a:solidFill>
              <a:schemeClr val="accent1"/>
            </a:solidFill>
            <a:prstDash val="solid"/>
          </a:ln>
        </p:spPr>
      </p:sp>
      <p:pic>
        <p:nvPicPr>
          <p:cNvPr id="41" name="Image 2" descr="Real-time updates icon">    </p:cNvPr>
          <p:cNvPicPr>
            <a:picLocks noChangeAspect="1"/>
          </p:cNvPicPr>
          <p:nvPr/>
        </p:nvPicPr>
        <p:blipFill>
          <a:blip r:embed="rId3"/>
          <a:stretch>
            <a:fillRect/>
          </a:stretch>
        </p:blipFill>
        <p:spPr>
          <a:xfrm>
            <a:off x="4544568" y="3931920"/>
            <a:ext cx="329184" cy="329184"/>
          </a:xfrm>
          <a:prstGeom prst="rect">
            <a:avLst/>
          </a:prstGeom>
        </p:spPr>
      </p:pic>
      <p:sp>
        <p:nvSpPr>
          <p:cNvPr id="42" name="Card text Real-time updates"/>
          <p:cNvSpPr txBox="1"/>
          <p:nvPr/>
        </p:nvSpPr>
        <p:spPr>
          <a:xfrm>
            <a:off x="4389120" y="4526280"/>
            <a:ext cx="3291840" cy="1417320"/>
          </a:xfrm>
          <a:prstGeom prst="rect">
            <a:avLst/>
          </a:prstGeom>
          <a:noFill/>
          <a:ln/>
        </p:spPr>
        <p:txBody>
          <a:bodyPr wrap="square" lIns="0" tIns="0" rIns="0" bIns="0" rtlCol="0" anchor="t"/>
          <a:lstStyle/>
          <a:p>
            <a:pPr indent="0" marL="0">
              <a:buNone/>
            </a:pPr>
            <a:r>
              <a:rPr lang="en-US" sz="1900" b="1" dirty="0">
                <a:solidFill>
                  <a:schemeClr val="accent1"/>
                </a:solidFill>
              </a:rPr>
              <a:t>Real-time updates</a:t>
            </a:r>
            <a:endParaRPr lang="en-US" sz="1900" dirty="0"/>
          </a:p>
          <a:p>
            <a:pPr indent="0" marL="0">
              <a:buNone/>
            </a:pPr>
            <a:r>
              <a:rPr lang="en-US" sz="1500" dirty="0">
                <a:solidFill>
                  <a:schemeClr val="tx1"/>
                </a:solidFill>
              </a:rPr>
              <a:t>Notifications and live boards through WebSockets</a:t>
            </a:r>
            <a:endParaRPr lang="en-US" sz="1900" dirty="0"/>
          </a:p>
        </p:txBody>
      </p:sp>
      <p:sp>
        <p:nvSpPr>
          <p:cNvPr id="43" name="Card Administration layer"/>
          <p:cNvSpPr/>
          <p:nvPr/>
        </p:nvSpPr>
        <p:spPr>
          <a:xfrm>
            <a:off x="8001000" y="3520440"/>
            <a:ext cx="3703320" cy="2560320"/>
          </a:xfrm>
          <a:prstGeom prst="rect">
            <a:avLst/>
          </a:prstGeom>
          <a:solidFill>
            <a:schemeClr val="bg2"/>
          </a:solidFill>
          <a:ln w="12700">
            <a:solidFill>
              <a:schemeClr val="bg2"/>
            </a:solidFill>
            <a:prstDash val="solid"/>
          </a:ln>
        </p:spPr>
      </p:sp>
      <p:sp>
        <p:nvSpPr>
          <p:cNvPr id="44" name="Card bar Administration layer"/>
          <p:cNvSpPr/>
          <p:nvPr/>
        </p:nvSpPr>
        <p:spPr>
          <a:xfrm>
            <a:off x="8001000" y="3520440"/>
            <a:ext cx="82296" cy="2560320"/>
          </a:xfrm>
          <a:prstGeom prst="rect">
            <a:avLst/>
          </a:prstGeom>
          <a:solidFill>
            <a:schemeClr val="accent1"/>
          </a:solidFill>
          <a:ln w="12700">
            <a:solidFill>
              <a:schemeClr val="accent1"/>
            </a:solidFill>
            <a:prstDash val="solid"/>
          </a:ln>
        </p:spPr>
      </p:sp>
      <p:sp>
        <p:nvSpPr>
          <p:cNvPr id="45" name="Icon disc Administration layer"/>
          <p:cNvSpPr/>
          <p:nvPr/>
        </p:nvSpPr>
        <p:spPr>
          <a:xfrm>
            <a:off x="8275320" y="3776472"/>
            <a:ext cx="640080" cy="640080"/>
          </a:xfrm>
          <a:prstGeom prst="ellipse">
            <a:avLst/>
          </a:prstGeom>
          <a:solidFill>
            <a:schemeClr val="accent1"/>
          </a:solidFill>
          <a:ln w="12700">
            <a:solidFill>
              <a:schemeClr val="accent1"/>
            </a:solidFill>
            <a:prstDash val="solid"/>
          </a:ln>
        </p:spPr>
      </p:sp>
      <p:pic>
        <p:nvPicPr>
          <p:cNvPr id="46" name="Image 3" descr="Administration layer icon">    </p:cNvPr>
          <p:cNvPicPr>
            <a:picLocks noChangeAspect="1"/>
          </p:cNvPicPr>
          <p:nvPr/>
        </p:nvPicPr>
        <p:blipFill>
          <a:blip r:embed="rId4"/>
          <a:stretch>
            <a:fillRect/>
          </a:stretch>
        </p:blipFill>
        <p:spPr>
          <a:xfrm>
            <a:off x="8430768" y="3931920"/>
            <a:ext cx="329184" cy="329184"/>
          </a:xfrm>
          <a:prstGeom prst="rect">
            <a:avLst/>
          </a:prstGeom>
        </p:spPr>
      </p:pic>
      <p:sp>
        <p:nvSpPr>
          <p:cNvPr id="47" name="Card text Administration layer"/>
          <p:cNvSpPr txBox="1"/>
          <p:nvPr/>
        </p:nvSpPr>
        <p:spPr>
          <a:xfrm>
            <a:off x="8275320" y="4526280"/>
            <a:ext cx="3291840" cy="1417320"/>
          </a:xfrm>
          <a:prstGeom prst="rect">
            <a:avLst/>
          </a:prstGeom>
          <a:noFill/>
          <a:ln/>
        </p:spPr>
        <p:txBody>
          <a:bodyPr wrap="square" lIns="0" tIns="0" rIns="0" bIns="0" rtlCol="0" anchor="t"/>
          <a:lstStyle/>
          <a:p>
            <a:pPr indent="0" marL="0">
              <a:buNone/>
            </a:pPr>
            <a:r>
              <a:rPr lang="en-US" sz="1900" b="1" dirty="0">
                <a:solidFill>
                  <a:schemeClr val="accent1"/>
                </a:solidFill>
              </a:rPr>
              <a:t>Administration layer</a:t>
            </a:r>
            <a:endParaRPr lang="en-US" sz="1900" dirty="0"/>
          </a:p>
          <a:p>
            <a:pPr indent="0" marL="0">
              <a:buNone/>
            </a:pPr>
            <a:r>
              <a:rPr lang="en-US" sz="1500" dirty="0">
                <a:solidFill>
                  <a:schemeClr val="tx1"/>
                </a:solidFill>
              </a:rPr>
              <a:t>Moderation, appeals, support tickets and analytics</a:t>
            </a:r>
            <a:endParaRPr lang="en-US" sz="19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4"/>
          </a:solidFill>
          <a:ln w="12700">
            <a:solidFill>
              <a:schemeClr val="accent4"/>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Design</a:t>
            </a:r>
            <a:endParaRPr lang="en-US" sz="1000" dirty="0"/>
          </a:p>
        </p:txBody>
      </p:sp>
      <p:sp>
        <p:nvSpPr>
          <p:cNvPr id="22"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3"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4"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5"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6"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7"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05  ·  OBJECTIVES</a:t>
            </a:r>
            <a:endParaRPr lang="en-US" sz="1200" dirty="0"/>
          </a:p>
        </p:txBody>
      </p:sp>
      <p:sp>
        <p:nvSpPr>
          <p:cNvPr id="28"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Objectives</a:t>
            </a:r>
            <a:endParaRPr lang="en-US" sz="3400" dirty="0"/>
          </a:p>
        </p:txBody>
      </p:sp>
      <p:sp>
        <p:nvSpPr>
          <p:cNvPr id="29" name="Connector 1"/>
          <p:cNvSpPr/>
          <p:nvPr/>
        </p:nvSpPr>
        <p:spPr>
          <a:xfrm>
            <a:off x="5623560" y="1472184"/>
            <a:ext cx="0" cy="658368"/>
          </a:xfrm>
          <a:prstGeom prst="line">
            <a:avLst/>
          </a:prstGeom>
          <a:noFill/>
          <a:ln w="15875">
            <a:solidFill>
              <a:schemeClr val="accent4"/>
            </a:solidFill>
            <a:prstDash val="dash"/>
          </a:ln>
        </p:spPr>
      </p:sp>
      <p:sp>
        <p:nvSpPr>
          <p:cNvPr id="30" name="Step badge 1"/>
          <p:cNvSpPr txBox="1"/>
          <p:nvPr/>
        </p:nvSpPr>
        <p:spPr>
          <a:xfrm>
            <a:off x="5394960" y="101498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31" name="Step text 1"/>
          <p:cNvSpPr txBox="1"/>
          <p:nvPr/>
        </p:nvSpPr>
        <p:spPr>
          <a:xfrm>
            <a:off x="6126480" y="722376"/>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Deliver a complete, usable platform</a:t>
            </a:r>
            <a:endParaRPr lang="en-US" sz="2000" dirty="0"/>
          </a:p>
          <a:p>
            <a:pPr indent="0" marL="0">
              <a:buNone/>
            </a:pPr>
            <a:r>
              <a:rPr lang="en-US" sz="1500" dirty="0">
                <a:solidFill>
                  <a:schemeClr val="tx1"/>
                </a:solidFill>
              </a:rPr>
              <a:t>Within a seven-week internship</a:t>
            </a:r>
            <a:endParaRPr lang="en-US" sz="2000" dirty="0"/>
          </a:p>
        </p:txBody>
      </p:sp>
      <p:sp>
        <p:nvSpPr>
          <p:cNvPr id="32" name="Connector 2"/>
          <p:cNvSpPr/>
          <p:nvPr/>
        </p:nvSpPr>
        <p:spPr>
          <a:xfrm>
            <a:off x="5623560" y="2587752"/>
            <a:ext cx="0" cy="658368"/>
          </a:xfrm>
          <a:prstGeom prst="line">
            <a:avLst/>
          </a:prstGeom>
          <a:noFill/>
          <a:ln w="15875">
            <a:solidFill>
              <a:schemeClr val="accent4"/>
            </a:solidFill>
            <a:prstDash val="dash"/>
          </a:ln>
        </p:spPr>
      </p:sp>
      <p:sp>
        <p:nvSpPr>
          <p:cNvPr id="33" name="Step badge 2"/>
          <p:cNvSpPr txBox="1"/>
          <p:nvPr/>
        </p:nvSpPr>
        <p:spPr>
          <a:xfrm>
            <a:off x="5394960" y="213055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4" name="Step text 2"/>
          <p:cNvSpPr txBox="1"/>
          <p:nvPr/>
        </p:nvSpPr>
        <p:spPr>
          <a:xfrm>
            <a:off x="6126480" y="1837944"/>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Fine-grained role-based access</a:t>
            </a:r>
            <a:endParaRPr lang="en-US" sz="2000" dirty="0"/>
          </a:p>
          <a:p>
            <a:pPr indent="0" marL="0">
              <a:buNone/>
            </a:pPr>
            <a:r>
              <a:rPr lang="en-US" sz="1500" dirty="0">
                <a:solidFill>
                  <a:schemeClr val="tx1"/>
                </a:solidFill>
              </a:rPr>
              <a:t>Across every project</a:t>
            </a:r>
            <a:endParaRPr lang="en-US" sz="2000" dirty="0"/>
          </a:p>
        </p:txBody>
      </p:sp>
      <p:sp>
        <p:nvSpPr>
          <p:cNvPr id="35" name="Connector 3"/>
          <p:cNvSpPr/>
          <p:nvPr/>
        </p:nvSpPr>
        <p:spPr>
          <a:xfrm>
            <a:off x="5623560" y="3703320"/>
            <a:ext cx="0" cy="658368"/>
          </a:xfrm>
          <a:prstGeom prst="line">
            <a:avLst/>
          </a:prstGeom>
          <a:noFill/>
          <a:ln w="15875">
            <a:solidFill>
              <a:schemeClr val="accent4"/>
            </a:solidFill>
            <a:prstDash val="dash"/>
          </a:ln>
        </p:spPr>
      </p:sp>
      <p:sp>
        <p:nvSpPr>
          <p:cNvPr id="36" name="Step badge 3"/>
          <p:cNvSpPr txBox="1"/>
          <p:nvPr/>
        </p:nvSpPr>
        <p:spPr>
          <a:xfrm>
            <a:off x="5394960" y="32461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7" name="Step text 3"/>
          <p:cNvSpPr txBox="1"/>
          <p:nvPr/>
        </p:nvSpPr>
        <p:spPr>
          <a:xfrm>
            <a:off x="6126480" y="2953512"/>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True real-time collaboration</a:t>
            </a:r>
            <a:endParaRPr lang="en-US" sz="2000" dirty="0"/>
          </a:p>
          <a:p>
            <a:pPr indent="0" marL="0">
              <a:buNone/>
            </a:pPr>
            <a:r>
              <a:rPr lang="en-US" sz="1500" dirty="0">
                <a:solidFill>
                  <a:schemeClr val="tx1"/>
                </a:solidFill>
              </a:rPr>
              <a:t>Through WebSockets</a:t>
            </a:r>
            <a:endParaRPr lang="en-US" sz="2000" dirty="0"/>
          </a:p>
        </p:txBody>
      </p:sp>
      <p:sp>
        <p:nvSpPr>
          <p:cNvPr id="38" name="Connector 4"/>
          <p:cNvSpPr/>
          <p:nvPr/>
        </p:nvSpPr>
        <p:spPr>
          <a:xfrm>
            <a:off x="5623560" y="4818888"/>
            <a:ext cx="0" cy="658368"/>
          </a:xfrm>
          <a:prstGeom prst="line">
            <a:avLst/>
          </a:prstGeom>
          <a:noFill/>
          <a:ln w="15875">
            <a:solidFill>
              <a:schemeClr val="accent4"/>
            </a:solidFill>
            <a:prstDash val="dash"/>
          </a:ln>
        </p:spPr>
      </p:sp>
      <p:sp>
        <p:nvSpPr>
          <p:cNvPr id="39" name="Step badge 4"/>
          <p:cNvSpPr txBox="1"/>
          <p:nvPr/>
        </p:nvSpPr>
        <p:spPr>
          <a:xfrm>
            <a:off x="5394960" y="436168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0" name="Step text 4"/>
          <p:cNvSpPr txBox="1"/>
          <p:nvPr/>
        </p:nvSpPr>
        <p:spPr>
          <a:xfrm>
            <a:off x="6126480" y="4069080"/>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Administration and moderation tools</a:t>
            </a:r>
            <a:endParaRPr lang="en-US" sz="2000" dirty="0"/>
          </a:p>
          <a:p>
            <a:pPr indent="0" marL="0">
              <a:buNone/>
            </a:pPr>
            <a:r>
              <a:rPr lang="en-US" sz="1500" dirty="0">
                <a:solidFill>
                  <a:schemeClr val="tx1"/>
                </a:solidFill>
              </a:rPr>
              <a:t>To keep the platform healthy</a:t>
            </a:r>
            <a:endParaRPr lang="en-US" sz="2000" dirty="0"/>
          </a:p>
        </p:txBody>
      </p:sp>
      <p:sp>
        <p:nvSpPr>
          <p:cNvPr id="41" name="Step badge 5"/>
          <p:cNvSpPr txBox="1"/>
          <p:nvPr/>
        </p:nvSpPr>
        <p:spPr>
          <a:xfrm>
            <a:off x="5394960" y="5477256"/>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42" name="Step text 5"/>
          <p:cNvSpPr txBox="1"/>
          <p:nvPr/>
        </p:nvSpPr>
        <p:spPr>
          <a:xfrm>
            <a:off x="6126480" y="5184648"/>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Run the internship as an Agile process</a:t>
            </a:r>
            <a:endParaRPr lang="en-US" sz="2000" dirty="0"/>
          </a:p>
          <a:p>
            <a:pPr indent="0" marL="0">
              <a:buNone/>
            </a:pPr>
            <a:r>
              <a:rPr lang="en-US" sz="1500" dirty="0">
                <a:solidFill>
                  <a:schemeClr val="tx1"/>
                </a:solidFill>
              </a:rPr>
              <a:t>Sprint-based delivery</a:t>
            </a:r>
            <a:endParaRPr lang="en-US" sz="20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211128"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06  ·  DESIGN</a:t>
            </a:r>
            <a:endParaRPr lang="en-US" sz="1200" dirty="0"/>
          </a:p>
        </p:txBody>
      </p:sp>
      <p:sp>
        <p:nvSpPr>
          <p:cNvPr id="29"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Design</a:t>
            </a:r>
            <a:endParaRPr lang="en-US" sz="3400" dirty="0"/>
          </a:p>
        </p:txBody>
      </p:sp>
      <p:sp>
        <p:nvSpPr>
          <p:cNvPr id="30" name="Subtitle"/>
          <p:cNvSpPr txBox="1"/>
          <p:nvPr/>
        </p:nvSpPr>
        <p:spPr>
          <a:xfrm>
            <a:off x="502920" y="3931920"/>
            <a:ext cx="3383280" cy="914400"/>
          </a:xfrm>
          <a:prstGeom prst="rect">
            <a:avLst/>
          </a:prstGeom>
          <a:noFill/>
          <a:ln/>
        </p:spPr>
        <p:txBody>
          <a:bodyPr wrap="square" lIns="0" tIns="0" rIns="0" bIns="0" rtlCol="0" anchor="t"/>
          <a:lstStyle/>
          <a:p>
            <a:pPr algn="l" indent="0" marL="0">
              <a:buNone/>
            </a:pPr>
            <a:r>
              <a:rPr lang="en-US" sz="1800" dirty="0">
                <a:solidFill>
                  <a:schemeClr val="accent4"/>
                </a:solidFill>
              </a:rPr>
              <a:t>Agile methodology inspired by Scrum</a:t>
            </a:r>
            <a:endParaRPr lang="en-US" sz="1800" dirty="0"/>
          </a:p>
        </p:txBody>
      </p:sp>
      <p:sp>
        <p:nvSpPr>
          <p:cNvPr id="31" name="Image frame"/>
          <p:cNvSpPr/>
          <p:nvPr/>
        </p:nvSpPr>
        <p:spPr>
          <a:xfrm>
            <a:off x="5248656" y="1088330"/>
            <a:ext cx="6510528" cy="4224141"/>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pic>
        <p:nvPicPr>
          <p:cNvPr id="32" name="Image Agile / Scrum-inspired iterative methodology" descr="Agile / Scrum-inspired iterative methodology">    </p:cNvPr>
          <p:cNvPicPr>
            <a:picLocks noChangeAspect="1"/>
          </p:cNvPicPr>
          <p:nvPr/>
        </p:nvPicPr>
        <p:blipFill>
          <a:blip r:embed="rId1"/>
          <a:stretch>
            <a:fillRect/>
          </a:stretch>
        </p:blipFill>
        <p:spPr>
          <a:xfrm>
            <a:off x="5303520" y="1143194"/>
            <a:ext cx="6400800" cy="4114413"/>
          </a:xfrm>
          <a:prstGeom prst="rect">
            <a:avLst/>
          </a:prstGeom>
        </p:spPr>
      </p:pic>
      <p:sp>
        <p:nvSpPr>
          <p:cNvPr id="33" name="Caption"/>
          <p:cNvSpPr txBox="1"/>
          <p:nvPr/>
        </p:nvSpPr>
        <p:spPr>
          <a:xfrm>
            <a:off x="5303520" y="5367334"/>
            <a:ext cx="6400800" cy="274320"/>
          </a:xfrm>
          <a:prstGeom prst="rect">
            <a:avLst/>
          </a:prstGeom>
          <a:noFill/>
          <a:ln/>
        </p:spPr>
        <p:txBody>
          <a:bodyPr wrap="square" lIns="0" tIns="0" rIns="0" bIns="0" rtlCol="0" anchor="ctr"/>
          <a:lstStyle/>
          <a:p>
            <a:pPr algn="ctr" indent="0" marL="0">
              <a:buNone/>
            </a:pPr>
            <a:r>
              <a:rPr lang="en-US" sz="1200" i="1" dirty="0">
                <a:solidFill>
                  <a:schemeClr val="accent3"/>
                </a:solidFill>
              </a:rPr>
              <a:t>Agile / Scrum-inspired iterative methodology</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422257"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06  ·  DESIGN</a:t>
            </a:r>
            <a:endParaRPr lang="en-US" sz="1200" dirty="0"/>
          </a:p>
        </p:txBody>
      </p:sp>
      <p:sp>
        <p:nvSpPr>
          <p:cNvPr id="29"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Sprint management</a:t>
            </a:r>
            <a:endParaRPr lang="en-US" sz="3400" dirty="0"/>
          </a:p>
        </p:txBody>
      </p:sp>
      <p:sp>
        <p:nvSpPr>
          <p:cNvPr id="30" name="Connector 1"/>
          <p:cNvSpPr/>
          <p:nvPr/>
        </p:nvSpPr>
        <p:spPr>
          <a:xfrm>
            <a:off x="5623560" y="1472184"/>
            <a:ext cx="0" cy="658368"/>
          </a:xfrm>
          <a:prstGeom prst="line">
            <a:avLst/>
          </a:prstGeom>
          <a:noFill/>
          <a:ln w="15875">
            <a:solidFill>
              <a:schemeClr val="accent4"/>
            </a:solidFill>
            <a:prstDash val="dash"/>
          </a:ln>
        </p:spPr>
      </p:sp>
      <p:sp>
        <p:nvSpPr>
          <p:cNvPr id="31" name="Step badge 1"/>
          <p:cNvSpPr txBox="1"/>
          <p:nvPr/>
        </p:nvSpPr>
        <p:spPr>
          <a:xfrm>
            <a:off x="5394960" y="101498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32" name="Step text 1"/>
          <p:cNvSpPr txBox="1"/>
          <p:nvPr/>
        </p:nvSpPr>
        <p:spPr>
          <a:xfrm>
            <a:off x="6126480" y="722376"/>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Sprint 0 · Planning &amp; setup</a:t>
            </a:r>
            <a:endParaRPr lang="en-US" sz="2000" dirty="0"/>
          </a:p>
          <a:p>
            <a:pPr indent="0" marL="0">
              <a:buNone/>
            </a:pPr>
            <a:r>
              <a:rPr lang="en-US" sz="1500" dirty="0">
                <a:solidFill>
                  <a:schemeClr val="tx1"/>
                </a:solidFill>
              </a:rPr>
              <a:t>June 15 – 19, 2026</a:t>
            </a:r>
            <a:endParaRPr lang="en-US" sz="2000" dirty="0"/>
          </a:p>
        </p:txBody>
      </p:sp>
      <p:sp>
        <p:nvSpPr>
          <p:cNvPr id="33" name="Connector 2"/>
          <p:cNvSpPr/>
          <p:nvPr/>
        </p:nvSpPr>
        <p:spPr>
          <a:xfrm>
            <a:off x="5623560" y="2587752"/>
            <a:ext cx="0" cy="658368"/>
          </a:xfrm>
          <a:prstGeom prst="line">
            <a:avLst/>
          </a:prstGeom>
          <a:noFill/>
          <a:ln w="15875">
            <a:solidFill>
              <a:schemeClr val="accent4"/>
            </a:solidFill>
            <a:prstDash val="dash"/>
          </a:ln>
        </p:spPr>
      </p:sp>
      <p:sp>
        <p:nvSpPr>
          <p:cNvPr id="34" name="Step badge 2"/>
          <p:cNvSpPr txBox="1"/>
          <p:nvPr/>
        </p:nvSpPr>
        <p:spPr>
          <a:xfrm>
            <a:off x="5394960" y="213055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5" name="Step text 2"/>
          <p:cNvSpPr txBox="1"/>
          <p:nvPr/>
        </p:nvSpPr>
        <p:spPr>
          <a:xfrm>
            <a:off x="6126480" y="1837944"/>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Sprint 1 · Authentication &amp; user management</a:t>
            </a:r>
            <a:endParaRPr lang="en-US" sz="2000" dirty="0"/>
          </a:p>
          <a:p>
            <a:pPr indent="0" marL="0">
              <a:buNone/>
            </a:pPr>
            <a:r>
              <a:rPr lang="en-US" sz="1500" dirty="0">
                <a:solidFill>
                  <a:schemeClr val="tx1"/>
                </a:solidFill>
              </a:rPr>
              <a:t>June 22 – July 3</a:t>
            </a:r>
            <a:endParaRPr lang="en-US" sz="2000" dirty="0"/>
          </a:p>
        </p:txBody>
      </p:sp>
      <p:sp>
        <p:nvSpPr>
          <p:cNvPr id="36" name="Connector 3"/>
          <p:cNvSpPr/>
          <p:nvPr/>
        </p:nvSpPr>
        <p:spPr>
          <a:xfrm>
            <a:off x="5623560" y="3703320"/>
            <a:ext cx="0" cy="658368"/>
          </a:xfrm>
          <a:prstGeom prst="line">
            <a:avLst/>
          </a:prstGeom>
          <a:noFill/>
          <a:ln w="15875">
            <a:solidFill>
              <a:schemeClr val="accent4"/>
            </a:solidFill>
            <a:prstDash val="dash"/>
          </a:ln>
        </p:spPr>
      </p:sp>
      <p:sp>
        <p:nvSpPr>
          <p:cNvPr id="37" name="Step badge 3"/>
          <p:cNvSpPr txBox="1"/>
          <p:nvPr/>
        </p:nvSpPr>
        <p:spPr>
          <a:xfrm>
            <a:off x="5394960" y="32461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8" name="Step text 3"/>
          <p:cNvSpPr txBox="1"/>
          <p:nvPr/>
        </p:nvSpPr>
        <p:spPr>
          <a:xfrm>
            <a:off x="6126480" y="2953512"/>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Sprint 2 · Project &amp; task management</a:t>
            </a:r>
            <a:endParaRPr lang="en-US" sz="2000" dirty="0"/>
          </a:p>
          <a:p>
            <a:pPr indent="0" marL="0">
              <a:buNone/>
            </a:pPr>
            <a:r>
              <a:rPr lang="en-US" sz="1500" dirty="0">
                <a:solidFill>
                  <a:schemeClr val="tx1"/>
                </a:solidFill>
              </a:rPr>
              <a:t>July 6 – July 17</a:t>
            </a:r>
            <a:endParaRPr lang="en-US" sz="2000" dirty="0"/>
          </a:p>
        </p:txBody>
      </p:sp>
      <p:sp>
        <p:nvSpPr>
          <p:cNvPr id="39" name="Connector 4"/>
          <p:cNvSpPr/>
          <p:nvPr/>
        </p:nvSpPr>
        <p:spPr>
          <a:xfrm>
            <a:off x="5623560" y="4818888"/>
            <a:ext cx="0" cy="658368"/>
          </a:xfrm>
          <a:prstGeom prst="line">
            <a:avLst/>
          </a:prstGeom>
          <a:noFill/>
          <a:ln w="15875">
            <a:solidFill>
              <a:schemeClr val="accent4"/>
            </a:solidFill>
            <a:prstDash val="dash"/>
          </a:ln>
        </p:spPr>
      </p:sp>
      <p:sp>
        <p:nvSpPr>
          <p:cNvPr id="40" name="Step badge 4"/>
          <p:cNvSpPr txBox="1"/>
          <p:nvPr/>
        </p:nvSpPr>
        <p:spPr>
          <a:xfrm>
            <a:off x="5394960" y="4361688"/>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1" name="Step text 4"/>
          <p:cNvSpPr txBox="1"/>
          <p:nvPr/>
        </p:nvSpPr>
        <p:spPr>
          <a:xfrm>
            <a:off x="6126480" y="4069080"/>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Sprint 3 · Real-time collaboration</a:t>
            </a:r>
            <a:endParaRPr lang="en-US" sz="2000" dirty="0"/>
          </a:p>
          <a:p>
            <a:pPr indent="0" marL="0">
              <a:buNone/>
            </a:pPr>
            <a:r>
              <a:rPr lang="en-US" sz="1500" dirty="0">
                <a:solidFill>
                  <a:schemeClr val="tx1"/>
                </a:solidFill>
              </a:rPr>
              <a:t>July 20 – July 24</a:t>
            </a:r>
            <a:endParaRPr lang="en-US" sz="2000" dirty="0"/>
          </a:p>
        </p:txBody>
      </p:sp>
      <p:sp>
        <p:nvSpPr>
          <p:cNvPr id="42" name="Step badge 5"/>
          <p:cNvSpPr txBox="1"/>
          <p:nvPr/>
        </p:nvSpPr>
        <p:spPr>
          <a:xfrm>
            <a:off x="5394960" y="5477256"/>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43" name="Step text 5"/>
          <p:cNvSpPr txBox="1"/>
          <p:nvPr/>
        </p:nvSpPr>
        <p:spPr>
          <a:xfrm>
            <a:off x="6126480" y="5184648"/>
            <a:ext cx="5577840" cy="1042416"/>
          </a:xfrm>
          <a:prstGeom prst="rect">
            <a:avLst/>
          </a:prstGeom>
          <a:noFill/>
          <a:ln/>
        </p:spPr>
        <p:txBody>
          <a:bodyPr wrap="square" lIns="0" tIns="0" rIns="0" bIns="0" rtlCol="0" anchor="ctr"/>
          <a:lstStyle/>
          <a:p>
            <a:pPr indent="0" marL="0">
              <a:buNone/>
            </a:pPr>
            <a:r>
              <a:rPr lang="en-US" sz="2000" b="1" dirty="0">
                <a:solidFill>
                  <a:schemeClr val="accent3"/>
                </a:solidFill>
              </a:rPr>
              <a:t>Sprint 4 · Administration &amp; analytics</a:t>
            </a:r>
            <a:endParaRPr lang="en-US" sz="2000" dirty="0"/>
          </a:p>
          <a:p>
            <a:pPr indent="0" marL="0">
              <a:buNone/>
            </a:pPr>
            <a:r>
              <a:rPr lang="en-US" sz="1500" dirty="0">
                <a:solidFill>
                  <a:schemeClr val="tx1"/>
                </a:solidFill>
              </a:rPr>
              <a:t>July 27 – July 31</a:t>
            </a:r>
            <a:endParaRPr lang="en-US" sz="20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633385"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06  ·  DESIGN</a:t>
            </a:r>
            <a:endParaRPr lang="en-US" sz="1200" dirty="0"/>
          </a:p>
        </p:txBody>
      </p:sp>
      <p:sp>
        <p:nvSpPr>
          <p:cNvPr id="29"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Requirements specification</a:t>
            </a:r>
            <a:endParaRPr lang="en-US" sz="3400" dirty="0"/>
          </a:p>
        </p:txBody>
      </p:sp>
      <p:sp>
        <p:nvSpPr>
          <p:cNvPr id="30" name="Subtitle"/>
          <p:cNvSpPr txBox="1"/>
          <p:nvPr/>
        </p:nvSpPr>
        <p:spPr>
          <a:xfrm>
            <a:off x="502920" y="3931920"/>
            <a:ext cx="3383280" cy="914400"/>
          </a:xfrm>
          <a:prstGeom prst="rect">
            <a:avLst/>
          </a:prstGeom>
          <a:noFill/>
          <a:ln/>
        </p:spPr>
        <p:txBody>
          <a:bodyPr wrap="square" lIns="0" tIns="0" rIns="0" bIns="0" rtlCol="0" anchor="t"/>
          <a:lstStyle/>
          <a:p>
            <a:pPr algn="l" indent="0" marL="0">
              <a:buNone/>
            </a:pPr>
            <a:r>
              <a:rPr lang="en-US" sz="1800" dirty="0">
                <a:solidFill>
                  <a:schemeClr val="accent4"/>
                </a:solidFill>
              </a:rPr>
              <a:t>Actors and functional needs</a:t>
            </a:r>
            <a:endParaRPr lang="en-US" sz="1800" dirty="0"/>
          </a:p>
        </p:txBody>
      </p:sp>
      <p:sp>
        <p:nvSpPr>
          <p:cNvPr id="31" name="Connector 1"/>
          <p:cNvSpPr/>
          <p:nvPr/>
        </p:nvSpPr>
        <p:spPr>
          <a:xfrm>
            <a:off x="5623560" y="1379220"/>
            <a:ext cx="0" cy="472440"/>
          </a:xfrm>
          <a:prstGeom prst="line">
            <a:avLst/>
          </a:prstGeom>
          <a:noFill/>
          <a:ln w="15875">
            <a:solidFill>
              <a:schemeClr val="accent4"/>
            </a:solidFill>
            <a:prstDash val="dash"/>
          </a:ln>
        </p:spPr>
      </p:sp>
      <p:sp>
        <p:nvSpPr>
          <p:cNvPr id="32" name="Step badge 1"/>
          <p:cNvSpPr txBox="1"/>
          <p:nvPr/>
        </p:nvSpPr>
        <p:spPr>
          <a:xfrm>
            <a:off x="5394960" y="9220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33" name="Step text 1"/>
          <p:cNvSpPr txBox="1"/>
          <p:nvPr/>
        </p:nvSpPr>
        <p:spPr>
          <a:xfrm>
            <a:off x="6126480" y="72237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Owner</a:t>
            </a:r>
            <a:endParaRPr lang="en-US" sz="1800" dirty="0"/>
          </a:p>
          <a:p>
            <a:pPr indent="0" marL="0">
              <a:buNone/>
            </a:pPr>
            <a:r>
              <a:rPr lang="en-US" sz="1400" dirty="0">
                <a:solidFill>
                  <a:schemeClr val="tx1"/>
                </a:solidFill>
              </a:rPr>
              <a:t>Full control of the project, including roles and deletion</a:t>
            </a:r>
            <a:endParaRPr lang="en-US" sz="1800" dirty="0"/>
          </a:p>
        </p:txBody>
      </p:sp>
      <p:sp>
        <p:nvSpPr>
          <p:cNvPr id="34" name="Connector 2"/>
          <p:cNvSpPr/>
          <p:nvPr/>
        </p:nvSpPr>
        <p:spPr>
          <a:xfrm>
            <a:off x="5623560" y="2308860"/>
            <a:ext cx="0" cy="472440"/>
          </a:xfrm>
          <a:prstGeom prst="line">
            <a:avLst/>
          </a:prstGeom>
          <a:noFill/>
          <a:ln w="15875">
            <a:solidFill>
              <a:schemeClr val="accent4"/>
            </a:solidFill>
            <a:prstDash val="dash"/>
          </a:ln>
        </p:spPr>
      </p:sp>
      <p:sp>
        <p:nvSpPr>
          <p:cNvPr id="35" name="Step badge 2"/>
          <p:cNvSpPr txBox="1"/>
          <p:nvPr/>
        </p:nvSpPr>
        <p:spPr>
          <a:xfrm>
            <a:off x="5394960" y="185166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6" name="Step text 2"/>
          <p:cNvSpPr txBox="1"/>
          <p:nvPr/>
        </p:nvSpPr>
        <p:spPr>
          <a:xfrm>
            <a:off x="6126480" y="165201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Manager</a:t>
            </a:r>
            <a:endParaRPr lang="en-US" sz="1800" dirty="0"/>
          </a:p>
          <a:p>
            <a:pPr indent="0" marL="0">
              <a:buNone/>
            </a:pPr>
            <a:r>
              <a:rPr lang="en-US" sz="1400" dirty="0">
                <a:solidFill>
                  <a:schemeClr val="tx1"/>
                </a:solidFill>
              </a:rPr>
              <a:t>Creates and assigns tasks, manages members</a:t>
            </a:r>
            <a:endParaRPr lang="en-US" sz="1800" dirty="0"/>
          </a:p>
        </p:txBody>
      </p:sp>
      <p:sp>
        <p:nvSpPr>
          <p:cNvPr id="37" name="Connector 3"/>
          <p:cNvSpPr/>
          <p:nvPr/>
        </p:nvSpPr>
        <p:spPr>
          <a:xfrm>
            <a:off x="5623560" y="3238500"/>
            <a:ext cx="0" cy="472440"/>
          </a:xfrm>
          <a:prstGeom prst="line">
            <a:avLst/>
          </a:prstGeom>
          <a:noFill/>
          <a:ln w="15875">
            <a:solidFill>
              <a:schemeClr val="accent4"/>
            </a:solidFill>
            <a:prstDash val="dash"/>
          </a:ln>
        </p:spPr>
      </p:sp>
      <p:sp>
        <p:nvSpPr>
          <p:cNvPr id="38" name="Step badge 3"/>
          <p:cNvSpPr txBox="1"/>
          <p:nvPr/>
        </p:nvSpPr>
        <p:spPr>
          <a:xfrm>
            <a:off x="5394960" y="278130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9" name="Step text 3"/>
          <p:cNvSpPr txBox="1"/>
          <p:nvPr/>
        </p:nvSpPr>
        <p:spPr>
          <a:xfrm>
            <a:off x="6126480" y="258165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Member</a:t>
            </a:r>
            <a:endParaRPr lang="en-US" sz="1800" dirty="0"/>
          </a:p>
          <a:p>
            <a:pPr indent="0" marL="0">
              <a:buNone/>
            </a:pPr>
            <a:r>
              <a:rPr lang="en-US" sz="1400" dirty="0">
                <a:solidFill>
                  <a:schemeClr val="tx1"/>
                </a:solidFill>
              </a:rPr>
              <a:t>Works on assigned tasks, checklists and deliverables</a:t>
            </a:r>
            <a:endParaRPr lang="en-US" sz="1800" dirty="0"/>
          </a:p>
        </p:txBody>
      </p:sp>
      <p:sp>
        <p:nvSpPr>
          <p:cNvPr id="40" name="Connector 4"/>
          <p:cNvSpPr/>
          <p:nvPr/>
        </p:nvSpPr>
        <p:spPr>
          <a:xfrm>
            <a:off x="5623560" y="4168140"/>
            <a:ext cx="0" cy="472440"/>
          </a:xfrm>
          <a:prstGeom prst="line">
            <a:avLst/>
          </a:prstGeom>
          <a:noFill/>
          <a:ln w="15875">
            <a:solidFill>
              <a:schemeClr val="accent4"/>
            </a:solidFill>
            <a:prstDash val="dash"/>
          </a:ln>
        </p:spPr>
      </p:sp>
      <p:sp>
        <p:nvSpPr>
          <p:cNvPr id="41" name="Step badge 4"/>
          <p:cNvSpPr txBox="1"/>
          <p:nvPr/>
        </p:nvSpPr>
        <p:spPr>
          <a:xfrm>
            <a:off x="5394960" y="37109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2" name="Step text 4"/>
          <p:cNvSpPr txBox="1"/>
          <p:nvPr/>
        </p:nvSpPr>
        <p:spPr>
          <a:xfrm>
            <a:off x="6126480" y="351129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Tester</a:t>
            </a:r>
            <a:endParaRPr lang="en-US" sz="1800" dirty="0"/>
          </a:p>
          <a:p>
            <a:pPr indent="0" marL="0">
              <a:buNone/>
            </a:pPr>
            <a:r>
              <a:rPr lang="en-US" sz="1400" dirty="0">
                <a:solidFill>
                  <a:schemeClr val="tx1"/>
                </a:solidFill>
              </a:rPr>
              <a:t>Validates submitted work, with restricted permissions</a:t>
            </a:r>
            <a:endParaRPr lang="en-US" sz="1800" dirty="0"/>
          </a:p>
        </p:txBody>
      </p:sp>
      <p:sp>
        <p:nvSpPr>
          <p:cNvPr id="43" name="Connector 5"/>
          <p:cNvSpPr/>
          <p:nvPr/>
        </p:nvSpPr>
        <p:spPr>
          <a:xfrm>
            <a:off x="5623560" y="5097780"/>
            <a:ext cx="0" cy="472440"/>
          </a:xfrm>
          <a:prstGeom prst="line">
            <a:avLst/>
          </a:prstGeom>
          <a:noFill/>
          <a:ln w="15875">
            <a:solidFill>
              <a:schemeClr val="accent4"/>
            </a:solidFill>
            <a:prstDash val="dash"/>
          </a:ln>
        </p:spPr>
      </p:sp>
      <p:sp>
        <p:nvSpPr>
          <p:cNvPr id="44" name="Step badge 5"/>
          <p:cNvSpPr txBox="1"/>
          <p:nvPr/>
        </p:nvSpPr>
        <p:spPr>
          <a:xfrm>
            <a:off x="5394960" y="46405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05</a:t>
            </a:r>
            <a:endParaRPr lang="en-US" sz="1400" dirty="0"/>
          </a:p>
        </p:txBody>
      </p:sp>
      <p:sp>
        <p:nvSpPr>
          <p:cNvPr id="45" name="Step text 5"/>
          <p:cNvSpPr txBox="1"/>
          <p:nvPr/>
        </p:nvSpPr>
        <p:spPr>
          <a:xfrm>
            <a:off x="6126480" y="444093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Administrator</a:t>
            </a:r>
            <a:endParaRPr lang="en-US" sz="1800" dirty="0"/>
          </a:p>
          <a:p>
            <a:pPr indent="0" marL="0">
              <a:buNone/>
            </a:pPr>
            <a:r>
              <a:rPr lang="en-US" sz="1400" dirty="0">
                <a:solidFill>
                  <a:schemeClr val="tx1"/>
                </a:solidFill>
              </a:rPr>
              <a:t>Moderates users, handles tickets and appeals</a:t>
            </a:r>
            <a:endParaRPr lang="en-US" sz="1800" dirty="0"/>
          </a:p>
        </p:txBody>
      </p:sp>
      <p:sp>
        <p:nvSpPr>
          <p:cNvPr id="46" name="Step badge 6"/>
          <p:cNvSpPr txBox="1"/>
          <p:nvPr/>
        </p:nvSpPr>
        <p:spPr>
          <a:xfrm>
            <a:off x="5394960" y="55702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06</a:t>
            </a:r>
            <a:endParaRPr lang="en-US" sz="1400" dirty="0"/>
          </a:p>
        </p:txBody>
      </p:sp>
      <p:sp>
        <p:nvSpPr>
          <p:cNvPr id="47" name="Step text 6"/>
          <p:cNvSpPr txBox="1"/>
          <p:nvPr/>
        </p:nvSpPr>
        <p:spPr>
          <a:xfrm>
            <a:off x="6126480" y="5370576"/>
            <a:ext cx="5577840" cy="856488"/>
          </a:xfrm>
          <a:prstGeom prst="rect">
            <a:avLst/>
          </a:prstGeom>
          <a:noFill/>
          <a:ln/>
        </p:spPr>
        <p:txBody>
          <a:bodyPr wrap="square" lIns="0" tIns="0" rIns="0" bIns="0" rtlCol="0" anchor="ctr"/>
          <a:lstStyle/>
          <a:p>
            <a:pPr indent="0" marL="0">
              <a:buNone/>
            </a:pPr>
            <a:r>
              <a:rPr lang="en-US" sz="1800" b="1" dirty="0">
                <a:solidFill>
                  <a:schemeClr val="accent3"/>
                </a:solidFill>
              </a:rPr>
              <a:t>Superadmin</a:t>
            </a:r>
            <a:endParaRPr lang="en-US" sz="1800" dirty="0"/>
          </a:p>
          <a:p>
            <a:pPr indent="0" marL="0">
              <a:buNone/>
            </a:pPr>
            <a:r>
              <a:rPr lang="en-US" sz="1400" dirty="0">
                <a:solidFill>
                  <a:schemeClr val="tx1"/>
                </a:solidFill>
              </a:rPr>
              <a:t>Promotes or demotes users, edits info, deletes accounts</a:t>
            </a:r>
            <a:endParaRPr lang="en-US" sz="18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844514"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06  ·  DESIGN</a:t>
            </a:r>
            <a:endParaRPr lang="en-US" sz="1200" dirty="0"/>
          </a:p>
        </p:txBody>
      </p:sp>
      <p:sp>
        <p:nvSpPr>
          <p:cNvPr id="29"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Requirements specification</a:t>
            </a:r>
            <a:endParaRPr lang="en-US" sz="3400" dirty="0"/>
          </a:p>
        </p:txBody>
      </p:sp>
      <p:sp>
        <p:nvSpPr>
          <p:cNvPr id="30" name="Subtitle"/>
          <p:cNvSpPr txBox="1"/>
          <p:nvPr/>
        </p:nvSpPr>
        <p:spPr>
          <a:xfrm>
            <a:off x="502920" y="3931920"/>
            <a:ext cx="3383280" cy="914400"/>
          </a:xfrm>
          <a:prstGeom prst="rect">
            <a:avLst/>
          </a:prstGeom>
          <a:noFill/>
          <a:ln/>
        </p:spPr>
        <p:txBody>
          <a:bodyPr wrap="square" lIns="0" tIns="0" rIns="0" bIns="0" rtlCol="0" anchor="t"/>
          <a:lstStyle/>
          <a:p>
            <a:pPr algn="l" indent="0" marL="0">
              <a:buNone/>
            </a:pPr>
            <a:r>
              <a:rPr lang="en-US" sz="1800" dirty="0">
                <a:solidFill>
                  <a:schemeClr val="accent4"/>
                </a:solidFill>
              </a:rPr>
              <a:t>Non-functional needs</a:t>
            </a:r>
            <a:endParaRPr lang="en-US" sz="1800" dirty="0"/>
          </a:p>
        </p:txBody>
      </p:sp>
      <p:sp>
        <p:nvSpPr>
          <p:cNvPr id="31" name="Connector 1"/>
          <p:cNvSpPr/>
          <p:nvPr/>
        </p:nvSpPr>
        <p:spPr>
          <a:xfrm>
            <a:off x="5623560" y="1611630"/>
            <a:ext cx="0" cy="937260"/>
          </a:xfrm>
          <a:prstGeom prst="line">
            <a:avLst/>
          </a:prstGeom>
          <a:noFill/>
          <a:ln w="15875">
            <a:solidFill>
              <a:schemeClr val="accent4"/>
            </a:solidFill>
            <a:prstDash val="dash"/>
          </a:ln>
        </p:spPr>
      </p:sp>
      <p:sp>
        <p:nvSpPr>
          <p:cNvPr id="32" name="Step badge 1"/>
          <p:cNvSpPr txBox="1"/>
          <p:nvPr/>
        </p:nvSpPr>
        <p:spPr>
          <a:xfrm>
            <a:off x="5394960" y="115443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33" name="Step text 1"/>
          <p:cNvSpPr txBox="1"/>
          <p:nvPr/>
        </p:nvSpPr>
        <p:spPr>
          <a:xfrm>
            <a:off x="6126480" y="72237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Usability</a:t>
            </a:r>
            <a:endParaRPr lang="en-US" sz="2200" dirty="0"/>
          </a:p>
          <a:p>
            <a:pPr indent="0" marL="0">
              <a:buNone/>
            </a:pPr>
            <a:r>
              <a:rPr lang="en-US" sz="1600" dirty="0">
                <a:solidFill>
                  <a:schemeClr val="tx1"/>
                </a:solidFill>
              </a:rPr>
              <a:t>Clean, responsive UI on desktop and mobile, with light, dark and black themes</a:t>
            </a:r>
            <a:endParaRPr lang="en-US" sz="2200" dirty="0"/>
          </a:p>
        </p:txBody>
      </p:sp>
      <p:sp>
        <p:nvSpPr>
          <p:cNvPr id="34" name="Connector 2"/>
          <p:cNvSpPr/>
          <p:nvPr/>
        </p:nvSpPr>
        <p:spPr>
          <a:xfrm>
            <a:off x="5623560" y="3006090"/>
            <a:ext cx="0" cy="937260"/>
          </a:xfrm>
          <a:prstGeom prst="line">
            <a:avLst/>
          </a:prstGeom>
          <a:noFill/>
          <a:ln w="15875">
            <a:solidFill>
              <a:schemeClr val="accent4"/>
            </a:solidFill>
            <a:prstDash val="dash"/>
          </a:ln>
        </p:spPr>
      </p:sp>
      <p:sp>
        <p:nvSpPr>
          <p:cNvPr id="35" name="Step badge 2"/>
          <p:cNvSpPr txBox="1"/>
          <p:nvPr/>
        </p:nvSpPr>
        <p:spPr>
          <a:xfrm>
            <a:off x="5394960" y="254889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6" name="Step text 2"/>
          <p:cNvSpPr txBox="1"/>
          <p:nvPr/>
        </p:nvSpPr>
        <p:spPr>
          <a:xfrm>
            <a:off x="6126480" y="211683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Performance</a:t>
            </a:r>
            <a:endParaRPr lang="en-US" sz="2200" dirty="0"/>
          </a:p>
          <a:p>
            <a:pPr indent="0" marL="0">
              <a:buNone/>
            </a:pPr>
            <a:r>
              <a:rPr lang="en-US" sz="1600" dirty="0">
                <a:solidFill>
                  <a:schemeClr val="tx1"/>
                </a:solidFill>
              </a:rPr>
              <a:t>Real-time updates with minimal latency</a:t>
            </a:r>
            <a:endParaRPr lang="en-US" sz="2200" dirty="0"/>
          </a:p>
        </p:txBody>
      </p:sp>
      <p:sp>
        <p:nvSpPr>
          <p:cNvPr id="37" name="Connector 3"/>
          <p:cNvSpPr/>
          <p:nvPr/>
        </p:nvSpPr>
        <p:spPr>
          <a:xfrm>
            <a:off x="5623560" y="4400550"/>
            <a:ext cx="0" cy="937260"/>
          </a:xfrm>
          <a:prstGeom prst="line">
            <a:avLst/>
          </a:prstGeom>
          <a:noFill/>
          <a:ln w="15875">
            <a:solidFill>
              <a:schemeClr val="accent4"/>
            </a:solidFill>
            <a:prstDash val="dash"/>
          </a:ln>
        </p:spPr>
      </p:sp>
      <p:sp>
        <p:nvSpPr>
          <p:cNvPr id="38" name="Step badge 3"/>
          <p:cNvSpPr txBox="1"/>
          <p:nvPr/>
        </p:nvSpPr>
        <p:spPr>
          <a:xfrm>
            <a:off x="5394960" y="394335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39" name="Step text 3"/>
          <p:cNvSpPr txBox="1"/>
          <p:nvPr/>
        </p:nvSpPr>
        <p:spPr>
          <a:xfrm>
            <a:off x="6126480" y="351129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Security</a:t>
            </a:r>
            <a:endParaRPr lang="en-US" sz="2200" dirty="0"/>
          </a:p>
          <a:p>
            <a:pPr indent="0" marL="0">
              <a:buNone/>
            </a:pPr>
            <a:r>
              <a:rPr lang="en-US" sz="1600" dirty="0">
                <a:solidFill>
                  <a:schemeClr val="tx1"/>
                </a:solidFill>
              </a:rPr>
              <a:t>Every sensitive action behind role-based authorization</a:t>
            </a:r>
            <a:endParaRPr lang="en-US" sz="2200" dirty="0"/>
          </a:p>
        </p:txBody>
      </p:sp>
      <p:sp>
        <p:nvSpPr>
          <p:cNvPr id="40" name="Step badge 4"/>
          <p:cNvSpPr txBox="1"/>
          <p:nvPr/>
        </p:nvSpPr>
        <p:spPr>
          <a:xfrm>
            <a:off x="5394960" y="533781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1" name="Step text 4"/>
          <p:cNvSpPr txBox="1"/>
          <p:nvPr/>
        </p:nvSpPr>
        <p:spPr>
          <a:xfrm>
            <a:off x="6126480" y="490575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Maintainability</a:t>
            </a:r>
            <a:endParaRPr lang="en-US" sz="2200" dirty="0"/>
          </a:p>
          <a:p>
            <a:pPr indent="0" marL="0">
              <a:buNone/>
            </a:pPr>
            <a:r>
              <a:rPr lang="en-US" sz="1600" dirty="0">
                <a:solidFill>
                  <a:schemeClr val="tx1"/>
                </a:solidFill>
              </a:rPr>
              <a:t>MVC separation and a normalized data model</a:t>
            </a:r>
            <a:endParaRPr lang="en-US" sz="2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055642"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General use case diagram</a:t>
            </a:r>
            <a:endParaRPr lang="en-US" sz="2600" dirty="0"/>
          </a:p>
        </p:txBody>
      </p:sp>
      <p:sp>
        <p:nvSpPr>
          <p:cNvPr id="29"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Actors and their main use cases</a:t>
            </a:r>
            <a:endParaRPr lang="en-US" sz="1500" dirty="0"/>
          </a:p>
          <a:p>
            <a:pPr marL="177800" indent="-177800">
              <a:spcAft>
                <a:spcPts val="700"/>
              </a:spcAft>
              <a:buSzPct val="100000"/>
              <a:buChar char="•"/>
            </a:pPr>
            <a:r>
              <a:rPr lang="en-US" sz="1500" dirty="0">
                <a:solidFill>
                  <a:schemeClr val="tx1"/>
                </a:solidFill>
              </a:rPr>
              <a:t>From guest to superadmin</a:t>
            </a:r>
            <a:endParaRPr lang="en-US" sz="1500" dirty="0"/>
          </a:p>
        </p:txBody>
      </p:sp>
      <p:sp>
        <p:nvSpPr>
          <p:cNvPr id="30" name="Image frame"/>
          <p:cNvSpPr/>
          <p:nvPr/>
        </p:nvSpPr>
        <p:spPr>
          <a:xfrm>
            <a:off x="4381319" y="630936"/>
            <a:ext cx="6965042" cy="5138928"/>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pic>
        <p:nvPicPr>
          <p:cNvPr id="31" name="Image General use case diagram of Synkro" descr="General use case diagram of Synkro">    </p:cNvPr>
          <p:cNvPicPr>
            <a:picLocks noChangeAspect="1"/>
          </p:cNvPicPr>
          <p:nvPr/>
        </p:nvPicPr>
        <p:blipFill>
          <a:blip r:embed="rId1"/>
          <a:stretch>
            <a:fillRect/>
          </a:stretch>
        </p:blipFill>
        <p:spPr>
          <a:xfrm>
            <a:off x="4436183" y="685800"/>
            <a:ext cx="6855314" cy="5029200"/>
          </a:xfrm>
          <a:prstGeom prst="rect">
            <a:avLst/>
          </a:prstGeom>
        </p:spPr>
      </p:pic>
      <p:sp>
        <p:nvSpPr>
          <p:cNvPr id="32" name="Caption"/>
          <p:cNvSpPr txBox="1"/>
          <p:nvPr/>
        </p:nvSpPr>
        <p:spPr>
          <a:xfrm>
            <a:off x="3977640" y="5824728"/>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General use case diagram of Synkro</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266771"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Class diagram</a:t>
            </a:r>
            <a:endParaRPr lang="en-US" sz="2600" dirty="0"/>
          </a:p>
        </p:txBody>
      </p:sp>
      <p:sp>
        <p:nvSpPr>
          <p:cNvPr id="29"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Core model: Project, Task, deliverables, checklist items, dependencies</a:t>
            </a:r>
            <a:endParaRPr lang="en-US" sz="1500" dirty="0"/>
          </a:p>
          <a:p>
            <a:pPr marL="177800" indent="-177800">
              <a:spcAft>
                <a:spcPts val="700"/>
              </a:spcAft>
              <a:buSzPct val="100000"/>
              <a:buChar char="•"/>
            </a:pPr>
            <a:r>
              <a:rPr lang="en-US" sz="1500" dirty="0">
                <a:solidFill>
                  <a:schemeClr val="tx1"/>
                </a:solidFill>
              </a:rPr>
              <a:t>Normalized, easy to maintain</a:t>
            </a:r>
            <a:endParaRPr lang="en-US" sz="1500" dirty="0"/>
          </a:p>
        </p:txBody>
      </p:sp>
      <p:sp>
        <p:nvSpPr>
          <p:cNvPr id="30" name="Image frame"/>
          <p:cNvSpPr/>
          <p:nvPr/>
        </p:nvSpPr>
        <p:spPr>
          <a:xfrm>
            <a:off x="3922776" y="1312084"/>
            <a:ext cx="7882128" cy="3776633"/>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pic>
        <p:nvPicPr>
          <p:cNvPr id="31" name="Image Class diagram, Sprint 2 (projects and tasks)" descr="Class diagram, Sprint 2 (projects and tasks)">    </p:cNvPr>
          <p:cNvPicPr>
            <a:picLocks noChangeAspect="1"/>
          </p:cNvPicPr>
          <p:nvPr/>
        </p:nvPicPr>
        <p:blipFill>
          <a:blip r:embed="rId1"/>
          <a:stretch>
            <a:fillRect/>
          </a:stretch>
        </p:blipFill>
        <p:spPr>
          <a:xfrm>
            <a:off x="3977640" y="1366948"/>
            <a:ext cx="7772400" cy="3666905"/>
          </a:xfrm>
          <a:prstGeom prst="rect">
            <a:avLst/>
          </a:prstGeom>
        </p:spPr>
      </p:pic>
      <p:sp>
        <p:nvSpPr>
          <p:cNvPr id="32" name="Caption"/>
          <p:cNvSpPr txBox="1"/>
          <p:nvPr/>
        </p:nvSpPr>
        <p:spPr>
          <a:xfrm>
            <a:off x="3977640" y="5143580"/>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Class diagram, Sprint 2 (projects and tasks)</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4"/>
          </a:solidFill>
          <a:ln w="12700">
            <a:solidFill>
              <a:schemeClr val="accent4"/>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Realisation</a:t>
            </a:r>
            <a:endParaRPr lang="en-US" sz="1000" dirty="0"/>
          </a:p>
        </p:txBody>
      </p:sp>
      <p:sp>
        <p:nvSpPr>
          <p:cNvPr id="25"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6"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7"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8"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Sequence diagram “Log in”</a:t>
            </a:r>
            <a:endParaRPr lang="en-US" sz="2600" dirty="0"/>
          </a:p>
        </p:txBody>
      </p:sp>
      <p:sp>
        <p:nvSpPr>
          <p:cNvPr id="29"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500" dirty="0">
                <a:solidFill>
                  <a:schemeClr val="tx1"/>
                </a:solidFill>
              </a:rPr>
              <a:t>Credentials checked step by step</a:t>
            </a:r>
            <a:endParaRPr lang="en-US" sz="1500" dirty="0"/>
          </a:p>
          <a:p>
            <a:pPr marL="177800" indent="-177800">
              <a:spcAft>
                <a:spcPts val="700"/>
              </a:spcAft>
              <a:buSzPct val="100000"/>
              <a:buChar char="•"/>
            </a:pPr>
            <a:r>
              <a:rPr lang="en-US" sz="1500" dirty="0">
                <a:solidFill>
                  <a:schemeClr val="tx1"/>
                </a:solidFill>
              </a:rPr>
              <a:t>Redirects depend on account state</a:t>
            </a:r>
            <a:endParaRPr lang="en-US" sz="1500" dirty="0"/>
          </a:p>
        </p:txBody>
      </p:sp>
      <p:sp>
        <p:nvSpPr>
          <p:cNvPr id="30" name="Image frame"/>
          <p:cNvSpPr/>
          <p:nvPr/>
        </p:nvSpPr>
        <p:spPr>
          <a:xfrm>
            <a:off x="4667108" y="630936"/>
            <a:ext cx="6393465" cy="5138928"/>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pic>
        <p:nvPicPr>
          <p:cNvPr id="31" name="Image Sequence diagram, “Log in”" descr="Sequence diagram, “Log in”">    </p:cNvPr>
          <p:cNvPicPr>
            <a:picLocks noChangeAspect="1"/>
          </p:cNvPicPr>
          <p:nvPr/>
        </p:nvPicPr>
        <p:blipFill>
          <a:blip r:embed="rId1"/>
          <a:stretch>
            <a:fillRect/>
          </a:stretch>
        </p:blipFill>
        <p:spPr>
          <a:xfrm>
            <a:off x="4721972" y="685800"/>
            <a:ext cx="6283737" cy="5029200"/>
          </a:xfrm>
          <a:prstGeom prst="rect">
            <a:avLst/>
          </a:prstGeom>
        </p:spPr>
      </p:pic>
      <p:sp>
        <p:nvSpPr>
          <p:cNvPr id="32" name="Caption"/>
          <p:cNvSpPr txBox="1"/>
          <p:nvPr/>
        </p:nvSpPr>
        <p:spPr>
          <a:xfrm>
            <a:off x="3977640" y="5824728"/>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Sequence diagram, “Log in”</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84737"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Technical architecture</a:t>
            </a:r>
            <a:endParaRPr lang="en-US" sz="2600" dirty="0"/>
          </a:p>
        </p:txBody>
      </p:sp>
      <p:sp>
        <p:nvSpPr>
          <p:cNvPr id="30"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Requests flow top to bottom</a:t>
            </a:r>
            <a:endParaRPr lang="en-US" sz="1400" dirty="0"/>
          </a:p>
          <a:p>
            <a:pPr marL="177800" indent="-177800">
              <a:spcAft>
                <a:spcPts val="700"/>
              </a:spcAft>
              <a:buSzPct val="100000"/>
              <a:buChar char="•"/>
            </a:pPr>
            <a:r>
              <a:rPr lang="en-US" sz="1400" dirty="0">
                <a:solidFill>
                  <a:schemeClr val="tx1"/>
                </a:solidFill>
              </a:rPr>
              <a:t>Events fan out to a live WebSocket push or a queued e-mail, depending on notification preferences</a:t>
            </a:r>
            <a:endParaRPr lang="en-US" sz="1400" dirty="0"/>
          </a:p>
        </p:txBody>
      </p:sp>
      <p:sp>
        <p:nvSpPr>
          <p:cNvPr id="31" name="Image frame"/>
          <p:cNvSpPr/>
          <p:nvPr/>
        </p:nvSpPr>
        <p:spPr>
          <a:xfrm>
            <a:off x="3922776" y="1073533"/>
            <a:ext cx="7882128" cy="4253735"/>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pic>
        <p:nvPicPr>
          <p:cNvPr id="32" name="Image Technical architecture of the Synkro platform" descr="Technical architecture of the Synkro platform">    </p:cNvPr>
          <p:cNvPicPr>
            <a:picLocks noChangeAspect="1"/>
          </p:cNvPicPr>
          <p:nvPr/>
        </p:nvPicPr>
        <p:blipFill>
          <a:blip r:embed="rId1"/>
          <a:stretch>
            <a:fillRect/>
          </a:stretch>
        </p:blipFill>
        <p:spPr>
          <a:xfrm>
            <a:off x="3977640" y="1128397"/>
            <a:ext cx="7772400" cy="4144007"/>
          </a:xfrm>
          <a:prstGeom prst="rect">
            <a:avLst/>
          </a:prstGeom>
        </p:spPr>
      </p:pic>
      <p:sp>
        <p:nvSpPr>
          <p:cNvPr id="33" name="Caption"/>
          <p:cNvSpPr txBox="1"/>
          <p:nvPr/>
        </p:nvSpPr>
        <p:spPr>
          <a:xfrm>
            <a:off x="3977640" y="5382131"/>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Technical architecture of the Synkro platform</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369475"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07  ·  REALISATION</a:t>
            </a:r>
            <a:endParaRPr lang="en-US" sz="1200" dirty="0"/>
          </a:p>
        </p:txBody>
      </p:sp>
      <p:sp>
        <p:nvSpPr>
          <p:cNvPr id="30"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Realisation</a:t>
            </a:r>
            <a:endParaRPr lang="en-US" sz="3400" dirty="0"/>
          </a:p>
        </p:txBody>
      </p:sp>
      <p:sp>
        <p:nvSpPr>
          <p:cNvPr id="31" name="Subtitle"/>
          <p:cNvSpPr txBox="1"/>
          <p:nvPr/>
        </p:nvSpPr>
        <p:spPr>
          <a:xfrm>
            <a:off x="502920" y="3931920"/>
            <a:ext cx="3383280" cy="914400"/>
          </a:xfrm>
          <a:prstGeom prst="rect">
            <a:avLst/>
          </a:prstGeom>
          <a:noFill/>
          <a:ln/>
        </p:spPr>
        <p:txBody>
          <a:bodyPr wrap="square" lIns="0" tIns="0" rIns="0" bIns="0" rtlCol="0" anchor="t"/>
          <a:lstStyle/>
          <a:p>
            <a:pPr algn="l" indent="0" marL="0">
              <a:buNone/>
            </a:pPr>
            <a:r>
              <a:rPr lang="en-US" sz="1800" dirty="0">
                <a:solidFill>
                  <a:schemeClr val="accent4"/>
                </a:solidFill>
              </a:rPr>
              <a:t>Technology choices</a:t>
            </a:r>
            <a:endParaRPr lang="en-US" sz="1800" dirty="0"/>
          </a:p>
        </p:txBody>
      </p:sp>
      <p:sp>
        <p:nvSpPr>
          <p:cNvPr id="32" name="Tech card Laravel 13"/>
          <p:cNvSpPr/>
          <p:nvPr/>
        </p:nvSpPr>
        <p:spPr>
          <a:xfrm>
            <a:off x="5394960" y="1005840"/>
            <a:ext cx="2057400" cy="2240280"/>
          </a:xfrm>
          <a:prstGeom prst="rect">
            <a:avLst/>
          </a:prstGeom>
          <a:solidFill>
            <a:schemeClr val="bg2"/>
          </a:solidFill>
          <a:ln w="12700">
            <a:solidFill>
              <a:schemeClr val="bg2"/>
            </a:solidFill>
            <a:prstDash val="solid"/>
          </a:ln>
        </p:spPr>
      </p:sp>
      <p:pic>
        <p:nvPicPr>
          <p:cNvPr id="33" name="Image 0" descr="Laravel 13 logo">    </p:cNvPr>
          <p:cNvPicPr>
            <a:picLocks noChangeAspect="1"/>
          </p:cNvPicPr>
          <p:nvPr/>
        </p:nvPicPr>
        <p:blipFill>
          <a:blip r:embed="rId1"/>
          <a:stretch>
            <a:fillRect/>
          </a:stretch>
        </p:blipFill>
        <p:spPr>
          <a:xfrm>
            <a:off x="5989320" y="1188720"/>
            <a:ext cx="868680" cy="868680"/>
          </a:xfrm>
          <a:prstGeom prst="rect">
            <a:avLst/>
          </a:prstGeom>
        </p:spPr>
      </p:pic>
      <p:sp>
        <p:nvSpPr>
          <p:cNvPr id="34" name="Tech text Laravel 13"/>
          <p:cNvSpPr txBox="1"/>
          <p:nvPr/>
        </p:nvSpPr>
        <p:spPr>
          <a:xfrm>
            <a:off x="5504688" y="214884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Laravel 13</a:t>
            </a:r>
            <a:endParaRPr lang="en-US" sz="1500" dirty="0"/>
          </a:p>
          <a:p>
            <a:pPr algn="ctr" indent="0" marL="0">
              <a:buNone/>
            </a:pPr>
            <a:r>
              <a:rPr lang="en-US" sz="1200" dirty="0">
                <a:solidFill>
                  <a:schemeClr val="tx1"/>
                </a:solidFill>
              </a:rPr>
              <a:t>PHP framework: routing, policies, Eloquent ORM</a:t>
            </a:r>
            <a:endParaRPr lang="en-US" sz="1500" dirty="0"/>
          </a:p>
        </p:txBody>
      </p:sp>
      <p:sp>
        <p:nvSpPr>
          <p:cNvPr id="35" name="Tech card Inertia.js"/>
          <p:cNvSpPr/>
          <p:nvPr/>
        </p:nvSpPr>
        <p:spPr>
          <a:xfrm>
            <a:off x="7589520" y="1005840"/>
            <a:ext cx="2057400" cy="2240280"/>
          </a:xfrm>
          <a:prstGeom prst="rect">
            <a:avLst/>
          </a:prstGeom>
          <a:solidFill>
            <a:schemeClr val="bg2"/>
          </a:solidFill>
          <a:ln w="12700">
            <a:solidFill>
              <a:schemeClr val="bg2"/>
            </a:solidFill>
            <a:prstDash val="solid"/>
          </a:ln>
        </p:spPr>
      </p:sp>
      <p:pic>
        <p:nvPicPr>
          <p:cNvPr id="36" name="Image 1" descr="Inertia.js logo">    </p:cNvPr>
          <p:cNvPicPr>
            <a:picLocks noChangeAspect="1"/>
          </p:cNvPicPr>
          <p:nvPr/>
        </p:nvPicPr>
        <p:blipFill>
          <a:blip r:embed="rId2"/>
          <a:stretch>
            <a:fillRect/>
          </a:stretch>
        </p:blipFill>
        <p:spPr>
          <a:xfrm>
            <a:off x="8183880" y="1188720"/>
            <a:ext cx="868680" cy="868680"/>
          </a:xfrm>
          <a:prstGeom prst="rect">
            <a:avLst/>
          </a:prstGeom>
        </p:spPr>
      </p:pic>
      <p:sp>
        <p:nvSpPr>
          <p:cNvPr id="37" name="Tech text Inertia.js"/>
          <p:cNvSpPr txBox="1"/>
          <p:nvPr/>
        </p:nvSpPr>
        <p:spPr>
          <a:xfrm>
            <a:off x="7699248" y="214884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Inertia.js</a:t>
            </a:r>
            <a:endParaRPr lang="en-US" sz="1500" dirty="0"/>
          </a:p>
          <a:p>
            <a:pPr algn="ctr" indent="0" marL="0">
              <a:buNone/>
            </a:pPr>
            <a:r>
              <a:rPr lang="en-US" sz="1200" dirty="0">
                <a:solidFill>
                  <a:schemeClr val="tx1"/>
                </a:solidFill>
              </a:rPr>
              <a:t>Links Laravel to React, no separate REST API</a:t>
            </a:r>
            <a:endParaRPr lang="en-US" sz="1500" dirty="0"/>
          </a:p>
        </p:txBody>
      </p:sp>
      <p:sp>
        <p:nvSpPr>
          <p:cNvPr id="38" name="Tech card React"/>
          <p:cNvSpPr/>
          <p:nvPr/>
        </p:nvSpPr>
        <p:spPr>
          <a:xfrm>
            <a:off x="9784080" y="1005840"/>
            <a:ext cx="2057400" cy="2240280"/>
          </a:xfrm>
          <a:prstGeom prst="rect">
            <a:avLst/>
          </a:prstGeom>
          <a:solidFill>
            <a:schemeClr val="bg2"/>
          </a:solidFill>
          <a:ln w="12700">
            <a:solidFill>
              <a:schemeClr val="bg2"/>
            </a:solidFill>
            <a:prstDash val="solid"/>
          </a:ln>
        </p:spPr>
      </p:sp>
      <p:pic>
        <p:nvPicPr>
          <p:cNvPr id="39" name="Image 2" descr="React logo">    </p:cNvPr>
          <p:cNvPicPr>
            <a:picLocks noChangeAspect="1"/>
          </p:cNvPicPr>
          <p:nvPr/>
        </p:nvPicPr>
        <p:blipFill>
          <a:blip r:embed="rId3"/>
          <a:stretch>
            <a:fillRect/>
          </a:stretch>
        </p:blipFill>
        <p:spPr>
          <a:xfrm>
            <a:off x="10378440" y="1188720"/>
            <a:ext cx="868680" cy="868680"/>
          </a:xfrm>
          <a:prstGeom prst="rect">
            <a:avLst/>
          </a:prstGeom>
        </p:spPr>
      </p:pic>
      <p:sp>
        <p:nvSpPr>
          <p:cNvPr id="40" name="Tech text React"/>
          <p:cNvSpPr txBox="1"/>
          <p:nvPr/>
        </p:nvSpPr>
        <p:spPr>
          <a:xfrm>
            <a:off x="9893808" y="214884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React</a:t>
            </a:r>
            <a:endParaRPr lang="en-US" sz="1500" dirty="0"/>
          </a:p>
          <a:p>
            <a:pPr algn="ctr" indent="0" marL="0">
              <a:buNone/>
            </a:pPr>
            <a:r>
              <a:rPr lang="en-US" sz="1200" dirty="0">
                <a:solidFill>
                  <a:schemeClr val="tx1"/>
                </a:solidFill>
              </a:rPr>
              <a:t>Every page and interactive element of the UI</a:t>
            </a:r>
            <a:endParaRPr lang="en-US" sz="1500" dirty="0"/>
          </a:p>
        </p:txBody>
      </p:sp>
      <p:sp>
        <p:nvSpPr>
          <p:cNvPr id="41" name="Tech card Tailwind CSS"/>
          <p:cNvSpPr/>
          <p:nvPr/>
        </p:nvSpPr>
        <p:spPr>
          <a:xfrm>
            <a:off x="5394960" y="3474720"/>
            <a:ext cx="2057400" cy="2240280"/>
          </a:xfrm>
          <a:prstGeom prst="rect">
            <a:avLst/>
          </a:prstGeom>
          <a:solidFill>
            <a:schemeClr val="bg2"/>
          </a:solidFill>
          <a:ln w="12700">
            <a:solidFill>
              <a:schemeClr val="bg2"/>
            </a:solidFill>
            <a:prstDash val="solid"/>
          </a:ln>
        </p:spPr>
      </p:sp>
      <p:pic>
        <p:nvPicPr>
          <p:cNvPr id="42" name="Image 3" descr="Tailwind CSS logo">    </p:cNvPr>
          <p:cNvPicPr>
            <a:picLocks noChangeAspect="1"/>
          </p:cNvPicPr>
          <p:nvPr/>
        </p:nvPicPr>
        <p:blipFill>
          <a:blip r:embed="rId4"/>
          <a:stretch>
            <a:fillRect/>
          </a:stretch>
        </p:blipFill>
        <p:spPr>
          <a:xfrm>
            <a:off x="5989320" y="3657600"/>
            <a:ext cx="868680" cy="868680"/>
          </a:xfrm>
          <a:prstGeom prst="rect">
            <a:avLst/>
          </a:prstGeom>
        </p:spPr>
      </p:pic>
      <p:sp>
        <p:nvSpPr>
          <p:cNvPr id="43" name="Tech text Tailwind CSS"/>
          <p:cNvSpPr txBox="1"/>
          <p:nvPr/>
        </p:nvSpPr>
        <p:spPr>
          <a:xfrm>
            <a:off x="5504688" y="461772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Tailwind CSS</a:t>
            </a:r>
            <a:endParaRPr lang="en-US" sz="1500" dirty="0"/>
          </a:p>
          <a:p>
            <a:pPr algn="ctr" indent="0" marL="0">
              <a:buNone/>
            </a:pPr>
            <a:r>
              <a:rPr lang="en-US" sz="1200" dirty="0">
                <a:solidFill>
                  <a:schemeClr val="tx1"/>
                </a:solidFill>
              </a:rPr>
              <a:t>Utility-first styling and the three themes</a:t>
            </a:r>
            <a:endParaRPr lang="en-US" sz="1500" dirty="0"/>
          </a:p>
        </p:txBody>
      </p:sp>
      <p:sp>
        <p:nvSpPr>
          <p:cNvPr id="44" name="Tech card MySQL"/>
          <p:cNvSpPr/>
          <p:nvPr/>
        </p:nvSpPr>
        <p:spPr>
          <a:xfrm>
            <a:off x="7589520" y="3474720"/>
            <a:ext cx="2057400" cy="2240280"/>
          </a:xfrm>
          <a:prstGeom prst="rect">
            <a:avLst/>
          </a:prstGeom>
          <a:solidFill>
            <a:schemeClr val="bg2"/>
          </a:solidFill>
          <a:ln w="12700">
            <a:solidFill>
              <a:schemeClr val="bg2"/>
            </a:solidFill>
            <a:prstDash val="solid"/>
          </a:ln>
        </p:spPr>
      </p:sp>
      <p:pic>
        <p:nvPicPr>
          <p:cNvPr id="45" name="Image 4" descr="MySQL logo">    </p:cNvPr>
          <p:cNvPicPr>
            <a:picLocks noChangeAspect="1"/>
          </p:cNvPicPr>
          <p:nvPr/>
        </p:nvPicPr>
        <p:blipFill>
          <a:blip r:embed="rId5"/>
          <a:stretch>
            <a:fillRect/>
          </a:stretch>
        </p:blipFill>
        <p:spPr>
          <a:xfrm>
            <a:off x="8183880" y="3657600"/>
            <a:ext cx="868680" cy="868680"/>
          </a:xfrm>
          <a:prstGeom prst="rect">
            <a:avLst/>
          </a:prstGeom>
        </p:spPr>
      </p:pic>
      <p:sp>
        <p:nvSpPr>
          <p:cNvPr id="46" name="Tech text MySQL"/>
          <p:cNvSpPr txBox="1"/>
          <p:nvPr/>
        </p:nvSpPr>
        <p:spPr>
          <a:xfrm>
            <a:off x="7699248" y="461772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MySQL</a:t>
            </a:r>
            <a:endParaRPr lang="en-US" sz="1500" dirty="0"/>
          </a:p>
          <a:p>
            <a:pPr algn="ctr" indent="0" marL="0">
              <a:buNone/>
            </a:pPr>
            <a:r>
              <a:rPr lang="en-US" sz="1200" dirty="0">
                <a:solidFill>
                  <a:schemeClr val="tx1"/>
                </a:solidFill>
              </a:rPr>
              <a:t>Users, projects, tasks, notifications, logs</a:t>
            </a:r>
            <a:endParaRPr lang="en-US" sz="1500" dirty="0"/>
          </a:p>
        </p:txBody>
      </p:sp>
      <p:sp>
        <p:nvSpPr>
          <p:cNvPr id="47" name="Tech card Laravel Reverb"/>
          <p:cNvSpPr/>
          <p:nvPr/>
        </p:nvSpPr>
        <p:spPr>
          <a:xfrm>
            <a:off x="9784080" y="3474720"/>
            <a:ext cx="2057400" cy="2240280"/>
          </a:xfrm>
          <a:prstGeom prst="rect">
            <a:avLst/>
          </a:prstGeom>
          <a:solidFill>
            <a:schemeClr val="bg2"/>
          </a:solidFill>
          <a:ln w="12700">
            <a:solidFill>
              <a:schemeClr val="bg2"/>
            </a:solidFill>
            <a:prstDash val="solid"/>
          </a:ln>
        </p:spPr>
      </p:sp>
      <p:sp>
        <p:nvSpPr>
          <p:cNvPr id="48" name="WebSocket icon"/>
          <p:cNvSpPr txBox="1"/>
          <p:nvPr/>
        </p:nvSpPr>
        <p:spPr>
          <a:xfrm>
            <a:off x="10378440" y="3657600"/>
            <a:ext cx="868680" cy="8686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400" b="1" dirty="0">
                <a:solidFill>
                  <a:schemeClr val="bg1"/>
                </a:solidFill>
              </a:rPr>
              <a:t>WS</a:t>
            </a:r>
            <a:endParaRPr lang="en-US" sz="2400" dirty="0"/>
          </a:p>
        </p:txBody>
      </p:sp>
      <p:sp>
        <p:nvSpPr>
          <p:cNvPr id="49" name="Tech text Laravel Reverb"/>
          <p:cNvSpPr txBox="1"/>
          <p:nvPr/>
        </p:nvSpPr>
        <p:spPr>
          <a:xfrm>
            <a:off x="9893808" y="4617720"/>
            <a:ext cx="1837944" cy="1234440"/>
          </a:xfrm>
          <a:prstGeom prst="rect">
            <a:avLst/>
          </a:prstGeom>
          <a:noFill/>
          <a:ln/>
        </p:spPr>
        <p:txBody>
          <a:bodyPr wrap="square" lIns="0" tIns="0" rIns="0" bIns="0" rtlCol="0" anchor="t"/>
          <a:lstStyle/>
          <a:p>
            <a:pPr algn="ctr" indent="0" marL="0">
              <a:buNone/>
            </a:pPr>
            <a:r>
              <a:rPr lang="en-US" sz="1500" b="1" dirty="0">
                <a:solidFill>
                  <a:schemeClr val="accent1"/>
                </a:solidFill>
              </a:rPr>
              <a:t>Laravel Reverb</a:t>
            </a:r>
            <a:endParaRPr lang="en-US" sz="1500" dirty="0"/>
          </a:p>
          <a:p>
            <a:pPr algn="ctr" indent="0" marL="0">
              <a:buNone/>
            </a:pPr>
            <a:r>
              <a:rPr lang="en-US" sz="1200" dirty="0">
                <a:solidFill>
                  <a:schemeClr val="tx1"/>
                </a:solidFill>
              </a:rPr>
              <a:t>WebSocket server for real-time events</a:t>
            </a:r>
            <a:endParaRPr lang="en-US" sz="1500" dirty="0"/>
          </a:p>
        </p:txBody>
      </p:sp>
      <p:sp>
        <p:nvSpPr>
          <p:cNvPr id="50" name="Text 43"/>
          <p:cNvSpPr txBox="1"/>
          <p:nvPr/>
        </p:nvSpPr>
        <p:spPr>
          <a:xfrm>
            <a:off x="5394960" y="5852160"/>
            <a:ext cx="5760720" cy="320040"/>
          </a:xfrm>
          <a:prstGeom prst="rect">
            <a:avLst/>
          </a:prstGeom>
          <a:noFill/>
          <a:ln/>
        </p:spPr>
        <p:txBody>
          <a:bodyPr wrap="square" lIns="0" tIns="0" rIns="0" bIns="0" rtlCol="0" anchor="ctr"/>
          <a:lstStyle/>
          <a:p>
            <a:pPr indent="0" marL="0">
              <a:buNone/>
            </a:pPr>
            <a:r>
              <a:rPr lang="en-US" sz="1300" i="1" dirty="0">
                <a:solidFill>
                  <a:schemeClr val="accent3"/>
                </a:solidFill>
              </a:rPr>
              <a:t>Also: Recharts for charts · Git &amp; GitHub for version control</a:t>
            </a:r>
            <a:endParaRPr lang="en-US" sz="13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554212"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Public landing page</a:t>
            </a:r>
            <a:endParaRPr lang="en-US" sz="2600" dirty="0"/>
          </a:p>
        </p:txBody>
      </p:sp>
      <p:sp>
        <p:nvSpPr>
          <p:cNvPr id="30"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chemeClr val="tx1"/>
                </a:solidFill>
              </a:rPr>
              <a:t>The platform's pitch and live statistics</a:t>
            </a:r>
            <a:endParaRPr lang="en-US" sz="1600" dirty="0"/>
          </a:p>
          <a:p>
            <a:pPr marL="177800" indent="-177800">
              <a:spcAft>
                <a:spcPts val="700"/>
              </a:spcAft>
              <a:buSzPct val="100000"/>
              <a:buChar char="•"/>
            </a:pPr>
            <a:r>
              <a:rPr lang="en-US" sz="1600" dirty="0">
                <a:solidFill>
                  <a:schemeClr val="tx1"/>
                </a:solidFill>
              </a:rPr>
              <a:t>Register and log in entry points</a:t>
            </a:r>
            <a:endParaRPr lang="en-US" sz="1600" dirty="0"/>
          </a:p>
          <a:p>
            <a:pPr marL="177800" indent="-177800">
              <a:spcAft>
                <a:spcPts val="700"/>
              </a:spcAft>
              <a:buSzPct val="100000"/>
              <a:buChar char="•"/>
            </a:pPr>
            <a:r>
              <a:rPr lang="en-US" sz="1600" dirty="0">
                <a:solidFill>
                  <a:schemeClr val="tx1"/>
                </a:solidFill>
              </a:rPr>
              <a:t>Terms of Use and Privacy Policy</a:t>
            </a:r>
            <a:endParaRPr lang="en-US" sz="1600" dirty="0"/>
          </a:p>
        </p:txBody>
      </p:sp>
      <p:sp>
        <p:nvSpPr>
          <p:cNvPr id="31" name="Image frame"/>
          <p:cNvSpPr/>
          <p:nvPr/>
        </p:nvSpPr>
        <p:spPr>
          <a:xfrm>
            <a:off x="3922776" y="1346868"/>
            <a:ext cx="7882128" cy="4072824"/>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3922776" y="1054260"/>
            <a:ext cx="7882128" cy="292608"/>
          </a:xfrm>
          <a:prstGeom prst="rect">
            <a:avLst/>
          </a:prstGeom>
          <a:solidFill>
            <a:schemeClr val="accent3"/>
          </a:solidFill>
          <a:ln w="12700">
            <a:solidFill>
              <a:schemeClr val="accent3"/>
            </a:solidFill>
            <a:prstDash val="solid"/>
          </a:ln>
        </p:spPr>
      </p:sp>
      <p:sp>
        <p:nvSpPr>
          <p:cNvPr id="33" name="Window dot 1"/>
          <p:cNvSpPr/>
          <p:nvPr/>
        </p:nvSpPr>
        <p:spPr>
          <a:xfrm>
            <a:off x="4050792" y="1145700"/>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4233672" y="1145700"/>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4416552" y="1145700"/>
            <a:ext cx="109728" cy="109728"/>
          </a:xfrm>
          <a:prstGeom prst="ellipse">
            <a:avLst/>
          </a:prstGeom>
          <a:solidFill>
            <a:schemeClr val="accent4"/>
          </a:solidFill>
          <a:ln w="12700">
            <a:solidFill>
              <a:schemeClr val="accent3"/>
            </a:solidFill>
            <a:prstDash val="solid"/>
          </a:ln>
        </p:spPr>
      </p:sp>
      <p:pic>
        <p:nvPicPr>
          <p:cNvPr id="36" name="Image Public landing page, light theme" descr="Public landing page, light theme">    </p:cNvPr>
          <p:cNvPicPr>
            <a:picLocks noChangeAspect="1"/>
          </p:cNvPicPr>
          <p:nvPr/>
        </p:nvPicPr>
        <p:blipFill>
          <a:blip r:embed="rId1"/>
          <a:stretch>
            <a:fillRect/>
          </a:stretch>
        </p:blipFill>
        <p:spPr>
          <a:xfrm>
            <a:off x="3977640" y="1401732"/>
            <a:ext cx="7772400" cy="3963096"/>
          </a:xfrm>
          <a:prstGeom prst="rect">
            <a:avLst/>
          </a:prstGeom>
        </p:spPr>
      </p:pic>
      <p:sp>
        <p:nvSpPr>
          <p:cNvPr id="37" name="Caption"/>
          <p:cNvSpPr txBox="1"/>
          <p:nvPr/>
        </p:nvSpPr>
        <p:spPr>
          <a:xfrm>
            <a:off x="3977640" y="5474556"/>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Public landing page, light theme</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738950"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Sprint 1: Authentication</a:t>
            </a:r>
            <a:endParaRPr lang="en-US" sz="2600" dirty="0"/>
          </a:p>
        </p:txBody>
      </p:sp>
      <p:sp>
        <p:nvSpPr>
          <p:cNvPr id="30" name="Left bullets"/>
          <p:cNvSpPr txBox="1"/>
          <p:nvPr/>
        </p:nvSpPr>
        <p:spPr>
          <a:xfrm>
            <a:off x="457200" y="384048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Registration with e-mail verification, login, password reset</a:t>
            </a:r>
            <a:endParaRPr lang="en-US" sz="1300" dirty="0"/>
          </a:p>
          <a:p>
            <a:pPr marL="177800" indent="-177800">
              <a:spcAft>
                <a:spcPts val="700"/>
              </a:spcAft>
              <a:buSzPct val="100000"/>
              <a:buChar char="•"/>
            </a:pPr>
            <a:r>
              <a:rPr lang="en-US" sz="1300" dirty="0">
                <a:solidFill>
                  <a:schemeClr val="tx1"/>
                </a:solidFill>
              </a:rPr>
              <a:t>Light, dark and black themes</a:t>
            </a:r>
            <a:endParaRPr lang="en-US" sz="1300" dirty="0"/>
          </a:p>
          <a:p>
            <a:pPr marL="177800" indent="-177800">
              <a:spcAft>
                <a:spcPts val="700"/>
              </a:spcAft>
              <a:buSzPct val="100000"/>
              <a:buChar char="•"/>
            </a:pPr>
            <a:r>
              <a:rPr lang="en-US" sz="1300" dirty="0">
                <a:solidFill>
                  <a:schemeClr val="tx1"/>
                </a:solidFill>
              </a:rPr>
              <a:t>Active sessions list</a:t>
            </a:r>
            <a:endParaRPr lang="en-US" sz="1300" dirty="0"/>
          </a:p>
          <a:p>
            <a:pPr marL="177800" indent="-177800">
              <a:spcAft>
                <a:spcPts val="700"/>
              </a:spcAft>
              <a:buSzPct val="100000"/>
              <a:buChar char="•"/>
            </a:pPr>
            <a:r>
              <a:rPr lang="en-US" sz="1300" dirty="0">
                <a:solidFill>
                  <a:schemeClr val="tx1"/>
                </a:solidFill>
              </a:rPr>
              <a:t>Account deactivation and restore</a:t>
            </a:r>
            <a:endParaRPr lang="en-US" sz="1300" dirty="0"/>
          </a:p>
        </p:txBody>
      </p:sp>
      <p:sp>
        <p:nvSpPr>
          <p:cNvPr id="31" name="Image frame"/>
          <p:cNvSpPr/>
          <p:nvPr/>
        </p:nvSpPr>
        <p:spPr>
          <a:xfrm>
            <a:off x="3922776" y="1348692"/>
            <a:ext cx="7882128" cy="4069176"/>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3922776" y="1056084"/>
            <a:ext cx="7882128" cy="292608"/>
          </a:xfrm>
          <a:prstGeom prst="rect">
            <a:avLst/>
          </a:prstGeom>
          <a:solidFill>
            <a:schemeClr val="accent3"/>
          </a:solidFill>
          <a:ln w="12700">
            <a:solidFill>
              <a:schemeClr val="accent3"/>
            </a:solidFill>
            <a:prstDash val="solid"/>
          </a:ln>
        </p:spPr>
      </p:sp>
      <p:sp>
        <p:nvSpPr>
          <p:cNvPr id="33" name="Window dot 1"/>
          <p:cNvSpPr/>
          <p:nvPr/>
        </p:nvSpPr>
        <p:spPr>
          <a:xfrm>
            <a:off x="4050792" y="1147524"/>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4233672" y="1147524"/>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4416552" y="1147524"/>
            <a:ext cx="109728" cy="109728"/>
          </a:xfrm>
          <a:prstGeom prst="ellipse">
            <a:avLst/>
          </a:prstGeom>
          <a:solidFill>
            <a:schemeClr val="accent4"/>
          </a:solidFill>
          <a:ln w="12700">
            <a:solidFill>
              <a:schemeClr val="accent3"/>
            </a:solidFill>
            <a:prstDash val="solid"/>
          </a:ln>
        </p:spPr>
      </p:sp>
      <p:pic>
        <p:nvPicPr>
          <p:cNvPr id="36" name="Image Login page" descr="Login page">    </p:cNvPr>
          <p:cNvPicPr>
            <a:picLocks noChangeAspect="1"/>
          </p:cNvPicPr>
          <p:nvPr/>
        </p:nvPicPr>
        <p:blipFill>
          <a:blip r:embed="rId1"/>
          <a:stretch>
            <a:fillRect/>
          </a:stretch>
        </p:blipFill>
        <p:spPr>
          <a:xfrm>
            <a:off x="3977640" y="1403556"/>
            <a:ext cx="7772400" cy="3959448"/>
          </a:xfrm>
          <a:prstGeom prst="rect">
            <a:avLst/>
          </a:prstGeom>
        </p:spPr>
      </p:pic>
      <p:sp>
        <p:nvSpPr>
          <p:cNvPr id="37" name="Caption"/>
          <p:cNvSpPr txBox="1"/>
          <p:nvPr/>
        </p:nvSpPr>
        <p:spPr>
          <a:xfrm>
            <a:off x="3977640" y="5472732"/>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Login page</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923687"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Sprint 2: Projects &amp; tasks</a:t>
            </a:r>
            <a:endParaRPr lang="en-US" sz="2600" dirty="0"/>
          </a:p>
        </p:txBody>
      </p:sp>
      <p:sp>
        <p:nvSpPr>
          <p:cNvPr id="30" name="Left bullets"/>
          <p:cNvSpPr txBox="1"/>
          <p:nvPr/>
        </p:nvSpPr>
        <p:spPr>
          <a:xfrm>
            <a:off x="457200" y="384048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Invitations and role assignment</a:t>
            </a:r>
            <a:endParaRPr lang="en-US" sz="1300" dirty="0"/>
          </a:p>
          <a:p>
            <a:pPr marL="177800" indent="-177800">
              <a:spcAft>
                <a:spcPts val="700"/>
              </a:spcAft>
              <a:buSzPct val="100000"/>
              <a:buChar char="•"/>
            </a:pPr>
            <a:r>
              <a:rPr lang="en-US" sz="1300" dirty="0">
                <a:solidFill>
                  <a:schemeClr val="tx1"/>
                </a:solidFill>
              </a:rPr>
              <a:t>To Do → In Progress → Submitted → In Review → Done</a:t>
            </a:r>
            <a:endParaRPr lang="en-US" sz="1300" dirty="0"/>
          </a:p>
          <a:p>
            <a:pPr marL="177800" indent="-177800">
              <a:spcAft>
                <a:spcPts val="700"/>
              </a:spcAft>
              <a:buSzPct val="100000"/>
              <a:buChar char="•"/>
            </a:pPr>
            <a:r>
              <a:rPr lang="en-US" sz="1300" dirty="0">
                <a:solidFill>
                  <a:schemeClr val="tx1"/>
                </a:solidFill>
              </a:rPr>
              <a:t>Checklists and deliverables</a:t>
            </a:r>
            <a:endParaRPr lang="en-US" sz="1300" dirty="0"/>
          </a:p>
          <a:p>
            <a:pPr marL="177800" indent="-177800">
              <a:spcAft>
                <a:spcPts val="700"/>
              </a:spcAft>
              <a:buSzPct val="100000"/>
              <a:buChar char="•"/>
            </a:pPr>
            <a:r>
              <a:rPr lang="en-US" sz="1300" dirty="0">
                <a:solidFill>
                  <a:schemeClr val="tx1"/>
                </a:solidFill>
              </a:rPr>
              <a:t>Live Kanban board, Testing Queue, My Tasks</a:t>
            </a:r>
            <a:endParaRPr lang="en-US" sz="1300" dirty="0"/>
          </a:p>
        </p:txBody>
      </p:sp>
      <p:sp>
        <p:nvSpPr>
          <p:cNvPr id="31" name="Image frame"/>
          <p:cNvSpPr/>
          <p:nvPr/>
        </p:nvSpPr>
        <p:spPr>
          <a:xfrm>
            <a:off x="3922776" y="1348692"/>
            <a:ext cx="7882128" cy="4069176"/>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3922776" y="1056084"/>
            <a:ext cx="7882128" cy="292608"/>
          </a:xfrm>
          <a:prstGeom prst="rect">
            <a:avLst/>
          </a:prstGeom>
          <a:solidFill>
            <a:schemeClr val="accent3"/>
          </a:solidFill>
          <a:ln w="12700">
            <a:solidFill>
              <a:schemeClr val="accent3"/>
            </a:solidFill>
            <a:prstDash val="solid"/>
          </a:ln>
        </p:spPr>
      </p:sp>
      <p:sp>
        <p:nvSpPr>
          <p:cNvPr id="33" name="Window dot 1"/>
          <p:cNvSpPr/>
          <p:nvPr/>
        </p:nvSpPr>
        <p:spPr>
          <a:xfrm>
            <a:off x="4050792" y="1147524"/>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4233672" y="1147524"/>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4416552" y="1147524"/>
            <a:ext cx="109728" cy="109728"/>
          </a:xfrm>
          <a:prstGeom prst="ellipse">
            <a:avLst/>
          </a:prstGeom>
          <a:solidFill>
            <a:schemeClr val="accent4"/>
          </a:solidFill>
          <a:ln w="12700">
            <a:solidFill>
              <a:schemeClr val="accent3"/>
            </a:solidFill>
            <a:prstDash val="solid"/>
          </a:ln>
        </p:spPr>
      </p:sp>
      <p:pic>
        <p:nvPicPr>
          <p:cNvPr id="36" name="Image Task board (Kanban-style view)" descr="Task board (Kanban-style view)">    </p:cNvPr>
          <p:cNvPicPr>
            <a:picLocks noChangeAspect="1"/>
          </p:cNvPicPr>
          <p:nvPr/>
        </p:nvPicPr>
        <p:blipFill>
          <a:blip r:embed="rId1"/>
          <a:stretch>
            <a:fillRect/>
          </a:stretch>
        </p:blipFill>
        <p:spPr>
          <a:xfrm>
            <a:off x="3977640" y="1403556"/>
            <a:ext cx="7772400" cy="3959448"/>
          </a:xfrm>
          <a:prstGeom prst="rect">
            <a:avLst/>
          </a:prstGeom>
        </p:spPr>
      </p:pic>
      <p:sp>
        <p:nvSpPr>
          <p:cNvPr id="37" name="Caption"/>
          <p:cNvSpPr txBox="1"/>
          <p:nvPr/>
        </p:nvSpPr>
        <p:spPr>
          <a:xfrm>
            <a:off x="3977640" y="5472732"/>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Task board (Kanban-style view)</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108424"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Sprint 3: Real-time collaboration</a:t>
            </a:r>
            <a:endParaRPr lang="en-US" sz="2600" dirty="0"/>
          </a:p>
        </p:txBody>
      </p:sp>
      <p:sp>
        <p:nvSpPr>
          <p:cNvPr id="30" name="Left bullets"/>
          <p:cNvSpPr txBox="1"/>
          <p:nvPr/>
        </p:nvSpPr>
        <p:spPr>
          <a:xfrm>
            <a:off x="457200" y="384048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Comments and structured reviewer feedback</a:t>
            </a:r>
            <a:endParaRPr lang="en-US" sz="1300" dirty="0"/>
          </a:p>
          <a:p>
            <a:pPr marL="177800" indent="-177800">
              <a:spcAft>
                <a:spcPts val="700"/>
              </a:spcAft>
              <a:buSzPct val="100000"/>
              <a:buChar char="•"/>
            </a:pPr>
            <a:r>
              <a:rPr lang="en-US" sz="1300" dirty="0">
                <a:solidFill>
                  <a:schemeClr val="tx1"/>
                </a:solidFill>
              </a:rPr>
              <a:t>Instant notifications over WebSockets</a:t>
            </a:r>
            <a:endParaRPr lang="en-US" sz="1300" dirty="0"/>
          </a:p>
          <a:p>
            <a:pPr marL="177800" indent="-177800">
              <a:spcAft>
                <a:spcPts val="700"/>
              </a:spcAft>
              <a:buSzPct val="100000"/>
              <a:buChar char="•"/>
            </a:pPr>
            <a:r>
              <a:rPr lang="en-US" sz="1300" dirty="0">
                <a:solidFill>
                  <a:schemeClr val="tx1"/>
                </a:solidFill>
              </a:rPr>
              <a:t>Activity log, notes, shared resources</a:t>
            </a:r>
            <a:endParaRPr lang="en-US" sz="1300" dirty="0"/>
          </a:p>
          <a:p>
            <a:pPr marL="177800" indent="-177800">
              <a:spcAft>
                <a:spcPts val="700"/>
              </a:spcAft>
              <a:buSzPct val="100000"/>
              <a:buChar char="•"/>
            </a:pPr>
            <a:r>
              <a:rPr lang="en-US" sz="1300" dirty="0">
                <a:solidFill>
                  <a:schemeClr val="tx1"/>
                </a:solidFill>
              </a:rPr>
              <a:t>Muting, reminders, deadline alerts</a:t>
            </a:r>
            <a:endParaRPr lang="en-US" sz="1300" dirty="0"/>
          </a:p>
        </p:txBody>
      </p:sp>
      <p:sp>
        <p:nvSpPr>
          <p:cNvPr id="31" name="Image frame"/>
          <p:cNvSpPr/>
          <p:nvPr/>
        </p:nvSpPr>
        <p:spPr>
          <a:xfrm>
            <a:off x="3922776" y="1348692"/>
            <a:ext cx="7882128" cy="4069176"/>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3922776" y="1056084"/>
            <a:ext cx="7882128" cy="292608"/>
          </a:xfrm>
          <a:prstGeom prst="rect">
            <a:avLst/>
          </a:prstGeom>
          <a:solidFill>
            <a:schemeClr val="accent3"/>
          </a:solidFill>
          <a:ln w="12700">
            <a:solidFill>
              <a:schemeClr val="accent3"/>
            </a:solidFill>
            <a:prstDash val="solid"/>
          </a:ln>
        </p:spPr>
      </p:sp>
      <p:sp>
        <p:nvSpPr>
          <p:cNvPr id="33" name="Window dot 1"/>
          <p:cNvSpPr/>
          <p:nvPr/>
        </p:nvSpPr>
        <p:spPr>
          <a:xfrm>
            <a:off x="4050792" y="1147524"/>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4233672" y="1147524"/>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4416552" y="1147524"/>
            <a:ext cx="109728" cy="109728"/>
          </a:xfrm>
          <a:prstGeom prst="ellipse">
            <a:avLst/>
          </a:prstGeom>
          <a:solidFill>
            <a:schemeClr val="accent4"/>
          </a:solidFill>
          <a:ln w="12700">
            <a:solidFill>
              <a:schemeClr val="accent3"/>
            </a:solidFill>
            <a:prstDash val="solid"/>
          </a:ln>
        </p:spPr>
      </p:sp>
      <p:pic>
        <p:nvPicPr>
          <p:cNvPr id="36" name="Image Live notification bell and notifications page" descr="Live notification bell and notifications page">    </p:cNvPr>
          <p:cNvPicPr>
            <a:picLocks noChangeAspect="1"/>
          </p:cNvPicPr>
          <p:nvPr/>
        </p:nvPicPr>
        <p:blipFill>
          <a:blip r:embed="rId1"/>
          <a:stretch>
            <a:fillRect/>
          </a:stretch>
        </p:blipFill>
        <p:spPr>
          <a:xfrm>
            <a:off x="3977640" y="1403556"/>
            <a:ext cx="7772400" cy="3959448"/>
          </a:xfrm>
          <a:prstGeom prst="rect">
            <a:avLst/>
          </a:prstGeom>
        </p:spPr>
      </p:pic>
      <p:sp>
        <p:nvSpPr>
          <p:cNvPr id="37" name="Caption"/>
          <p:cNvSpPr txBox="1"/>
          <p:nvPr/>
        </p:nvSpPr>
        <p:spPr>
          <a:xfrm>
            <a:off x="3977640" y="5472732"/>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Live notification bell and notifications page</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293162"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Sprint 4: Administration</a:t>
            </a:r>
            <a:endParaRPr lang="en-US" sz="2600" dirty="0"/>
          </a:p>
        </p:txBody>
      </p:sp>
      <p:sp>
        <p:nvSpPr>
          <p:cNvPr id="30" name="Left bullets"/>
          <p:cNvSpPr txBox="1"/>
          <p:nvPr/>
        </p:nvSpPr>
        <p:spPr>
          <a:xfrm>
            <a:off x="457200" y="384048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rPr>
              <a:t>User management and role changes</a:t>
            </a:r>
            <a:endParaRPr lang="en-US" sz="1300" dirty="0"/>
          </a:p>
          <a:p>
            <a:pPr marL="177800" indent="-177800">
              <a:spcAft>
                <a:spcPts val="700"/>
              </a:spcAft>
              <a:buSzPct val="100000"/>
              <a:buChar char="•"/>
            </a:pPr>
            <a:r>
              <a:rPr lang="en-US" sz="1300" dirty="0">
                <a:solidFill>
                  <a:schemeClr val="tx1"/>
                </a:solidFill>
              </a:rPr>
              <a:t>Suspension with formal appeal</a:t>
            </a:r>
            <a:endParaRPr lang="en-US" sz="1300" dirty="0"/>
          </a:p>
          <a:p>
            <a:pPr marL="177800" indent="-177800">
              <a:spcAft>
                <a:spcPts val="700"/>
              </a:spcAft>
              <a:buSzPct val="100000"/>
              <a:buChar char="•"/>
            </a:pPr>
            <a:r>
              <a:rPr lang="en-US" sz="1300" dirty="0">
                <a:solidFill>
                  <a:schemeClr val="tx1"/>
                </a:solidFill>
              </a:rPr>
              <a:t>Support tickets and feedback categories</a:t>
            </a:r>
            <a:endParaRPr lang="en-US" sz="1300" dirty="0"/>
          </a:p>
          <a:p>
            <a:pPr marL="177800" indent="-177800">
              <a:spcAft>
                <a:spcPts val="700"/>
              </a:spcAft>
              <a:buSzPct val="100000"/>
              <a:buChar char="•"/>
            </a:pPr>
            <a:r>
              <a:rPr lang="en-US" sz="1300" dirty="0">
                <a:solidFill>
                  <a:schemeClr val="tx1"/>
                </a:solidFill>
              </a:rPr>
              <a:t>Temporary passwords with forced change</a:t>
            </a:r>
            <a:endParaRPr lang="en-US" sz="1300" dirty="0"/>
          </a:p>
        </p:txBody>
      </p:sp>
      <p:sp>
        <p:nvSpPr>
          <p:cNvPr id="31" name="Image frame"/>
          <p:cNvSpPr/>
          <p:nvPr/>
        </p:nvSpPr>
        <p:spPr>
          <a:xfrm>
            <a:off x="4537212" y="813816"/>
            <a:ext cx="6653255" cy="5138928"/>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4537212" y="521208"/>
            <a:ext cx="6653255" cy="292608"/>
          </a:xfrm>
          <a:prstGeom prst="rect">
            <a:avLst/>
          </a:prstGeom>
          <a:solidFill>
            <a:schemeClr val="accent3"/>
          </a:solidFill>
          <a:ln w="12700">
            <a:solidFill>
              <a:schemeClr val="accent3"/>
            </a:solidFill>
            <a:prstDash val="solid"/>
          </a:ln>
        </p:spPr>
      </p:sp>
      <p:sp>
        <p:nvSpPr>
          <p:cNvPr id="33" name="Window dot 1"/>
          <p:cNvSpPr/>
          <p:nvPr/>
        </p:nvSpPr>
        <p:spPr>
          <a:xfrm>
            <a:off x="4665228" y="612648"/>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4848108" y="612648"/>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5030988" y="612648"/>
            <a:ext cx="109728" cy="109728"/>
          </a:xfrm>
          <a:prstGeom prst="ellipse">
            <a:avLst/>
          </a:prstGeom>
          <a:solidFill>
            <a:schemeClr val="accent4"/>
          </a:solidFill>
          <a:ln w="12700">
            <a:solidFill>
              <a:schemeClr val="accent3"/>
            </a:solidFill>
            <a:prstDash val="solid"/>
          </a:ln>
        </p:spPr>
      </p:sp>
      <p:pic>
        <p:nvPicPr>
          <p:cNvPr id="36" name="Image Admin user management page" descr="Admin user management page">    </p:cNvPr>
          <p:cNvPicPr>
            <a:picLocks noChangeAspect="1"/>
          </p:cNvPicPr>
          <p:nvPr/>
        </p:nvPicPr>
        <p:blipFill>
          <a:blip r:embed="rId1"/>
          <a:stretch>
            <a:fillRect/>
          </a:stretch>
        </p:blipFill>
        <p:spPr>
          <a:xfrm>
            <a:off x="4592076" y="868680"/>
            <a:ext cx="6543527" cy="5029200"/>
          </a:xfrm>
          <a:prstGeom prst="rect">
            <a:avLst/>
          </a:prstGeom>
        </p:spPr>
      </p:pic>
      <p:sp>
        <p:nvSpPr>
          <p:cNvPr id="37" name="Caption"/>
          <p:cNvSpPr txBox="1"/>
          <p:nvPr/>
        </p:nvSpPr>
        <p:spPr>
          <a:xfrm>
            <a:off x="3977640" y="6007608"/>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Admin user management page</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ircle outline"/>
          <p:cNvSpPr/>
          <p:nvPr/>
        </p:nvSpPr>
        <p:spPr>
          <a:xfrm>
            <a:off x="-3200400" y="-3200400"/>
            <a:ext cx="6858000" cy="6858000"/>
          </a:xfrm>
          <a:prstGeom prst="ellipse">
            <a:avLst/>
          </a:prstGeom>
          <a:solidFill>
            <a:schemeClr val="bg1"/>
          </a:solidFill>
          <a:ln w="19050">
            <a:solidFill>
              <a:schemeClr val="accent4"/>
            </a:solidFill>
            <a:prstDash val="solid"/>
          </a:ln>
        </p:spPr>
      </p:sp>
      <p:sp>
        <p:nvSpPr>
          <p:cNvPr id="3" name="Circle"/>
          <p:cNvSpPr/>
          <p:nvPr/>
        </p:nvSpPr>
        <p:spPr>
          <a:xfrm>
            <a:off x="-2926080" y="-2926080"/>
            <a:ext cx="6583680" cy="658368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477899" cy="237744"/>
          </a:xfrm>
          <a:prstGeom prst="rect">
            <a:avLst/>
          </a:prstGeom>
          <a:solidFill>
            <a:schemeClr val="accent4"/>
          </a:solidFill>
          <a:ln w="12700">
            <a:solidFill>
              <a:schemeClr val="accent4"/>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dirty="0">
                <a:solidFill>
                  <a:schemeClr val="accent3"/>
                </a:solidFill>
              </a:rPr>
              <a:t>Conclusion &amp; perspectives</a:t>
            </a:r>
            <a:endParaRPr lang="en-US" sz="1000" dirty="0"/>
          </a:p>
        </p:txBody>
      </p:sp>
      <p:sp>
        <p:nvSpPr>
          <p:cNvPr id="28"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29" name="Title"/>
          <p:cNvSpPr txBox="1"/>
          <p:nvPr/>
        </p:nvSpPr>
        <p:spPr>
          <a:xfrm>
            <a:off x="411480" y="457200"/>
            <a:ext cx="2651760" cy="1371600"/>
          </a:xfrm>
          <a:prstGeom prst="rect">
            <a:avLst/>
          </a:prstGeom>
          <a:noFill/>
          <a:ln/>
        </p:spPr>
        <p:txBody>
          <a:bodyPr wrap="square" lIns="0" tIns="0" rIns="0" bIns="0" rtlCol="0" anchor="ctr"/>
          <a:lstStyle/>
          <a:p>
            <a:pPr algn="l" indent="0" marL="0">
              <a:buNone/>
            </a:pPr>
            <a:r>
              <a:rPr lang="en-US" sz="2600" b="1" dirty="0">
                <a:solidFill>
                  <a:schemeClr val="bg1"/>
                </a:solidFill>
              </a:rPr>
              <a:t>Admin analytics dashboard</a:t>
            </a:r>
            <a:endParaRPr lang="en-US" sz="2600" dirty="0"/>
          </a:p>
        </p:txBody>
      </p:sp>
      <p:sp>
        <p:nvSpPr>
          <p:cNvPr id="30" name="Left bullets"/>
          <p:cNvSpPr txBox="1"/>
          <p:nvPr/>
        </p:nvSpPr>
        <p:spPr>
          <a:xfrm>
            <a:off x="457200" y="3931920"/>
            <a:ext cx="3108960" cy="2377440"/>
          </a:xfrm>
          <a:prstGeom prst="rect">
            <a:avLst/>
          </a:prstGeom>
          <a:noFill/>
          <a:ln/>
        </p:spPr>
        <p:txBody>
          <a:bodyPr wrap="square" lIns="0" tIns="0" rIns="0" bIns="0" rtlCol="0" anchor="t"/>
          <a:lstStyle/>
          <a:p>
            <a:pPr marL="177800" indent="-177800">
              <a:spcAft>
                <a:spcPts val="700"/>
              </a:spcAft>
              <a:buSzPct val="100000"/>
              <a:buChar char="•"/>
            </a:pPr>
            <a:r>
              <a:rPr lang="en-US" sz="1600" dirty="0">
                <a:solidFill>
                  <a:schemeClr val="tx1"/>
                </a:solidFill>
              </a:rPr>
              <a:t>Platform-wide statistics</a:t>
            </a:r>
            <a:endParaRPr lang="en-US" sz="1600" dirty="0"/>
          </a:p>
          <a:p>
            <a:pPr marL="177800" indent="-177800">
              <a:spcAft>
                <a:spcPts val="700"/>
              </a:spcAft>
              <a:buSzPct val="100000"/>
              <a:buChar char="•"/>
            </a:pPr>
            <a:r>
              <a:rPr lang="en-US" sz="1600" dirty="0">
                <a:solidFill>
                  <a:schemeClr val="tx1"/>
                </a:solidFill>
              </a:rPr>
              <a:t>Activity charts (Recharts)</a:t>
            </a:r>
            <a:endParaRPr lang="en-US" sz="1600" dirty="0"/>
          </a:p>
          <a:p>
            <a:pPr marL="177800" indent="-177800">
              <a:spcAft>
                <a:spcPts val="700"/>
              </a:spcAft>
              <a:buSzPct val="100000"/>
              <a:buChar char="•"/>
            </a:pPr>
            <a:r>
              <a:rPr lang="en-US" sz="1600" dirty="0">
                <a:solidFill>
                  <a:schemeClr val="tx1"/>
                </a:solidFill>
              </a:rPr>
              <a:t>Recent activity at a glance</a:t>
            </a:r>
            <a:endParaRPr lang="en-US" sz="1600" dirty="0"/>
          </a:p>
        </p:txBody>
      </p:sp>
      <p:sp>
        <p:nvSpPr>
          <p:cNvPr id="31" name="Image frame"/>
          <p:cNvSpPr/>
          <p:nvPr/>
        </p:nvSpPr>
        <p:spPr>
          <a:xfrm>
            <a:off x="5427484" y="630936"/>
            <a:ext cx="4872713" cy="5458968"/>
          </a:xfrm>
          <a:prstGeom prst="rect">
            <a:avLst/>
          </a:prstGeom>
          <a:solidFill>
            <a:schemeClr val="bg1"/>
          </a:solidFill>
          <a:ln w="9525">
            <a:solidFill>
              <a:schemeClr val="accent4"/>
            </a:solidFill>
            <a:prstDash val="solid"/>
          </a:ln>
          <a:effectLst>
            <a:outerShdw sx="100000" sy="100000" kx="0" ky="0" algn="bl" rotWithShape="0" blurRad="101600" dist="25400" dir="5400000">
              <a:srgbClr val="000000">
                <a:alpha val="18000"/>
              </a:srgbClr>
            </a:outerShdw>
          </a:effectLst>
        </p:spPr>
      </p:sp>
      <p:sp>
        <p:nvSpPr>
          <p:cNvPr id="32" name="Window bar"/>
          <p:cNvSpPr/>
          <p:nvPr/>
        </p:nvSpPr>
        <p:spPr>
          <a:xfrm>
            <a:off x="5427484" y="338328"/>
            <a:ext cx="4872713" cy="292608"/>
          </a:xfrm>
          <a:prstGeom prst="rect">
            <a:avLst/>
          </a:prstGeom>
          <a:solidFill>
            <a:schemeClr val="accent3"/>
          </a:solidFill>
          <a:ln w="12700">
            <a:solidFill>
              <a:schemeClr val="accent3"/>
            </a:solidFill>
            <a:prstDash val="solid"/>
          </a:ln>
        </p:spPr>
      </p:sp>
      <p:sp>
        <p:nvSpPr>
          <p:cNvPr id="33" name="Window dot 1"/>
          <p:cNvSpPr/>
          <p:nvPr/>
        </p:nvSpPr>
        <p:spPr>
          <a:xfrm>
            <a:off x="5555500" y="429768"/>
            <a:ext cx="109728" cy="109728"/>
          </a:xfrm>
          <a:prstGeom prst="ellipse">
            <a:avLst/>
          </a:prstGeom>
          <a:solidFill>
            <a:schemeClr val="accent5"/>
          </a:solidFill>
          <a:ln w="12700">
            <a:solidFill>
              <a:schemeClr val="accent3"/>
            </a:solidFill>
            <a:prstDash val="solid"/>
          </a:ln>
        </p:spPr>
      </p:sp>
      <p:sp>
        <p:nvSpPr>
          <p:cNvPr id="34" name="Window dot 2"/>
          <p:cNvSpPr/>
          <p:nvPr/>
        </p:nvSpPr>
        <p:spPr>
          <a:xfrm>
            <a:off x="5738380" y="429768"/>
            <a:ext cx="109728" cy="109728"/>
          </a:xfrm>
          <a:prstGeom prst="ellipse">
            <a:avLst/>
          </a:prstGeom>
          <a:solidFill>
            <a:schemeClr val="accent6"/>
          </a:solidFill>
          <a:ln w="12700">
            <a:solidFill>
              <a:schemeClr val="accent3"/>
            </a:solidFill>
            <a:prstDash val="solid"/>
          </a:ln>
        </p:spPr>
      </p:sp>
      <p:sp>
        <p:nvSpPr>
          <p:cNvPr id="35" name="Window dot 3"/>
          <p:cNvSpPr/>
          <p:nvPr/>
        </p:nvSpPr>
        <p:spPr>
          <a:xfrm>
            <a:off x="5921260" y="429768"/>
            <a:ext cx="109728" cy="109728"/>
          </a:xfrm>
          <a:prstGeom prst="ellipse">
            <a:avLst/>
          </a:prstGeom>
          <a:solidFill>
            <a:schemeClr val="accent4"/>
          </a:solidFill>
          <a:ln w="12700">
            <a:solidFill>
              <a:schemeClr val="accent3"/>
            </a:solidFill>
            <a:prstDash val="solid"/>
          </a:ln>
        </p:spPr>
      </p:sp>
      <p:pic>
        <p:nvPicPr>
          <p:cNvPr id="36" name="Image Admin analytics dashboard" descr="Admin analytics dashboard">    </p:cNvPr>
          <p:cNvPicPr>
            <a:picLocks noChangeAspect="1"/>
          </p:cNvPicPr>
          <p:nvPr/>
        </p:nvPicPr>
        <p:blipFill>
          <a:blip r:embed="rId1"/>
          <a:stretch>
            <a:fillRect/>
          </a:stretch>
        </p:blipFill>
        <p:spPr>
          <a:xfrm>
            <a:off x="5482348" y="685800"/>
            <a:ext cx="4762985" cy="5349240"/>
          </a:xfrm>
          <a:prstGeom prst="rect">
            <a:avLst/>
          </a:prstGeom>
        </p:spPr>
      </p:pic>
      <p:sp>
        <p:nvSpPr>
          <p:cNvPr id="37" name="Caption"/>
          <p:cNvSpPr txBox="1"/>
          <p:nvPr/>
        </p:nvSpPr>
        <p:spPr>
          <a:xfrm>
            <a:off x="3977640" y="6144768"/>
            <a:ext cx="7772400" cy="274320"/>
          </a:xfrm>
          <a:prstGeom prst="rect">
            <a:avLst/>
          </a:prstGeom>
          <a:noFill/>
          <a:ln/>
        </p:spPr>
        <p:txBody>
          <a:bodyPr wrap="square" lIns="0" tIns="0" rIns="0" bIns="0" rtlCol="0" anchor="ctr"/>
          <a:lstStyle/>
          <a:p>
            <a:pPr algn="ctr" indent="0" marL="0">
              <a:buNone/>
            </a:pPr>
            <a:r>
              <a:rPr lang="en-US" sz="1200" i="1" dirty="0">
                <a:solidFill>
                  <a:schemeClr val="accent3"/>
                </a:solidFill>
              </a:rPr>
              <a:t>Admin analytics dashboard</a:t>
            </a:r>
            <a:endParaRPr lang="en-US" sz="1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477899" cy="237744"/>
          </a:xfrm>
          <a:prstGeom prst="rect">
            <a:avLst/>
          </a:prstGeom>
          <a:solidFill>
            <a:schemeClr val="accent1"/>
          </a:solidFill>
          <a:ln w="12700">
            <a:solidFill>
              <a:schemeClr val="accent1"/>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fill 8"/>
          <p:cNvSpPr/>
          <p:nvPr/>
        </p:nvSpPr>
        <p:spPr>
          <a:xfrm>
            <a:off x="10688193" y="6510528"/>
            <a:ext cx="369475" cy="237744"/>
          </a:xfrm>
          <a:prstGeom prst="rect">
            <a:avLst/>
          </a:prstGeom>
          <a:solidFill>
            <a:schemeClr val="accent4"/>
          </a:solidFill>
          <a:ln w="12700">
            <a:solidFill>
              <a:schemeClr val="accent4"/>
            </a:solidFill>
            <a:prstDash val="solid"/>
          </a:ln>
        </p:spPr>
      </p:sp>
      <p:sp>
        <p:nvSpPr>
          <p:cNvPr id="28"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Conclusion &amp; perspectives</a:t>
            </a:r>
            <a:endParaRPr lang="en-US" sz="1000" dirty="0"/>
          </a:p>
        </p:txBody>
      </p:sp>
      <p:sp>
        <p:nvSpPr>
          <p:cNvPr id="29"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30"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08  ·  CONCLUSION &amp; PERSPECTIVES</a:t>
            </a:r>
            <a:endParaRPr lang="en-US" sz="1200" dirty="0"/>
          </a:p>
        </p:txBody>
      </p:sp>
      <p:sp>
        <p:nvSpPr>
          <p:cNvPr id="31"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Skills gained &amp; challenges</a:t>
            </a:r>
            <a:endParaRPr lang="en-US" sz="3400" dirty="0"/>
          </a:p>
        </p:txBody>
      </p:sp>
      <p:sp>
        <p:nvSpPr>
          <p:cNvPr id="32" name="Column Skills gained"/>
          <p:cNvSpPr/>
          <p:nvPr/>
        </p:nvSpPr>
        <p:spPr>
          <a:xfrm>
            <a:off x="5394960" y="777240"/>
            <a:ext cx="3063240" cy="5120640"/>
          </a:xfrm>
          <a:prstGeom prst="rect">
            <a:avLst/>
          </a:prstGeom>
          <a:solidFill>
            <a:schemeClr val="bg2"/>
          </a:solidFill>
          <a:ln w="12700">
            <a:solidFill>
              <a:schemeClr val="bg2"/>
            </a:solidFill>
            <a:prstDash val="solid"/>
          </a:ln>
        </p:spPr>
      </p:sp>
      <p:sp>
        <p:nvSpPr>
          <p:cNvPr id="33" name="Column bar Skills gained"/>
          <p:cNvSpPr/>
          <p:nvPr/>
        </p:nvSpPr>
        <p:spPr>
          <a:xfrm>
            <a:off x="5394960" y="777240"/>
            <a:ext cx="3063240" cy="73152"/>
          </a:xfrm>
          <a:prstGeom prst="rect">
            <a:avLst/>
          </a:prstGeom>
          <a:solidFill>
            <a:schemeClr val="accent1"/>
          </a:solidFill>
          <a:ln w="12700">
            <a:solidFill>
              <a:schemeClr val="accent1"/>
            </a:solidFill>
            <a:prstDash val="solid"/>
          </a:ln>
        </p:spPr>
      </p:sp>
      <p:sp>
        <p:nvSpPr>
          <p:cNvPr id="34" name="Text 32"/>
          <p:cNvSpPr txBox="1"/>
          <p:nvPr/>
        </p:nvSpPr>
        <p:spPr>
          <a:xfrm>
            <a:off x="5623560" y="1005840"/>
            <a:ext cx="2606040" cy="457200"/>
          </a:xfrm>
          <a:prstGeom prst="rect">
            <a:avLst/>
          </a:prstGeom>
          <a:noFill/>
          <a:ln/>
        </p:spPr>
        <p:txBody>
          <a:bodyPr wrap="square" lIns="0" tIns="0" rIns="0" bIns="0" rtlCol="0" anchor="ctr"/>
          <a:lstStyle/>
          <a:p>
            <a:pPr indent="0" marL="0">
              <a:buNone/>
            </a:pPr>
            <a:r>
              <a:rPr lang="en-US" sz="2200" b="1" dirty="0">
                <a:solidFill>
                  <a:schemeClr val="accent1"/>
                </a:solidFill>
              </a:rPr>
              <a:t>Skills gained</a:t>
            </a:r>
            <a:endParaRPr lang="en-US" sz="2200" dirty="0"/>
          </a:p>
        </p:txBody>
      </p:sp>
      <p:sp>
        <p:nvSpPr>
          <p:cNvPr id="35" name="Text 33"/>
          <p:cNvSpPr txBox="1"/>
          <p:nvPr/>
        </p:nvSpPr>
        <p:spPr>
          <a:xfrm>
            <a:off x="5623560" y="1737360"/>
            <a:ext cx="2606040" cy="3931920"/>
          </a:xfrm>
          <a:prstGeom prst="rect">
            <a:avLst/>
          </a:prstGeom>
          <a:noFill/>
          <a:ln/>
        </p:spPr>
        <p:txBody>
          <a:bodyPr wrap="square" lIns="0" tIns="0" rIns="0" bIns="0" rtlCol="0" anchor="t"/>
          <a:lstStyle/>
          <a:p>
            <a:pPr marL="177800" indent="-177800">
              <a:spcAft>
                <a:spcPts val="1200"/>
              </a:spcAft>
              <a:buSzPct val="100000"/>
              <a:buChar char="•"/>
            </a:pPr>
            <a:r>
              <a:rPr lang="en-US" sz="1700" dirty="0">
                <a:solidFill>
                  <a:schemeClr val="tx1"/>
                </a:solidFill>
              </a:rPr>
              <a:t>Laravel ecosystem: policies, jobs, scheduling</a:t>
            </a:r>
            <a:endParaRPr lang="en-US" sz="1700" dirty="0"/>
          </a:p>
          <a:p>
            <a:pPr marL="177800" indent="-177800">
              <a:spcAft>
                <a:spcPts val="1200"/>
              </a:spcAft>
              <a:buSzPct val="100000"/>
              <a:buChar char="•"/>
            </a:pPr>
            <a:r>
              <a:rPr lang="en-US" sz="1700" dirty="0">
                <a:solidFill>
                  <a:schemeClr val="tx1"/>
                </a:solidFill>
              </a:rPr>
              <a:t>React + Inertia.js without a REST layer</a:t>
            </a:r>
            <a:endParaRPr lang="en-US" sz="1700" dirty="0"/>
          </a:p>
          <a:p>
            <a:pPr marL="177800" indent="-177800">
              <a:spcAft>
                <a:spcPts val="1200"/>
              </a:spcAft>
              <a:buSzPct val="100000"/>
              <a:buChar char="•"/>
            </a:pPr>
            <a:r>
              <a:rPr lang="en-US" sz="1700" dirty="0">
                <a:solidFill>
                  <a:schemeClr val="tx1"/>
                </a:solidFill>
              </a:rPr>
              <a:t>Real-time systems with WebSockets</a:t>
            </a:r>
            <a:endParaRPr lang="en-US" sz="1700" dirty="0"/>
          </a:p>
          <a:p>
            <a:pPr marL="177800" indent="-177800">
              <a:spcAft>
                <a:spcPts val="1200"/>
              </a:spcAft>
              <a:buSzPct val="100000"/>
              <a:buChar char="•"/>
            </a:pPr>
            <a:r>
              <a:rPr lang="en-US" sz="1700" dirty="0">
                <a:solidFill>
                  <a:schemeClr val="tx1"/>
                </a:solidFill>
              </a:rPr>
              <a:t>Relational modelling at platform scale</a:t>
            </a:r>
            <a:endParaRPr lang="en-US" sz="1700" dirty="0"/>
          </a:p>
        </p:txBody>
      </p:sp>
      <p:sp>
        <p:nvSpPr>
          <p:cNvPr id="36" name="Column Challenges faced"/>
          <p:cNvSpPr/>
          <p:nvPr/>
        </p:nvSpPr>
        <p:spPr>
          <a:xfrm>
            <a:off x="8641080" y="777240"/>
            <a:ext cx="3063240" cy="5120640"/>
          </a:xfrm>
          <a:prstGeom prst="rect">
            <a:avLst/>
          </a:prstGeom>
          <a:solidFill>
            <a:schemeClr val="bg2"/>
          </a:solidFill>
          <a:ln w="12700">
            <a:solidFill>
              <a:schemeClr val="bg2"/>
            </a:solidFill>
            <a:prstDash val="solid"/>
          </a:ln>
        </p:spPr>
      </p:sp>
      <p:sp>
        <p:nvSpPr>
          <p:cNvPr id="37" name="Column bar Challenges faced"/>
          <p:cNvSpPr/>
          <p:nvPr/>
        </p:nvSpPr>
        <p:spPr>
          <a:xfrm>
            <a:off x="8641080" y="777240"/>
            <a:ext cx="3063240" cy="73152"/>
          </a:xfrm>
          <a:prstGeom prst="rect">
            <a:avLst/>
          </a:prstGeom>
          <a:solidFill>
            <a:schemeClr val="accent5"/>
          </a:solidFill>
          <a:ln w="12700">
            <a:solidFill>
              <a:schemeClr val="accent5"/>
            </a:solidFill>
            <a:prstDash val="solid"/>
          </a:ln>
        </p:spPr>
      </p:sp>
      <p:sp>
        <p:nvSpPr>
          <p:cNvPr id="38" name="Text 36"/>
          <p:cNvSpPr txBox="1"/>
          <p:nvPr/>
        </p:nvSpPr>
        <p:spPr>
          <a:xfrm>
            <a:off x="8869680" y="1005840"/>
            <a:ext cx="2606040" cy="457200"/>
          </a:xfrm>
          <a:prstGeom prst="rect">
            <a:avLst/>
          </a:prstGeom>
          <a:noFill/>
          <a:ln/>
        </p:spPr>
        <p:txBody>
          <a:bodyPr wrap="square" lIns="0" tIns="0" rIns="0" bIns="0" rtlCol="0" anchor="ctr"/>
          <a:lstStyle/>
          <a:p>
            <a:pPr indent="0" marL="0">
              <a:buNone/>
            </a:pPr>
            <a:r>
              <a:rPr lang="en-US" sz="2200" b="1" dirty="0">
                <a:solidFill>
                  <a:schemeClr val="accent1"/>
                </a:solidFill>
              </a:rPr>
              <a:t>Challenges faced</a:t>
            </a:r>
            <a:endParaRPr lang="en-US" sz="2200" dirty="0"/>
          </a:p>
        </p:txBody>
      </p:sp>
      <p:sp>
        <p:nvSpPr>
          <p:cNvPr id="39" name="Text 37"/>
          <p:cNvSpPr txBox="1"/>
          <p:nvPr/>
        </p:nvSpPr>
        <p:spPr>
          <a:xfrm>
            <a:off x="8869680" y="1737360"/>
            <a:ext cx="2606040" cy="3931920"/>
          </a:xfrm>
          <a:prstGeom prst="rect">
            <a:avLst/>
          </a:prstGeom>
          <a:noFill/>
          <a:ln/>
        </p:spPr>
        <p:txBody>
          <a:bodyPr wrap="square" lIns="0" tIns="0" rIns="0" bIns="0" rtlCol="0" anchor="t"/>
          <a:lstStyle/>
          <a:p>
            <a:pPr marL="177800" indent="-177800">
              <a:spcAft>
                <a:spcPts val="1200"/>
              </a:spcAft>
              <a:buSzPct val="100000"/>
              <a:buChar char="•"/>
            </a:pPr>
            <a:r>
              <a:rPr lang="en-US" sz="1700" dirty="0">
                <a:solidFill>
                  <a:schemeClr val="tx1"/>
                </a:solidFill>
              </a:rPr>
              <a:t>Real-time updates without duplication</a:t>
            </a:r>
            <a:endParaRPr lang="en-US" sz="1700" dirty="0"/>
          </a:p>
          <a:p>
            <a:pPr marL="177800" indent="-177800">
              <a:spcAft>
                <a:spcPts val="1200"/>
              </a:spcAft>
              <a:buSzPct val="100000"/>
              <a:buChar char="•"/>
            </a:pPr>
            <a:r>
              <a:rPr lang="en-US" sz="1700" dirty="0">
                <a:solidFill>
                  <a:schemeClr val="tx1"/>
                </a:solidFill>
              </a:rPr>
              <a:t>A flexible yet simple role model</a:t>
            </a:r>
            <a:endParaRPr lang="en-US" sz="1700" dirty="0"/>
          </a:p>
          <a:p>
            <a:pPr marL="177800" indent="-177800">
              <a:spcAft>
                <a:spcPts val="1200"/>
              </a:spcAft>
              <a:buSzPct val="100000"/>
              <a:buChar char="•"/>
            </a:pPr>
            <a:r>
              <a:rPr lang="en-US" sz="1700" dirty="0">
                <a:solidFill>
                  <a:schemeClr val="tx1"/>
                </a:solidFill>
              </a:rPr>
              <a:t>Prioritizing scope in seven weeks</a:t>
            </a:r>
            <a:endParaRPr lang="en-US" sz="1700" dirty="0"/>
          </a:p>
          <a:p>
            <a:pPr marL="177800" indent="-177800">
              <a:spcAft>
                <a:spcPts val="1200"/>
              </a:spcAft>
              <a:buSzPct val="100000"/>
              <a:buChar char="•"/>
            </a:pPr>
            <a:r>
              <a:rPr lang="en-US" sz="1700" dirty="0">
                <a:solidFill>
                  <a:schemeClr val="tx1"/>
                </a:solidFill>
              </a:rPr>
              <a:t>Running my own Agile process</a:t>
            </a:r>
            <a:endParaRPr lang="en-US" sz="17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477899" cy="237744"/>
          </a:xfrm>
          <a:prstGeom prst="rect">
            <a:avLst/>
          </a:prstGeom>
          <a:solidFill>
            <a:schemeClr val="accent1"/>
          </a:solidFill>
          <a:ln w="12700">
            <a:solidFill>
              <a:schemeClr val="accent1"/>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fill 8"/>
          <p:cNvSpPr/>
          <p:nvPr/>
        </p:nvSpPr>
        <p:spPr>
          <a:xfrm>
            <a:off x="10688193" y="6510528"/>
            <a:ext cx="738950" cy="237744"/>
          </a:xfrm>
          <a:prstGeom prst="rect">
            <a:avLst/>
          </a:prstGeom>
          <a:solidFill>
            <a:schemeClr val="accent4"/>
          </a:solidFill>
          <a:ln w="12700">
            <a:solidFill>
              <a:schemeClr val="accent4"/>
            </a:solidFill>
            <a:prstDash val="solid"/>
          </a:ln>
        </p:spPr>
      </p:sp>
      <p:sp>
        <p:nvSpPr>
          <p:cNvPr id="28"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Conclusion &amp; perspectives</a:t>
            </a:r>
            <a:endParaRPr lang="en-US" sz="1000" dirty="0"/>
          </a:p>
        </p:txBody>
      </p:sp>
      <p:sp>
        <p:nvSpPr>
          <p:cNvPr id="29"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30"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08  ·  CONCLUSION &amp; PERSPECTIVES</a:t>
            </a:r>
            <a:endParaRPr lang="en-US" sz="1200" dirty="0"/>
          </a:p>
        </p:txBody>
      </p:sp>
      <p:sp>
        <p:nvSpPr>
          <p:cNvPr id="31"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Conclusion</a:t>
            </a:r>
            <a:endParaRPr lang="en-US" sz="3400" dirty="0"/>
          </a:p>
        </p:txBody>
      </p:sp>
      <p:sp>
        <p:nvSpPr>
          <p:cNvPr id="32" name="Connector 1"/>
          <p:cNvSpPr/>
          <p:nvPr/>
        </p:nvSpPr>
        <p:spPr>
          <a:xfrm>
            <a:off x="5623560" y="1611630"/>
            <a:ext cx="0" cy="937260"/>
          </a:xfrm>
          <a:prstGeom prst="line">
            <a:avLst/>
          </a:prstGeom>
          <a:noFill/>
          <a:ln w="15875">
            <a:solidFill>
              <a:schemeClr val="accent4"/>
            </a:solidFill>
            <a:prstDash val="dash"/>
          </a:ln>
        </p:spPr>
      </p:sp>
      <p:sp>
        <p:nvSpPr>
          <p:cNvPr id="33" name="Step badge 1"/>
          <p:cNvSpPr txBox="1"/>
          <p:nvPr/>
        </p:nvSpPr>
        <p:spPr>
          <a:xfrm>
            <a:off x="5394960" y="115443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01</a:t>
            </a:r>
            <a:endParaRPr lang="en-US" sz="1400" dirty="0"/>
          </a:p>
        </p:txBody>
      </p:sp>
      <p:sp>
        <p:nvSpPr>
          <p:cNvPr id="34" name="Step text 1"/>
          <p:cNvSpPr txBox="1"/>
          <p:nvPr/>
        </p:nvSpPr>
        <p:spPr>
          <a:xfrm>
            <a:off x="6126480" y="72237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Objectives met</a:t>
            </a:r>
            <a:endParaRPr lang="en-US" sz="2200" dirty="0"/>
          </a:p>
          <a:p>
            <a:pPr indent="0" marL="0">
              <a:buNone/>
            </a:pPr>
            <a:r>
              <a:rPr lang="en-US" sz="1600" dirty="0">
                <a:solidFill>
                  <a:schemeClr val="tx1"/>
                </a:solidFill>
              </a:rPr>
              <a:t>Role-aware collaboration, real-time updates and a full administration layer</a:t>
            </a:r>
            <a:endParaRPr lang="en-US" sz="2200" dirty="0"/>
          </a:p>
        </p:txBody>
      </p:sp>
      <p:sp>
        <p:nvSpPr>
          <p:cNvPr id="35" name="Connector 2"/>
          <p:cNvSpPr/>
          <p:nvPr/>
        </p:nvSpPr>
        <p:spPr>
          <a:xfrm>
            <a:off x="5623560" y="3006090"/>
            <a:ext cx="0" cy="937260"/>
          </a:xfrm>
          <a:prstGeom prst="line">
            <a:avLst/>
          </a:prstGeom>
          <a:noFill/>
          <a:ln w="15875">
            <a:solidFill>
              <a:schemeClr val="accent4"/>
            </a:solidFill>
            <a:prstDash val="dash"/>
          </a:ln>
        </p:spPr>
      </p:sp>
      <p:sp>
        <p:nvSpPr>
          <p:cNvPr id="36" name="Step badge 2"/>
          <p:cNvSpPr txBox="1"/>
          <p:nvPr/>
        </p:nvSpPr>
        <p:spPr>
          <a:xfrm>
            <a:off x="5394960" y="254889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02</a:t>
            </a:r>
            <a:endParaRPr lang="en-US" sz="1400" dirty="0"/>
          </a:p>
        </p:txBody>
      </p:sp>
      <p:sp>
        <p:nvSpPr>
          <p:cNvPr id="37" name="Step text 2"/>
          <p:cNvSpPr txBox="1"/>
          <p:nvPr/>
        </p:nvSpPr>
        <p:spPr>
          <a:xfrm>
            <a:off x="6126480" y="211683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Delivered with a sprint-based process</a:t>
            </a:r>
            <a:endParaRPr lang="en-US" sz="2200" dirty="0"/>
          </a:p>
          <a:p>
            <a:pPr indent="0" marL="0">
              <a:buNone/>
            </a:pPr>
            <a:r>
              <a:rPr lang="en-US" sz="1600" dirty="0">
                <a:solidFill>
                  <a:schemeClr val="tx1"/>
                </a:solidFill>
              </a:rPr>
              <a:t>From requirements to a working product in seven weeks</a:t>
            </a:r>
            <a:endParaRPr lang="en-US" sz="2200" dirty="0"/>
          </a:p>
        </p:txBody>
      </p:sp>
      <p:sp>
        <p:nvSpPr>
          <p:cNvPr id="38" name="Connector 3"/>
          <p:cNvSpPr/>
          <p:nvPr/>
        </p:nvSpPr>
        <p:spPr>
          <a:xfrm>
            <a:off x="5623560" y="4400550"/>
            <a:ext cx="0" cy="937260"/>
          </a:xfrm>
          <a:prstGeom prst="line">
            <a:avLst/>
          </a:prstGeom>
          <a:noFill/>
          <a:ln w="15875">
            <a:solidFill>
              <a:schemeClr val="accent4"/>
            </a:solidFill>
            <a:prstDash val="dash"/>
          </a:ln>
        </p:spPr>
      </p:sp>
      <p:sp>
        <p:nvSpPr>
          <p:cNvPr id="39" name="Step badge 3"/>
          <p:cNvSpPr txBox="1"/>
          <p:nvPr/>
        </p:nvSpPr>
        <p:spPr>
          <a:xfrm>
            <a:off x="5394960" y="394335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03</a:t>
            </a:r>
            <a:endParaRPr lang="en-US" sz="1400" dirty="0"/>
          </a:p>
        </p:txBody>
      </p:sp>
      <p:sp>
        <p:nvSpPr>
          <p:cNvPr id="40" name="Step text 3"/>
          <p:cNvSpPr txBox="1"/>
          <p:nvPr/>
        </p:nvSpPr>
        <p:spPr>
          <a:xfrm>
            <a:off x="6126480" y="351129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A complete software engineering experience</a:t>
            </a:r>
            <a:endParaRPr lang="en-US" sz="2200" dirty="0"/>
          </a:p>
          <a:p>
            <a:pPr indent="0" marL="0">
              <a:buNone/>
            </a:pPr>
            <a:r>
              <a:rPr lang="en-US" sz="1600" dirty="0">
                <a:solidFill>
                  <a:schemeClr val="tx1"/>
                </a:solidFill>
              </a:rPr>
              <a:t>Shipping something real, alone, under a deadline</a:t>
            </a:r>
            <a:endParaRPr lang="en-US" sz="2200" dirty="0"/>
          </a:p>
        </p:txBody>
      </p:sp>
      <p:sp>
        <p:nvSpPr>
          <p:cNvPr id="41" name="Step badge 4"/>
          <p:cNvSpPr txBox="1"/>
          <p:nvPr/>
        </p:nvSpPr>
        <p:spPr>
          <a:xfrm>
            <a:off x="5394960" y="533781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04</a:t>
            </a:r>
            <a:endParaRPr lang="en-US" sz="1400" dirty="0"/>
          </a:p>
        </p:txBody>
      </p:sp>
      <p:sp>
        <p:nvSpPr>
          <p:cNvPr id="42" name="Step text 4"/>
          <p:cNvSpPr txBox="1"/>
          <p:nvPr/>
        </p:nvSpPr>
        <p:spPr>
          <a:xfrm>
            <a:off x="6126480" y="4905756"/>
            <a:ext cx="5577840" cy="1321308"/>
          </a:xfrm>
          <a:prstGeom prst="rect">
            <a:avLst/>
          </a:prstGeom>
          <a:noFill/>
          <a:ln/>
        </p:spPr>
        <p:txBody>
          <a:bodyPr wrap="square" lIns="0" tIns="0" rIns="0" bIns="0" rtlCol="0" anchor="ctr"/>
          <a:lstStyle/>
          <a:p>
            <a:pPr indent="0" marL="0">
              <a:buNone/>
            </a:pPr>
            <a:r>
              <a:rPr lang="en-US" sz="2200" b="1" dirty="0">
                <a:solidFill>
                  <a:schemeClr val="accent3"/>
                </a:solidFill>
              </a:rPr>
              <a:t>Open source on GitHub</a:t>
            </a:r>
            <a:endParaRPr lang="en-US" sz="2200" dirty="0"/>
          </a:p>
          <a:p>
            <a:pPr indent="0" marL="0">
              <a:buNone/>
            </a:pPr>
            <a:r>
              <a:rPr lang="en-US" sz="1600" dirty="0">
                <a:solidFill>
                  <a:schemeClr val="tx1"/>
                </a:solidFill>
              </a:rPr>
              <a:t>github.com/domdomxy/synkro</a:t>
            </a:r>
            <a:endParaRPr lang="en-US" sz="22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ircle outline"/>
          <p:cNvSpPr/>
          <p:nvPr/>
        </p:nvSpPr>
        <p:spPr>
          <a:xfrm>
            <a:off x="-4663440" y="-1325880"/>
            <a:ext cx="9509760" cy="9509760"/>
          </a:xfrm>
          <a:prstGeom prst="ellipse">
            <a:avLst/>
          </a:prstGeom>
          <a:solidFill>
            <a:schemeClr val="bg1"/>
          </a:solidFill>
          <a:ln w="19050">
            <a:solidFill>
              <a:schemeClr val="accent4"/>
            </a:solidFill>
            <a:prstDash val="solid"/>
          </a:ln>
        </p:spPr>
      </p:sp>
      <p:sp>
        <p:nvSpPr>
          <p:cNvPr id="3" name="Circle"/>
          <p:cNvSpPr/>
          <p:nvPr/>
        </p:nvSpPr>
        <p:spPr>
          <a:xfrm>
            <a:off x="-4297680" y="-960120"/>
            <a:ext cx="8778240" cy="8778240"/>
          </a:xfrm>
          <a:prstGeom prst="ellipse">
            <a:avLst/>
          </a:prstGeom>
          <a:solidFill>
            <a:schemeClr val="accent1"/>
          </a:solidFill>
          <a:ln w="12700">
            <a:solidFill>
              <a:schemeClr val="accent1"/>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477899" cy="237744"/>
          </a:xfrm>
          <a:prstGeom prst="rect">
            <a:avLst/>
          </a:prstGeom>
          <a:solidFill>
            <a:schemeClr val="accent1"/>
          </a:solidFill>
          <a:ln w="12700">
            <a:solidFill>
              <a:schemeClr val="accent1"/>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fill 8"/>
          <p:cNvSpPr/>
          <p:nvPr/>
        </p:nvSpPr>
        <p:spPr>
          <a:xfrm>
            <a:off x="10688193" y="6510528"/>
            <a:ext cx="1108424" cy="237744"/>
          </a:xfrm>
          <a:prstGeom prst="rect">
            <a:avLst/>
          </a:prstGeom>
          <a:solidFill>
            <a:schemeClr val="accent4"/>
          </a:solidFill>
          <a:ln w="12700">
            <a:solidFill>
              <a:schemeClr val="accent4"/>
            </a:solidFill>
            <a:prstDash val="solid"/>
          </a:ln>
        </p:spPr>
      </p:sp>
      <p:sp>
        <p:nvSpPr>
          <p:cNvPr id="28"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Conclusion &amp; perspectives</a:t>
            </a:r>
            <a:endParaRPr lang="en-US" sz="1000" dirty="0"/>
          </a:p>
        </p:txBody>
      </p:sp>
      <p:sp>
        <p:nvSpPr>
          <p:cNvPr id="29" name="Number badge"/>
          <p:cNvSpPr/>
          <p:nvPr/>
        </p:nvSpPr>
        <p:spPr>
          <a:xfrm>
            <a:off x="11338560" y="274320"/>
            <a:ext cx="457200" cy="457200"/>
          </a:xfrm>
          <a:prstGeom prst="ellipse">
            <a:avLst/>
          </a:prstGeom>
          <a:solidFill>
            <a:schemeClr val="accent1"/>
          </a:solidFill>
          <a:ln w="19050">
            <a:solidFill>
              <a:schemeClr val="bg1"/>
            </a:solidFill>
            <a:prstDash val="solid"/>
          </a:ln>
        </p:spPr>
      </p:sp>
      <p:sp>
        <p:nvSpPr>
          <p:cNvPr id="30" name="Section kicker"/>
          <p:cNvSpPr txBox="1"/>
          <p:nvPr/>
        </p:nvSpPr>
        <p:spPr>
          <a:xfrm>
            <a:off x="502920" y="1874520"/>
            <a:ext cx="3566160" cy="320040"/>
          </a:xfrm>
          <a:prstGeom prst="rect">
            <a:avLst/>
          </a:prstGeom>
          <a:noFill/>
          <a:ln/>
        </p:spPr>
        <p:txBody>
          <a:bodyPr wrap="square" lIns="0" tIns="0" rIns="0" bIns="0" rtlCol="0" anchor="ctr"/>
          <a:lstStyle/>
          <a:p>
            <a:pPr indent="0" marL="0">
              <a:buNone/>
            </a:pPr>
            <a:r>
              <a:rPr lang="en-US" sz="1200" b="1" spc="200" kern="0" dirty="0">
                <a:solidFill>
                  <a:schemeClr val="accent4"/>
                </a:solidFill>
              </a:rPr>
              <a:t>08  ·  CONCLUSION &amp; PERSPECTIVES</a:t>
            </a:r>
            <a:endParaRPr lang="en-US" sz="1200" dirty="0"/>
          </a:p>
        </p:txBody>
      </p:sp>
      <p:sp>
        <p:nvSpPr>
          <p:cNvPr id="31" name="Title"/>
          <p:cNvSpPr txBox="1"/>
          <p:nvPr/>
        </p:nvSpPr>
        <p:spPr>
          <a:xfrm>
            <a:off x="502920" y="2240280"/>
            <a:ext cx="3474720" cy="1554480"/>
          </a:xfrm>
          <a:prstGeom prst="rect">
            <a:avLst/>
          </a:prstGeom>
          <a:noFill/>
          <a:ln/>
        </p:spPr>
        <p:txBody>
          <a:bodyPr wrap="square" lIns="0" tIns="0" rIns="0" bIns="0" rtlCol="0" anchor="t"/>
          <a:lstStyle/>
          <a:p>
            <a:pPr algn="l" indent="0" marL="0">
              <a:buNone/>
            </a:pPr>
            <a:r>
              <a:rPr lang="en-US" sz="3400" b="1" dirty="0">
                <a:solidFill>
                  <a:schemeClr val="bg1"/>
                </a:solidFill>
              </a:rPr>
              <a:t>Perspectives</a:t>
            </a:r>
            <a:endParaRPr lang="en-US" sz="3400" dirty="0"/>
          </a:p>
        </p:txBody>
      </p:sp>
      <p:sp>
        <p:nvSpPr>
          <p:cNvPr id="32" name="Card Security"/>
          <p:cNvSpPr/>
          <p:nvPr/>
        </p:nvSpPr>
        <p:spPr>
          <a:xfrm>
            <a:off x="5394960" y="777240"/>
            <a:ext cx="6309360" cy="1234440"/>
          </a:xfrm>
          <a:prstGeom prst="rect">
            <a:avLst/>
          </a:prstGeom>
          <a:solidFill>
            <a:schemeClr val="bg2"/>
          </a:solidFill>
          <a:ln w="12700">
            <a:solidFill>
              <a:schemeClr val="bg2"/>
            </a:solidFill>
            <a:prstDash val="solid"/>
          </a:ln>
        </p:spPr>
      </p:sp>
      <p:sp>
        <p:nvSpPr>
          <p:cNvPr id="33" name="Card bar Security"/>
          <p:cNvSpPr/>
          <p:nvPr/>
        </p:nvSpPr>
        <p:spPr>
          <a:xfrm>
            <a:off x="5394960" y="777240"/>
            <a:ext cx="82296" cy="1234440"/>
          </a:xfrm>
          <a:prstGeom prst="rect">
            <a:avLst/>
          </a:prstGeom>
          <a:solidFill>
            <a:schemeClr val="accent1"/>
          </a:solidFill>
          <a:ln w="12700">
            <a:solidFill>
              <a:schemeClr val="accent1"/>
            </a:solidFill>
            <a:prstDash val="solid"/>
          </a:ln>
        </p:spPr>
      </p:sp>
      <p:sp>
        <p:nvSpPr>
          <p:cNvPr id="34" name="Icon disc Security"/>
          <p:cNvSpPr/>
          <p:nvPr/>
        </p:nvSpPr>
        <p:spPr>
          <a:xfrm>
            <a:off x="5669280" y="1074420"/>
            <a:ext cx="640080" cy="640080"/>
          </a:xfrm>
          <a:prstGeom prst="ellipse">
            <a:avLst/>
          </a:prstGeom>
          <a:solidFill>
            <a:schemeClr val="accent1"/>
          </a:solidFill>
          <a:ln w="12700">
            <a:solidFill>
              <a:schemeClr val="accent1"/>
            </a:solidFill>
            <a:prstDash val="solid"/>
          </a:ln>
        </p:spPr>
      </p:sp>
      <p:pic>
        <p:nvPicPr>
          <p:cNvPr id="35" name="Image 0" descr="Security icon">    </p:cNvPr>
          <p:cNvPicPr>
            <a:picLocks noChangeAspect="1"/>
          </p:cNvPicPr>
          <p:nvPr/>
        </p:nvPicPr>
        <p:blipFill>
          <a:blip r:embed="rId1"/>
          <a:stretch>
            <a:fillRect/>
          </a:stretch>
        </p:blipFill>
        <p:spPr>
          <a:xfrm>
            <a:off x="5824728" y="1229868"/>
            <a:ext cx="329184" cy="329184"/>
          </a:xfrm>
          <a:prstGeom prst="rect">
            <a:avLst/>
          </a:prstGeom>
        </p:spPr>
      </p:pic>
      <p:sp>
        <p:nvSpPr>
          <p:cNvPr id="36" name="Card text Security"/>
          <p:cNvSpPr txBox="1"/>
          <p:nvPr/>
        </p:nvSpPr>
        <p:spPr>
          <a:xfrm>
            <a:off x="6492240" y="777240"/>
            <a:ext cx="5074920" cy="1234440"/>
          </a:xfrm>
          <a:prstGeom prst="rect">
            <a:avLst/>
          </a:prstGeom>
          <a:noFill/>
          <a:ln/>
        </p:spPr>
        <p:txBody>
          <a:bodyPr wrap="square" lIns="0" tIns="0" rIns="0" bIns="0" rtlCol="0" anchor="ctr"/>
          <a:lstStyle/>
          <a:p>
            <a:pPr indent="0" marL="0">
              <a:buNone/>
            </a:pPr>
            <a:r>
              <a:rPr lang="en-US" sz="1800" b="1" dirty="0">
                <a:solidFill>
                  <a:schemeClr val="accent1"/>
                </a:solidFill>
              </a:rPr>
              <a:t>Security</a:t>
            </a:r>
            <a:endParaRPr lang="en-US" sz="1800" dirty="0"/>
          </a:p>
          <a:p>
            <a:pPr indent="0" marL="0">
              <a:buNone/>
            </a:pPr>
            <a:r>
              <a:rPr lang="en-US" sz="1400" dirty="0">
                <a:solidFill>
                  <a:schemeClr val="tx1"/>
                </a:solidFill>
              </a:rPr>
              <a:t>Two-factor authentication, CAPTCHA, Google sign-in</a:t>
            </a:r>
            <a:endParaRPr lang="en-US" sz="1800" dirty="0"/>
          </a:p>
        </p:txBody>
      </p:sp>
      <p:sp>
        <p:nvSpPr>
          <p:cNvPr id="37" name="Card Communication"/>
          <p:cNvSpPr/>
          <p:nvPr/>
        </p:nvSpPr>
        <p:spPr>
          <a:xfrm>
            <a:off x="5394960" y="2148840"/>
            <a:ext cx="6309360" cy="1234440"/>
          </a:xfrm>
          <a:prstGeom prst="rect">
            <a:avLst/>
          </a:prstGeom>
          <a:solidFill>
            <a:schemeClr val="bg2"/>
          </a:solidFill>
          <a:ln w="12700">
            <a:solidFill>
              <a:schemeClr val="bg2"/>
            </a:solidFill>
            <a:prstDash val="solid"/>
          </a:ln>
        </p:spPr>
      </p:sp>
      <p:sp>
        <p:nvSpPr>
          <p:cNvPr id="38" name="Card bar Communication"/>
          <p:cNvSpPr/>
          <p:nvPr/>
        </p:nvSpPr>
        <p:spPr>
          <a:xfrm>
            <a:off x="5394960" y="2148840"/>
            <a:ext cx="82296" cy="1234440"/>
          </a:xfrm>
          <a:prstGeom prst="rect">
            <a:avLst/>
          </a:prstGeom>
          <a:solidFill>
            <a:schemeClr val="accent1"/>
          </a:solidFill>
          <a:ln w="12700">
            <a:solidFill>
              <a:schemeClr val="accent1"/>
            </a:solidFill>
            <a:prstDash val="solid"/>
          </a:ln>
        </p:spPr>
      </p:sp>
      <p:sp>
        <p:nvSpPr>
          <p:cNvPr id="39" name="Icon disc Communication"/>
          <p:cNvSpPr/>
          <p:nvPr/>
        </p:nvSpPr>
        <p:spPr>
          <a:xfrm>
            <a:off x="5669280" y="2446020"/>
            <a:ext cx="640080" cy="640080"/>
          </a:xfrm>
          <a:prstGeom prst="ellipse">
            <a:avLst/>
          </a:prstGeom>
          <a:solidFill>
            <a:schemeClr val="accent1"/>
          </a:solidFill>
          <a:ln w="12700">
            <a:solidFill>
              <a:schemeClr val="accent1"/>
            </a:solidFill>
            <a:prstDash val="solid"/>
          </a:ln>
        </p:spPr>
      </p:sp>
      <p:pic>
        <p:nvPicPr>
          <p:cNvPr id="40" name="Image 1" descr="Communication icon">    </p:cNvPr>
          <p:cNvPicPr>
            <a:picLocks noChangeAspect="1"/>
          </p:cNvPicPr>
          <p:nvPr/>
        </p:nvPicPr>
        <p:blipFill>
          <a:blip r:embed="rId2"/>
          <a:stretch>
            <a:fillRect/>
          </a:stretch>
        </p:blipFill>
        <p:spPr>
          <a:xfrm>
            <a:off x="5824728" y="2601468"/>
            <a:ext cx="329184" cy="329184"/>
          </a:xfrm>
          <a:prstGeom prst="rect">
            <a:avLst/>
          </a:prstGeom>
        </p:spPr>
      </p:pic>
      <p:sp>
        <p:nvSpPr>
          <p:cNvPr id="41" name="Card text Communication"/>
          <p:cNvSpPr txBox="1"/>
          <p:nvPr/>
        </p:nvSpPr>
        <p:spPr>
          <a:xfrm>
            <a:off x="6492240" y="2148840"/>
            <a:ext cx="5074920" cy="1234440"/>
          </a:xfrm>
          <a:prstGeom prst="rect">
            <a:avLst/>
          </a:prstGeom>
          <a:noFill/>
          <a:ln/>
        </p:spPr>
        <p:txBody>
          <a:bodyPr wrap="square" lIns="0" tIns="0" rIns="0" bIns="0" rtlCol="0" anchor="ctr"/>
          <a:lstStyle/>
          <a:p>
            <a:pPr indent="0" marL="0">
              <a:buNone/>
            </a:pPr>
            <a:r>
              <a:rPr lang="en-US" sz="1800" b="1" dirty="0">
                <a:solidFill>
                  <a:schemeClr val="accent1"/>
                </a:solidFill>
              </a:rPr>
              <a:t>Communication</a:t>
            </a:r>
            <a:endParaRPr lang="en-US" sz="1800" dirty="0"/>
          </a:p>
          <a:p>
            <a:pPr indent="0" marL="0">
              <a:buNone/>
            </a:pPr>
            <a:r>
              <a:rPr lang="en-US" sz="1400" dirty="0">
                <a:solidFill>
                  <a:schemeClr val="tx1"/>
                </a:solidFill>
              </a:rPr>
              <a:t>Direct and per-project messaging, chatbot assistant, superadmin announcements</a:t>
            </a:r>
            <a:endParaRPr lang="en-US" sz="1800" dirty="0"/>
          </a:p>
        </p:txBody>
      </p:sp>
      <p:sp>
        <p:nvSpPr>
          <p:cNvPr id="42" name="Card Moderation"/>
          <p:cNvSpPr/>
          <p:nvPr/>
        </p:nvSpPr>
        <p:spPr>
          <a:xfrm>
            <a:off x="5394960" y="3520440"/>
            <a:ext cx="6309360" cy="1234440"/>
          </a:xfrm>
          <a:prstGeom prst="rect">
            <a:avLst/>
          </a:prstGeom>
          <a:solidFill>
            <a:schemeClr val="bg2"/>
          </a:solidFill>
          <a:ln w="12700">
            <a:solidFill>
              <a:schemeClr val="bg2"/>
            </a:solidFill>
            <a:prstDash val="solid"/>
          </a:ln>
        </p:spPr>
      </p:sp>
      <p:sp>
        <p:nvSpPr>
          <p:cNvPr id="43" name="Card bar Moderation"/>
          <p:cNvSpPr/>
          <p:nvPr/>
        </p:nvSpPr>
        <p:spPr>
          <a:xfrm>
            <a:off x="5394960" y="3520440"/>
            <a:ext cx="82296" cy="1234440"/>
          </a:xfrm>
          <a:prstGeom prst="rect">
            <a:avLst/>
          </a:prstGeom>
          <a:solidFill>
            <a:schemeClr val="accent1"/>
          </a:solidFill>
          <a:ln w="12700">
            <a:solidFill>
              <a:schemeClr val="accent1"/>
            </a:solidFill>
            <a:prstDash val="solid"/>
          </a:ln>
        </p:spPr>
      </p:sp>
      <p:sp>
        <p:nvSpPr>
          <p:cNvPr id="44" name="Icon disc Moderation"/>
          <p:cNvSpPr/>
          <p:nvPr/>
        </p:nvSpPr>
        <p:spPr>
          <a:xfrm>
            <a:off x="5669280" y="3817620"/>
            <a:ext cx="640080" cy="640080"/>
          </a:xfrm>
          <a:prstGeom prst="ellipse">
            <a:avLst/>
          </a:prstGeom>
          <a:solidFill>
            <a:schemeClr val="accent1"/>
          </a:solidFill>
          <a:ln w="12700">
            <a:solidFill>
              <a:schemeClr val="accent1"/>
            </a:solidFill>
            <a:prstDash val="solid"/>
          </a:ln>
        </p:spPr>
      </p:sp>
      <p:pic>
        <p:nvPicPr>
          <p:cNvPr id="45" name="Image 2" descr="Moderation icon">    </p:cNvPr>
          <p:cNvPicPr>
            <a:picLocks noChangeAspect="1"/>
          </p:cNvPicPr>
          <p:nvPr/>
        </p:nvPicPr>
        <p:blipFill>
          <a:blip r:embed="rId3"/>
          <a:stretch>
            <a:fillRect/>
          </a:stretch>
        </p:blipFill>
        <p:spPr>
          <a:xfrm>
            <a:off x="5824728" y="3973068"/>
            <a:ext cx="329184" cy="329184"/>
          </a:xfrm>
          <a:prstGeom prst="rect">
            <a:avLst/>
          </a:prstGeom>
        </p:spPr>
      </p:pic>
      <p:sp>
        <p:nvSpPr>
          <p:cNvPr id="46" name="Card text Moderation"/>
          <p:cNvSpPr txBox="1"/>
          <p:nvPr/>
        </p:nvSpPr>
        <p:spPr>
          <a:xfrm>
            <a:off x="6492240" y="3520440"/>
            <a:ext cx="5074920" cy="1234440"/>
          </a:xfrm>
          <a:prstGeom prst="rect">
            <a:avLst/>
          </a:prstGeom>
          <a:noFill/>
          <a:ln/>
        </p:spPr>
        <p:txBody>
          <a:bodyPr wrap="square" lIns="0" tIns="0" rIns="0" bIns="0" rtlCol="0" anchor="ctr"/>
          <a:lstStyle/>
          <a:p>
            <a:pPr indent="0" marL="0">
              <a:buNone/>
            </a:pPr>
            <a:r>
              <a:rPr lang="en-US" sz="1800" b="1" dirty="0">
                <a:solidFill>
                  <a:schemeClr val="accent1"/>
                </a:solidFill>
              </a:rPr>
              <a:t>Moderation</a:t>
            </a:r>
            <a:endParaRPr lang="en-US" sz="1800" dirty="0"/>
          </a:p>
          <a:p>
            <a:pPr indent="0" marL="0">
              <a:buNone/>
            </a:pPr>
            <a:r>
              <a:rPr lang="en-US" sz="1400" dirty="0">
                <a:solidFill>
                  <a:schemeClr val="tx1"/>
                </a:solidFill>
              </a:rPr>
              <a:t>Graduated warnings before a suspension</a:t>
            </a:r>
            <a:endParaRPr lang="en-US" sz="1800" dirty="0"/>
          </a:p>
        </p:txBody>
      </p:sp>
      <p:sp>
        <p:nvSpPr>
          <p:cNvPr id="47" name="Card Product"/>
          <p:cNvSpPr/>
          <p:nvPr/>
        </p:nvSpPr>
        <p:spPr>
          <a:xfrm>
            <a:off x="5394960" y="4892040"/>
            <a:ext cx="6309360" cy="1234440"/>
          </a:xfrm>
          <a:prstGeom prst="rect">
            <a:avLst/>
          </a:prstGeom>
          <a:solidFill>
            <a:schemeClr val="bg2"/>
          </a:solidFill>
          <a:ln w="12700">
            <a:solidFill>
              <a:schemeClr val="bg2"/>
            </a:solidFill>
            <a:prstDash val="solid"/>
          </a:ln>
        </p:spPr>
      </p:sp>
      <p:sp>
        <p:nvSpPr>
          <p:cNvPr id="48" name="Card bar Product"/>
          <p:cNvSpPr/>
          <p:nvPr/>
        </p:nvSpPr>
        <p:spPr>
          <a:xfrm>
            <a:off x="5394960" y="4892040"/>
            <a:ext cx="82296" cy="1234440"/>
          </a:xfrm>
          <a:prstGeom prst="rect">
            <a:avLst/>
          </a:prstGeom>
          <a:solidFill>
            <a:schemeClr val="accent1"/>
          </a:solidFill>
          <a:ln w="12700">
            <a:solidFill>
              <a:schemeClr val="accent1"/>
            </a:solidFill>
            <a:prstDash val="solid"/>
          </a:ln>
        </p:spPr>
      </p:sp>
      <p:sp>
        <p:nvSpPr>
          <p:cNvPr id="49" name="Icon disc Product"/>
          <p:cNvSpPr/>
          <p:nvPr/>
        </p:nvSpPr>
        <p:spPr>
          <a:xfrm>
            <a:off x="5669280" y="5189220"/>
            <a:ext cx="640080" cy="640080"/>
          </a:xfrm>
          <a:prstGeom prst="ellipse">
            <a:avLst/>
          </a:prstGeom>
          <a:solidFill>
            <a:schemeClr val="accent1"/>
          </a:solidFill>
          <a:ln w="12700">
            <a:solidFill>
              <a:schemeClr val="accent1"/>
            </a:solidFill>
            <a:prstDash val="solid"/>
          </a:ln>
        </p:spPr>
      </p:sp>
      <p:pic>
        <p:nvPicPr>
          <p:cNvPr id="50" name="Image 3" descr="Product icon">    </p:cNvPr>
          <p:cNvPicPr>
            <a:picLocks noChangeAspect="1"/>
          </p:cNvPicPr>
          <p:nvPr/>
        </p:nvPicPr>
        <p:blipFill>
          <a:blip r:embed="rId4"/>
          <a:stretch>
            <a:fillRect/>
          </a:stretch>
        </p:blipFill>
        <p:spPr>
          <a:xfrm>
            <a:off x="5824728" y="5344668"/>
            <a:ext cx="329184" cy="329184"/>
          </a:xfrm>
          <a:prstGeom prst="rect">
            <a:avLst/>
          </a:prstGeom>
        </p:spPr>
      </p:pic>
      <p:sp>
        <p:nvSpPr>
          <p:cNvPr id="51" name="Card text Product"/>
          <p:cNvSpPr txBox="1"/>
          <p:nvPr/>
        </p:nvSpPr>
        <p:spPr>
          <a:xfrm>
            <a:off x="6492240" y="4892040"/>
            <a:ext cx="5074920" cy="1234440"/>
          </a:xfrm>
          <a:prstGeom prst="rect">
            <a:avLst/>
          </a:prstGeom>
          <a:noFill/>
          <a:ln/>
        </p:spPr>
        <p:txBody>
          <a:bodyPr wrap="square" lIns="0" tIns="0" rIns="0" bIns="0" rtlCol="0" anchor="ctr"/>
          <a:lstStyle/>
          <a:p>
            <a:pPr indent="0" marL="0">
              <a:buNone/>
            </a:pPr>
            <a:r>
              <a:rPr lang="en-US" sz="1800" b="1" dirty="0">
                <a:solidFill>
                  <a:schemeClr val="accent1"/>
                </a:solidFill>
              </a:rPr>
              <a:t>Product</a:t>
            </a:r>
            <a:endParaRPr lang="en-US" sz="1800" dirty="0"/>
          </a:p>
          <a:p>
            <a:pPr indent="0" marL="0">
              <a:buNone/>
            </a:pPr>
            <a:r>
              <a:rPr lang="en-US" sz="1400" dirty="0">
                <a:solidFill>
                  <a:schemeClr val="tx1"/>
                </a:solidFill>
              </a:rPr>
              <a:t>Search across all projects, custom project roles, public profiles for open-source projects</a:t>
            </a:r>
            <a:endParaRPr lang="en-US" sz="1800" dirty="0"/>
          </a:p>
        </p:txBody>
      </p:sp>
      <p:sp>
        <p:nvSpPr>
          <p:cNvPr id="25" name="Slide Number Placeholder 0"/>
          <p:cNvSpPr>
            <a:spLocks noGrp="1"/>
          </p:cNvSpPr>
          <p:nvPr>
            <p:ph type="sldNum" sz="quarter" idx="4294967295"/>
          </p:nvPr>
        </p:nvSpPr>
        <p:spPr>
          <a:xfrm>
            <a:off x="11338560" y="274320"/>
            <a:ext cx="457200" cy="45720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ircle large"/>
          <p:cNvSpPr/>
          <p:nvPr/>
        </p:nvSpPr>
        <p:spPr>
          <a:xfrm>
            <a:off x="7132320" y="-2011680"/>
            <a:ext cx="7863840" cy="7863840"/>
          </a:xfrm>
          <a:prstGeom prst="ellipse">
            <a:avLst/>
          </a:prstGeom>
          <a:solidFill>
            <a:schemeClr val="accent3"/>
          </a:solidFill>
          <a:ln w="12700">
            <a:solidFill>
              <a:schemeClr val="accent3"/>
            </a:solidFill>
            <a:prstDash val="solid"/>
          </a:ln>
        </p:spPr>
      </p:sp>
      <p:sp>
        <p:nvSpPr>
          <p:cNvPr id="3" name="Circle small"/>
          <p:cNvSpPr/>
          <p:nvPr/>
        </p:nvSpPr>
        <p:spPr>
          <a:xfrm>
            <a:off x="-2377440" y="4023360"/>
            <a:ext cx="5120640" cy="5120640"/>
          </a:xfrm>
          <a:prstGeom prst="ellipse">
            <a:avLst/>
          </a:prstGeom>
          <a:solidFill>
            <a:schemeClr val="accent2"/>
          </a:solidFill>
          <a:ln w="12700">
            <a:solidFill>
              <a:schemeClr val="accent2"/>
            </a:solidFill>
            <a:prstDash val="solid"/>
          </a:ln>
        </p:spPr>
      </p:sp>
      <p:sp>
        <p:nvSpPr>
          <p:cNvPr id="4" name="Footer strip"/>
          <p:cNvSpPr/>
          <p:nvPr/>
        </p:nvSpPr>
        <p:spPr>
          <a:xfrm>
            <a:off x="0" y="6455664"/>
            <a:ext cx="12188952" cy="402336"/>
          </a:xfrm>
          <a:prstGeom prst="rect">
            <a:avLst/>
          </a:prstGeom>
          <a:solidFill>
            <a:schemeClr val="bg1"/>
          </a:solidFill>
          <a:ln w="12700">
            <a:solidFill>
              <a:schemeClr val="bg1"/>
            </a:solidFill>
            <a:prstDash val="solid"/>
          </a:ln>
        </p:spPr>
      </p:sp>
      <p:sp>
        <p:nvSpPr>
          <p:cNvPr id="5" name="Progress track 1"/>
          <p:cNvSpPr/>
          <p:nvPr/>
        </p:nvSpPr>
        <p:spPr>
          <a:xfrm>
            <a:off x="22860" y="6510528"/>
            <a:ext cx="1477899" cy="237744"/>
          </a:xfrm>
          <a:prstGeom prst="rect">
            <a:avLst/>
          </a:prstGeom>
          <a:solidFill>
            <a:schemeClr val="bg2"/>
          </a:solidFill>
          <a:ln w="12700">
            <a:solidFill>
              <a:schemeClr val="bg2"/>
            </a:solidFill>
            <a:prstDash val="solid"/>
          </a:ln>
        </p:spPr>
      </p:sp>
      <p:sp>
        <p:nvSpPr>
          <p:cNvPr id="6" name="Progress fill 1"/>
          <p:cNvSpPr/>
          <p:nvPr/>
        </p:nvSpPr>
        <p:spPr>
          <a:xfrm>
            <a:off x="22860" y="6510528"/>
            <a:ext cx="1477899" cy="237744"/>
          </a:xfrm>
          <a:prstGeom prst="rect">
            <a:avLst/>
          </a:prstGeom>
          <a:solidFill>
            <a:schemeClr val="accent1"/>
          </a:solidFill>
          <a:ln w="12700">
            <a:solidFill>
              <a:schemeClr val="accent1"/>
            </a:solidFill>
            <a:prstDash val="solid"/>
          </a:ln>
        </p:spPr>
      </p:sp>
      <p:sp>
        <p:nvSpPr>
          <p:cNvPr id="7" name="Progress label 1"/>
          <p:cNvSpPr txBox="1"/>
          <p:nvPr/>
        </p:nvSpPr>
        <p:spPr>
          <a:xfrm>
            <a:off x="22860"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Introduction</a:t>
            </a:r>
            <a:endParaRPr lang="en-US" sz="1000" dirty="0"/>
          </a:p>
        </p:txBody>
      </p:sp>
      <p:sp>
        <p:nvSpPr>
          <p:cNvPr id="8" name="Progress track 2"/>
          <p:cNvSpPr/>
          <p:nvPr/>
        </p:nvSpPr>
        <p:spPr>
          <a:xfrm>
            <a:off x="1546479" y="6510528"/>
            <a:ext cx="1477899" cy="237744"/>
          </a:xfrm>
          <a:prstGeom prst="rect">
            <a:avLst/>
          </a:prstGeom>
          <a:solidFill>
            <a:schemeClr val="bg2"/>
          </a:solidFill>
          <a:ln w="12700">
            <a:solidFill>
              <a:schemeClr val="bg2"/>
            </a:solidFill>
            <a:prstDash val="solid"/>
          </a:ln>
        </p:spPr>
      </p:sp>
      <p:sp>
        <p:nvSpPr>
          <p:cNvPr id="9" name="Progress fill 2"/>
          <p:cNvSpPr/>
          <p:nvPr/>
        </p:nvSpPr>
        <p:spPr>
          <a:xfrm>
            <a:off x="1546479" y="6510528"/>
            <a:ext cx="1477899" cy="237744"/>
          </a:xfrm>
          <a:prstGeom prst="rect">
            <a:avLst/>
          </a:prstGeom>
          <a:solidFill>
            <a:schemeClr val="accent1"/>
          </a:solidFill>
          <a:ln w="12700">
            <a:solidFill>
              <a:schemeClr val="accent1"/>
            </a:solidFill>
            <a:prstDash val="solid"/>
          </a:ln>
        </p:spPr>
      </p:sp>
      <p:sp>
        <p:nvSpPr>
          <p:cNvPr id="10" name="Progress label 2"/>
          <p:cNvSpPr txBox="1"/>
          <p:nvPr/>
        </p:nvSpPr>
        <p:spPr>
          <a:xfrm>
            <a:off x="1546479"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Host organization</a:t>
            </a:r>
            <a:endParaRPr lang="en-US" sz="1000" dirty="0"/>
          </a:p>
        </p:txBody>
      </p:sp>
      <p:sp>
        <p:nvSpPr>
          <p:cNvPr id="11" name="Progress track 3"/>
          <p:cNvSpPr/>
          <p:nvPr/>
        </p:nvSpPr>
        <p:spPr>
          <a:xfrm>
            <a:off x="3070098" y="6510528"/>
            <a:ext cx="1477899" cy="237744"/>
          </a:xfrm>
          <a:prstGeom prst="rect">
            <a:avLst/>
          </a:prstGeom>
          <a:solidFill>
            <a:schemeClr val="bg2"/>
          </a:solidFill>
          <a:ln w="12700">
            <a:solidFill>
              <a:schemeClr val="bg2"/>
            </a:solidFill>
            <a:prstDash val="solid"/>
          </a:ln>
        </p:spPr>
      </p:sp>
      <p:sp>
        <p:nvSpPr>
          <p:cNvPr id="12" name="Progress fill 3"/>
          <p:cNvSpPr/>
          <p:nvPr/>
        </p:nvSpPr>
        <p:spPr>
          <a:xfrm>
            <a:off x="3070098" y="6510528"/>
            <a:ext cx="1477899" cy="237744"/>
          </a:xfrm>
          <a:prstGeom prst="rect">
            <a:avLst/>
          </a:prstGeom>
          <a:solidFill>
            <a:schemeClr val="accent1"/>
          </a:solidFill>
          <a:ln w="12700">
            <a:solidFill>
              <a:schemeClr val="accent1"/>
            </a:solidFill>
            <a:prstDash val="solid"/>
          </a:ln>
        </p:spPr>
      </p:sp>
      <p:sp>
        <p:nvSpPr>
          <p:cNvPr id="13" name="Progress label 3"/>
          <p:cNvSpPr txBox="1"/>
          <p:nvPr/>
        </p:nvSpPr>
        <p:spPr>
          <a:xfrm>
            <a:off x="3070098"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Problem statement</a:t>
            </a:r>
            <a:endParaRPr lang="en-US" sz="1000" dirty="0"/>
          </a:p>
        </p:txBody>
      </p:sp>
      <p:sp>
        <p:nvSpPr>
          <p:cNvPr id="14" name="Progress track 4"/>
          <p:cNvSpPr/>
          <p:nvPr/>
        </p:nvSpPr>
        <p:spPr>
          <a:xfrm>
            <a:off x="4593717" y="6510528"/>
            <a:ext cx="1477899" cy="237744"/>
          </a:xfrm>
          <a:prstGeom prst="rect">
            <a:avLst/>
          </a:prstGeom>
          <a:solidFill>
            <a:schemeClr val="bg2"/>
          </a:solidFill>
          <a:ln w="12700">
            <a:solidFill>
              <a:schemeClr val="bg2"/>
            </a:solidFill>
            <a:prstDash val="solid"/>
          </a:ln>
        </p:spPr>
      </p:sp>
      <p:sp>
        <p:nvSpPr>
          <p:cNvPr id="15" name="Progress fill 4"/>
          <p:cNvSpPr/>
          <p:nvPr/>
        </p:nvSpPr>
        <p:spPr>
          <a:xfrm>
            <a:off x="4593717" y="6510528"/>
            <a:ext cx="1477899" cy="237744"/>
          </a:xfrm>
          <a:prstGeom prst="rect">
            <a:avLst/>
          </a:prstGeom>
          <a:solidFill>
            <a:schemeClr val="accent1"/>
          </a:solidFill>
          <a:ln w="12700">
            <a:solidFill>
              <a:schemeClr val="accent1"/>
            </a:solidFill>
            <a:prstDash val="solid"/>
          </a:ln>
        </p:spPr>
      </p:sp>
      <p:sp>
        <p:nvSpPr>
          <p:cNvPr id="16" name="Progress label 4"/>
          <p:cNvSpPr txBox="1"/>
          <p:nvPr/>
        </p:nvSpPr>
        <p:spPr>
          <a:xfrm>
            <a:off x="4593717"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Solution</a:t>
            </a:r>
            <a:endParaRPr lang="en-US" sz="1000" dirty="0"/>
          </a:p>
        </p:txBody>
      </p:sp>
      <p:sp>
        <p:nvSpPr>
          <p:cNvPr id="17" name="Progress track 5"/>
          <p:cNvSpPr/>
          <p:nvPr/>
        </p:nvSpPr>
        <p:spPr>
          <a:xfrm>
            <a:off x="6117336" y="6510528"/>
            <a:ext cx="1477899" cy="237744"/>
          </a:xfrm>
          <a:prstGeom prst="rect">
            <a:avLst/>
          </a:prstGeom>
          <a:solidFill>
            <a:schemeClr val="bg2"/>
          </a:solidFill>
          <a:ln w="12700">
            <a:solidFill>
              <a:schemeClr val="bg2"/>
            </a:solidFill>
            <a:prstDash val="solid"/>
          </a:ln>
        </p:spPr>
      </p:sp>
      <p:sp>
        <p:nvSpPr>
          <p:cNvPr id="18" name="Progress fill 5"/>
          <p:cNvSpPr/>
          <p:nvPr/>
        </p:nvSpPr>
        <p:spPr>
          <a:xfrm>
            <a:off x="6117336" y="6510528"/>
            <a:ext cx="1477899" cy="237744"/>
          </a:xfrm>
          <a:prstGeom prst="rect">
            <a:avLst/>
          </a:prstGeom>
          <a:solidFill>
            <a:schemeClr val="accent1"/>
          </a:solidFill>
          <a:ln w="12700">
            <a:solidFill>
              <a:schemeClr val="accent1"/>
            </a:solidFill>
            <a:prstDash val="solid"/>
          </a:ln>
        </p:spPr>
      </p:sp>
      <p:sp>
        <p:nvSpPr>
          <p:cNvPr id="19" name="Progress label 5"/>
          <p:cNvSpPr txBox="1"/>
          <p:nvPr/>
        </p:nvSpPr>
        <p:spPr>
          <a:xfrm>
            <a:off x="6117336"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Objectives</a:t>
            </a:r>
            <a:endParaRPr lang="en-US" sz="1000" dirty="0"/>
          </a:p>
        </p:txBody>
      </p:sp>
      <p:sp>
        <p:nvSpPr>
          <p:cNvPr id="20" name="Progress track 6"/>
          <p:cNvSpPr/>
          <p:nvPr/>
        </p:nvSpPr>
        <p:spPr>
          <a:xfrm>
            <a:off x="7640955" y="6510528"/>
            <a:ext cx="1477899" cy="237744"/>
          </a:xfrm>
          <a:prstGeom prst="rect">
            <a:avLst/>
          </a:prstGeom>
          <a:solidFill>
            <a:schemeClr val="bg2"/>
          </a:solidFill>
          <a:ln w="12700">
            <a:solidFill>
              <a:schemeClr val="bg2"/>
            </a:solidFill>
            <a:prstDash val="solid"/>
          </a:ln>
        </p:spPr>
      </p:sp>
      <p:sp>
        <p:nvSpPr>
          <p:cNvPr id="21" name="Progress fill 6"/>
          <p:cNvSpPr/>
          <p:nvPr/>
        </p:nvSpPr>
        <p:spPr>
          <a:xfrm>
            <a:off x="7640955" y="6510528"/>
            <a:ext cx="1477899" cy="237744"/>
          </a:xfrm>
          <a:prstGeom prst="rect">
            <a:avLst/>
          </a:prstGeom>
          <a:solidFill>
            <a:schemeClr val="accent1"/>
          </a:solidFill>
          <a:ln w="12700">
            <a:solidFill>
              <a:schemeClr val="accent1"/>
            </a:solidFill>
            <a:prstDash val="solid"/>
          </a:ln>
        </p:spPr>
      </p:sp>
      <p:sp>
        <p:nvSpPr>
          <p:cNvPr id="22" name="Progress label 6"/>
          <p:cNvSpPr txBox="1"/>
          <p:nvPr/>
        </p:nvSpPr>
        <p:spPr>
          <a:xfrm>
            <a:off x="7640955"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Design</a:t>
            </a:r>
            <a:endParaRPr lang="en-US" sz="1000" dirty="0"/>
          </a:p>
        </p:txBody>
      </p:sp>
      <p:sp>
        <p:nvSpPr>
          <p:cNvPr id="23" name="Progress track 7"/>
          <p:cNvSpPr/>
          <p:nvPr/>
        </p:nvSpPr>
        <p:spPr>
          <a:xfrm>
            <a:off x="9164574" y="6510528"/>
            <a:ext cx="1477899" cy="237744"/>
          </a:xfrm>
          <a:prstGeom prst="rect">
            <a:avLst/>
          </a:prstGeom>
          <a:solidFill>
            <a:schemeClr val="bg2"/>
          </a:solidFill>
          <a:ln w="12700">
            <a:solidFill>
              <a:schemeClr val="bg2"/>
            </a:solidFill>
            <a:prstDash val="solid"/>
          </a:ln>
        </p:spPr>
      </p:sp>
      <p:sp>
        <p:nvSpPr>
          <p:cNvPr id="24" name="Progress fill 7"/>
          <p:cNvSpPr/>
          <p:nvPr/>
        </p:nvSpPr>
        <p:spPr>
          <a:xfrm>
            <a:off x="9164574" y="6510528"/>
            <a:ext cx="1477899" cy="237744"/>
          </a:xfrm>
          <a:prstGeom prst="rect">
            <a:avLst/>
          </a:prstGeom>
          <a:solidFill>
            <a:schemeClr val="accent1"/>
          </a:solidFill>
          <a:ln w="12700">
            <a:solidFill>
              <a:schemeClr val="accent1"/>
            </a:solidFill>
            <a:prstDash val="solid"/>
          </a:ln>
        </p:spPr>
      </p:sp>
      <p:sp>
        <p:nvSpPr>
          <p:cNvPr id="25" name="Progress label 7"/>
          <p:cNvSpPr txBox="1"/>
          <p:nvPr/>
        </p:nvSpPr>
        <p:spPr>
          <a:xfrm>
            <a:off x="9164574" y="6510528"/>
            <a:ext cx="1477899" cy="237744"/>
          </a:xfrm>
          <a:prstGeom prst="rect">
            <a:avLst/>
          </a:prstGeom>
          <a:noFill/>
          <a:ln/>
        </p:spPr>
        <p:txBody>
          <a:bodyPr wrap="square" lIns="0" tIns="0" rIns="0" bIns="0" rtlCol="0" anchor="ctr"/>
          <a:lstStyle/>
          <a:p>
            <a:pPr algn="ctr" indent="0" marL="0">
              <a:buNone/>
            </a:pPr>
            <a:r>
              <a:rPr lang="en-US" sz="1000" dirty="0">
                <a:solidFill>
                  <a:schemeClr val="bg1"/>
                </a:solidFill>
              </a:rPr>
              <a:t>Realisation</a:t>
            </a:r>
            <a:endParaRPr lang="en-US" sz="1000" dirty="0"/>
          </a:p>
        </p:txBody>
      </p:sp>
      <p:sp>
        <p:nvSpPr>
          <p:cNvPr id="26" name="Progress track 8"/>
          <p:cNvSpPr/>
          <p:nvPr/>
        </p:nvSpPr>
        <p:spPr>
          <a:xfrm>
            <a:off x="10688193" y="6510528"/>
            <a:ext cx="1477899" cy="237744"/>
          </a:xfrm>
          <a:prstGeom prst="rect">
            <a:avLst/>
          </a:prstGeom>
          <a:solidFill>
            <a:schemeClr val="bg2"/>
          </a:solidFill>
          <a:ln w="12700">
            <a:solidFill>
              <a:schemeClr val="bg2"/>
            </a:solidFill>
            <a:prstDash val="solid"/>
          </a:ln>
        </p:spPr>
      </p:sp>
      <p:sp>
        <p:nvSpPr>
          <p:cNvPr id="27" name="Progress fill 8"/>
          <p:cNvSpPr/>
          <p:nvPr/>
        </p:nvSpPr>
        <p:spPr>
          <a:xfrm>
            <a:off x="10688193" y="6510528"/>
            <a:ext cx="1477899" cy="237744"/>
          </a:xfrm>
          <a:prstGeom prst="rect">
            <a:avLst/>
          </a:prstGeom>
          <a:solidFill>
            <a:schemeClr val="accent4"/>
          </a:solidFill>
          <a:ln w="12700">
            <a:solidFill>
              <a:schemeClr val="accent4"/>
            </a:solidFill>
            <a:prstDash val="solid"/>
          </a:ln>
        </p:spPr>
      </p:sp>
      <p:sp>
        <p:nvSpPr>
          <p:cNvPr id="28" name="Progress label 8"/>
          <p:cNvSpPr txBox="1"/>
          <p:nvPr/>
        </p:nvSpPr>
        <p:spPr>
          <a:xfrm>
            <a:off x="10688193" y="6510528"/>
            <a:ext cx="1477899" cy="237744"/>
          </a:xfrm>
          <a:prstGeom prst="rect">
            <a:avLst/>
          </a:prstGeom>
          <a:noFill/>
          <a:ln/>
        </p:spPr>
        <p:txBody>
          <a:bodyPr wrap="square" lIns="0" tIns="0" rIns="0" bIns="0" rtlCol="0" anchor="ctr"/>
          <a:lstStyle/>
          <a:p>
            <a:pPr algn="ctr" indent="0" marL="0">
              <a:buNone/>
            </a:pPr>
            <a:r>
              <a:rPr lang="en-US" sz="1000" b="1" dirty="0">
                <a:solidFill>
                  <a:schemeClr val="accent3"/>
                </a:solidFill>
              </a:rPr>
              <a:t>Conclusion &amp; perspectives</a:t>
            </a:r>
            <a:endParaRPr lang="en-US" sz="1000" dirty="0"/>
          </a:p>
        </p:txBody>
      </p:sp>
      <p:sp>
        <p:nvSpPr>
          <p:cNvPr id="29" name="Text 27"/>
          <p:cNvSpPr txBox="1"/>
          <p:nvPr/>
        </p:nvSpPr>
        <p:spPr>
          <a:xfrm>
            <a:off x="822960" y="2011680"/>
            <a:ext cx="8229600" cy="1097280"/>
          </a:xfrm>
          <a:prstGeom prst="rect">
            <a:avLst/>
          </a:prstGeom>
          <a:noFill/>
          <a:ln/>
        </p:spPr>
        <p:txBody>
          <a:bodyPr wrap="square" lIns="0" tIns="0" rIns="0" bIns="0" rtlCol="0" anchor="ctr"/>
          <a:lstStyle/>
          <a:p>
            <a:pPr indent="0" marL="0">
              <a:buNone/>
            </a:pPr>
            <a:r>
              <a:rPr lang="en-US" sz="4400" b="1" dirty="0">
                <a:solidFill>
                  <a:schemeClr val="bg1"/>
                </a:solidFill>
              </a:rPr>
              <a:t>Thank you for your attention</a:t>
            </a:r>
            <a:endParaRPr lang="en-US" sz="4400" dirty="0"/>
          </a:p>
        </p:txBody>
      </p:sp>
      <p:sp>
        <p:nvSpPr>
          <p:cNvPr id="30" name="Text 28"/>
          <p:cNvSpPr txBox="1"/>
          <p:nvPr/>
        </p:nvSpPr>
        <p:spPr>
          <a:xfrm>
            <a:off x="822960" y="3200400"/>
            <a:ext cx="8229600" cy="548640"/>
          </a:xfrm>
          <a:prstGeom prst="rect">
            <a:avLst/>
          </a:prstGeom>
          <a:noFill/>
          <a:ln/>
        </p:spPr>
        <p:txBody>
          <a:bodyPr wrap="square" lIns="0" tIns="0" rIns="0" bIns="0" rtlCol="0" anchor="ctr"/>
          <a:lstStyle/>
          <a:p>
            <a:pPr indent="0" marL="0">
              <a:buNone/>
            </a:pPr>
            <a:r>
              <a:rPr lang="en-US" sz="2400" dirty="0">
                <a:solidFill>
                  <a:schemeClr val="accent4"/>
                </a:solidFill>
              </a:rPr>
              <a:t>Questions &amp; discussion</a:t>
            </a:r>
            <a:endParaRPr lang="en-US" sz="2400" dirty="0"/>
          </a:p>
        </p:txBody>
      </p:sp>
      <p:sp>
        <p:nvSpPr>
          <p:cNvPr id="31" name="Text 29"/>
          <p:cNvSpPr txBox="1"/>
          <p:nvPr/>
        </p:nvSpPr>
        <p:spPr>
          <a:xfrm>
            <a:off x="822960" y="5394960"/>
            <a:ext cx="8229600" cy="365760"/>
          </a:xfrm>
          <a:prstGeom prst="rect">
            <a:avLst/>
          </a:prstGeom>
          <a:noFill/>
          <a:ln/>
        </p:spPr>
        <p:txBody>
          <a:bodyPr wrap="square" lIns="0" tIns="0" rIns="0" bIns="0" rtlCol="0" anchor="ctr"/>
          <a:lstStyle/>
          <a:p>
            <a:pPr indent="0" marL="0">
              <a:buNone/>
            </a:pPr>
            <a:r>
              <a:rPr lang="en-US" sz="1400" dirty="0">
                <a:solidFill>
                  <a:schemeClr val="bg1"/>
                </a:solidFill>
              </a:rPr>
              <a:t>Adem Ouerhani · Synkro · ISLAIB, Licence GLSI, 2025 – 2026</a:t>
            </a:r>
            <a:endParaRPr lang="en-US" sz="1400" dirty="0"/>
          </a:p>
        </p:txBody>
      </p:sp>
    </p:spTree>
  </p:cSld>
  <p:clrMapOvr>
    <a:masterClrMapping/>
  </p:clrMapOvr>
</p:sld>
</file>

<file path=ppt/theme/theme1.xml><?xml version="1.0" encoding="utf-8"?>
<a:theme xmlns:a="http://schemas.openxmlformats.org/drawingml/2006/main" name="Synkro Defense">
  <a:themeElements>
    <a:clrScheme name="Synkro Defense">
      <a:dk1>
        <a:srgbClr val="1F2A37"/>
      </a:dk1>
      <a:lt1>
        <a:srgbClr val="FFFFFF"/>
      </a:lt1>
      <a:dk2>
        <a:srgbClr val="0F3C70"/>
      </a:dk2>
      <a:lt2>
        <a:srgbClr val="EAF1F9"/>
      </a:lt2>
      <a:accent1>
        <a:srgbClr val="1B5FA6"/>
      </a:accent1>
      <a:accent2>
        <a:srgbClr val="4A90D9"/>
      </a:accent2>
      <a:accent3>
        <a:srgbClr val="0F3C70"/>
      </a:accent3>
      <a:accent4>
        <a:srgbClr val="9CC3EB"/>
      </a:accent4>
      <a:accent5>
        <a:srgbClr val="E8A33D"/>
      </a:accent5>
      <a:accent6>
        <a:srgbClr val="2E9E7B"/>
      </a:accent6>
      <a:hlink>
        <a:srgbClr val="1B5FA6"/>
      </a:hlink>
      <a:folHlink>
        <a:srgbClr val="5A6B7C"/>
      </a:folHlink>
    </a:clrScheme>
    <a:fontScheme name="Synkro Defen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Synkro - PFA Defense</dc:title>
  <dc:subject>PptxGenJS Presentation</dc:subject>
  <dc:creator>Adem Ouerhani</dc:creator>
  <cp:lastModifiedBy>Adem Ouerhani</cp:lastModifiedBy>
  <cp:revision>1</cp:revision>
  <dcterms:created xsi:type="dcterms:W3CDTF">2026-10-13T18:47:32Z</dcterms:created>
  <dcterms:modified xsi:type="dcterms:W3CDTF">2026-10-13T18:47:32Z</dcterms:modified>
</cp:coreProperties>
</file>