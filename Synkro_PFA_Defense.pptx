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Synkro board illustration" descr="Illustration of the Synkro Kanban board with To Do, In Progress, In Review and Done columns"/>
          <p:cNvGrpSpPr/>
          <p:nvPr/>
        </p:nvGrpSpPr>
        <p:grpSpPr>
          <a:xfrm>
            <a:off x="6900000" y="1350000"/>
            <a:ext cx="4651615" cy="4365000"/>
            <a:chOff x="6900000" y="1350000"/>
            <a:chExt cx="4651615" cy="4365000"/>
          </a:xfrm>
        </p:grpSpPr>
        <p:sp>
          <p:nvSpPr>
            <p:cNvPr id="215" name="Board panel"/>
            <p:cNvSpPr/>
            <p:nvPr/>
          </p:nvSpPr>
          <p:spPr>
            <a:xfrm>
              <a:off x="6900000" y="1350000"/>
              <a:ext cx="4651615" cy="4365000"/>
            </a:xfrm>
            <a:prstGeom prst="roundRect">
              <a:avLst>
                <a:gd name="adj" fmla="val 2749"/>
              </a:avLst>
            </a:prstGeom>
            <a:solidFill>
              <a:srgbClr val="F4F5FA"/>
            </a:solidFill>
            <a:ln w="15875">
              <a:solidFill>
                <a:srgbClr val="9AA0B4"/>
              </a:solidFill>
            </a:ln>
          </p:spPr>
        </p:sp>
        <p:sp>
          <p:nvSpPr>
            <p:cNvPr id="209" name="Board title"/>
            <p:cNvSpPr txBox="1"/>
            <p:nvPr/>
          </p:nvSpPr>
          <p:spPr>
            <a:xfrm>
              <a:off x="7040000" y="1510000"/>
              <a:ext cx="1800000" cy="28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/>
            <a:lstStyle/>
            <a:p>
              <a:pPr algn="l"/>
              <a:r>
                <a:rPr lang="en-US" sz="1100" b="1" dirty="0">
                  <a:solidFill>
                    <a:srgbClr val="1E202B"/>
                  </a:solidFill>
                  <a:latin typeface="Calibri"/>
                  <a:cs typeface="Calibri"/>
                </a:rPr>
                <a:t>Project board</a:t>
              </a:r>
            </a:p>
          </p:txBody>
        </p:sp>
        <p:sp>
          <p:nvSpPr>
            <p:cNvPr id="210" name="Member 1"/>
            <p:cNvSpPr/>
            <p:nvPr/>
          </p:nvSpPr>
          <p:spPr>
            <a:xfrm>
              <a:off x="10851615" y="1530000"/>
              <a:ext cx="240000" cy="240000"/>
            </a:xfrm>
            <a:prstGeom prst="ellipse">
              <a:avLst/>
            </a:prstGeom>
            <a:solidFill>
              <a:srgbClr val="6366F1"/>
            </a:solidFill>
            <a:ln w="19050">
              <a:solidFill>
                <a:srgbClr val="F4F5FA"/>
              </a:solidFill>
            </a:ln>
          </p:spPr>
        </p:sp>
        <p:sp>
          <p:nvSpPr>
            <p:cNvPr id="211" name="Member 2"/>
            <p:cNvSpPr/>
            <p:nvPr/>
          </p:nvSpPr>
          <p:spPr>
            <a:xfrm>
              <a:off x="11011615" y="1530000"/>
              <a:ext cx="240000" cy="240000"/>
            </a:xfrm>
            <a:prstGeom prst="ellipse">
              <a:avLst/>
            </a:prstGeom>
            <a:solidFill>
              <a:srgbClr val="14B8A6"/>
            </a:solidFill>
            <a:ln w="19050">
              <a:solidFill>
                <a:srgbClr val="F4F5FA"/>
              </a:solidFill>
            </a:ln>
          </p:spPr>
        </p:sp>
        <p:sp>
          <p:nvSpPr>
            <p:cNvPr id="212" name="Member 3"/>
            <p:cNvSpPr/>
            <p:nvPr/>
          </p:nvSpPr>
          <p:spPr>
            <a:xfrm>
              <a:off x="11171615" y="1530000"/>
              <a:ext cx="240000" cy="240000"/>
            </a:xfrm>
            <a:prstGeom prst="ellipse">
              <a:avLst/>
            </a:prstGeom>
            <a:solidFill>
              <a:srgbClr val="EC4899"/>
            </a:solidFill>
            <a:ln w="19050">
              <a:solidFill>
                <a:srgbClr val="F4F5FA"/>
              </a:solidFill>
            </a:ln>
          </p:spPr>
        </p:sp>
        <p:sp>
          <p:nvSpPr>
            <p:cNvPr id="213" name="Live dot"/>
            <p:cNvSpPr/>
            <p:nvPr/>
          </p:nvSpPr>
          <p:spPr>
            <a:xfrm>
              <a:off x="10241615" y="1610000"/>
              <a:ext cx="80000" cy="80000"/>
            </a:xfrm>
            <a:prstGeom prst="ellipse">
              <a:avLst/>
            </a:prstGeom>
            <a:solidFill>
              <a:srgbClr val="22C55E"/>
            </a:solidFill>
            <a:ln>
              <a:noFill/>
            </a:ln>
          </p:spPr>
        </p:sp>
        <p:sp>
          <p:nvSpPr>
            <p:cNvPr id="214" name="Live label"/>
            <p:cNvSpPr txBox="1"/>
            <p:nvPr/>
          </p:nvSpPr>
          <p:spPr>
            <a:xfrm>
              <a:off x="10371615" y="1510000"/>
              <a:ext cx="320000" cy="28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/>
            <a:lstStyle/>
            <a:p>
              <a:pPr algn="l"/>
              <a:r>
                <a:rPr lang="en-US" sz="1000" b="0" dirty="0">
                  <a:solidFill>
                    <a:srgbClr val="484C5C"/>
                  </a:solidFill>
                  <a:latin typeface="Calibri"/>
                  <a:cs typeface="Calibri"/>
                </a:rPr>
                <a:t>Live</a:t>
              </a:r>
            </a:p>
          </p:txBody>
        </p:sp>
        <p:grpSp>
          <p:nvGrpSpPr>
            <p:cNvPr id="132" name="Column – To Do"/>
            <p:cNvGrpSpPr/>
            <p:nvPr/>
          </p:nvGrpSpPr>
          <p:grpSpPr>
            <a:xfrm>
              <a:off x="7040000" y="1950000"/>
              <a:ext cx="1025404" cy="3625000"/>
              <a:chOff x="7040000" y="1950000"/>
              <a:chExt cx="1025404" cy="3625000"/>
            </a:xfrm>
          </p:grpSpPr>
          <p:sp>
            <p:nvSpPr>
              <p:cNvPr id="101" name="Column To Do"/>
              <p:cNvSpPr/>
              <p:nvPr/>
            </p:nvSpPr>
            <p:spPr>
              <a:xfrm>
                <a:off x="7040000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02" name="Status dot"/>
              <p:cNvSpPr/>
              <p:nvPr/>
            </p:nvSpPr>
            <p:spPr>
              <a:xfrm>
                <a:off x="7140000" y="2095000"/>
                <a:ext cx="90000" cy="90000"/>
              </a:xfrm>
              <a:prstGeom prst="ellipse">
                <a:avLst/>
              </a:prstGeom>
              <a:solidFill>
                <a:srgbClr val="6B7194"/>
              </a:solidFill>
              <a:ln>
                <a:noFill/>
              </a:ln>
            </p:spPr>
          </p:sp>
          <p:sp>
            <p:nvSpPr>
              <p:cNvPr id="103" name="Column label"/>
              <p:cNvSpPr txBox="1"/>
              <p:nvPr/>
            </p:nvSpPr>
            <p:spPr>
              <a:xfrm>
                <a:off x="7300000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To Do</a:t>
                </a:r>
              </a:p>
            </p:txBody>
          </p:sp>
          <p:grpSp>
            <p:nvGrpSpPr>
              <p:cNvPr id="110" name="Task card"/>
              <p:cNvGrpSpPr/>
              <p:nvPr/>
            </p:nvGrpSpPr>
            <p:grpSpPr>
              <a:xfrm>
                <a:off x="7115000" y="2370000"/>
                <a:ext cx="875404" cy="680000"/>
                <a:chOff x="7115000" y="2370000"/>
                <a:chExt cx="875404" cy="680000"/>
              </a:xfrm>
            </p:grpSpPr>
            <p:sp>
              <p:nvSpPr>
                <p:cNvPr id="104" name="Card"/>
                <p:cNvSpPr/>
                <p:nvPr/>
              </p:nvSpPr>
              <p:spPr>
                <a:xfrm>
                  <a:off x="7115000" y="237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05" name="Tag"/>
                <p:cNvSpPr/>
                <p:nvPr/>
              </p:nvSpPr>
              <p:spPr>
                <a:xfrm>
                  <a:off x="7205000" y="247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06" name="Title line"/>
                <p:cNvSpPr/>
                <p:nvPr/>
              </p:nvSpPr>
              <p:spPr>
                <a:xfrm>
                  <a:off x="7205000" y="2610000"/>
                  <a:ext cx="6944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07" name="Detail line"/>
                <p:cNvSpPr/>
                <p:nvPr/>
              </p:nvSpPr>
              <p:spPr>
                <a:xfrm>
                  <a:off x="7205000" y="2710000"/>
                  <a:ext cx="448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08" name="Checklist track"/>
                <p:cNvSpPr/>
                <p:nvPr/>
              </p:nvSpPr>
              <p:spPr>
                <a:xfrm>
                  <a:off x="7205000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09" name="Assignee"/>
                <p:cNvSpPr/>
                <p:nvPr/>
              </p:nvSpPr>
              <p:spPr>
                <a:xfrm>
                  <a:off x="7760404" y="2840000"/>
                  <a:ext cx="140000" cy="140000"/>
                </a:xfrm>
                <a:prstGeom prst="ellipse">
                  <a:avLst/>
                </a:prstGeom>
                <a:solidFill>
                  <a:srgbClr val="6366F1"/>
                </a:solidFill>
                <a:ln>
                  <a:noFill/>
                </a:ln>
              </p:spPr>
            </p:sp>
          </p:grpSp>
          <p:grpSp>
            <p:nvGrpSpPr>
              <p:cNvPr id="117" name="Task card"/>
              <p:cNvGrpSpPr/>
              <p:nvPr/>
            </p:nvGrpSpPr>
            <p:grpSpPr>
              <a:xfrm>
                <a:off x="7115000" y="3160000"/>
                <a:ext cx="875404" cy="680000"/>
                <a:chOff x="7115000" y="3160000"/>
                <a:chExt cx="875404" cy="680000"/>
              </a:xfrm>
            </p:grpSpPr>
            <p:sp>
              <p:nvSpPr>
                <p:cNvPr id="111" name="Card"/>
                <p:cNvSpPr/>
                <p:nvPr/>
              </p:nvSpPr>
              <p:spPr>
                <a:xfrm>
                  <a:off x="7115000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12" name="Tag"/>
                <p:cNvSpPr/>
                <p:nvPr/>
              </p:nvSpPr>
              <p:spPr>
                <a:xfrm>
                  <a:off x="7205000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D9488"/>
                </a:solidFill>
                <a:ln>
                  <a:noFill/>
                </a:ln>
              </p:spPr>
            </p:sp>
            <p:sp>
              <p:nvSpPr>
                <p:cNvPr id="113" name="Title line"/>
                <p:cNvSpPr/>
                <p:nvPr/>
              </p:nvSpPr>
              <p:spPr>
                <a:xfrm>
                  <a:off x="7205000" y="3400000"/>
                  <a:ext cx="560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14" name="Detail line"/>
                <p:cNvSpPr/>
                <p:nvPr/>
              </p:nvSpPr>
              <p:spPr>
                <a:xfrm>
                  <a:off x="7205000" y="3500000"/>
                  <a:ext cx="336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15" name="Checklist track"/>
                <p:cNvSpPr/>
                <p:nvPr/>
              </p:nvSpPr>
              <p:spPr>
                <a:xfrm>
                  <a:off x="7205000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16" name="Assignee"/>
                <p:cNvSpPr/>
                <p:nvPr/>
              </p:nvSpPr>
              <p:spPr>
                <a:xfrm>
                  <a:off x="7760404" y="3630000"/>
                  <a:ext cx="140000" cy="140000"/>
                </a:xfrm>
                <a:prstGeom prst="ellipse">
                  <a:avLst/>
                </a:prstGeom>
                <a:solidFill>
                  <a:srgbClr val="EC4899"/>
                </a:solidFill>
                <a:ln>
                  <a:noFill/>
                </a:ln>
              </p:spPr>
            </p:sp>
          </p:grpSp>
          <p:grpSp>
            <p:nvGrpSpPr>
              <p:cNvPr id="124" name="Task card"/>
              <p:cNvGrpSpPr/>
              <p:nvPr/>
            </p:nvGrpSpPr>
            <p:grpSpPr>
              <a:xfrm>
                <a:off x="7115000" y="3950000"/>
                <a:ext cx="875404" cy="680000"/>
                <a:chOff x="7115000" y="3950000"/>
                <a:chExt cx="875404" cy="680000"/>
              </a:xfrm>
            </p:grpSpPr>
            <p:sp>
              <p:nvSpPr>
                <p:cNvPr id="118" name="Card"/>
                <p:cNvSpPr/>
                <p:nvPr/>
              </p:nvSpPr>
              <p:spPr>
                <a:xfrm>
                  <a:off x="7115000" y="395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19" name="Tag"/>
                <p:cNvSpPr/>
                <p:nvPr/>
              </p:nvSpPr>
              <p:spPr>
                <a:xfrm>
                  <a:off x="7205000" y="405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120" name="Title line"/>
                <p:cNvSpPr/>
                <p:nvPr/>
              </p:nvSpPr>
              <p:spPr>
                <a:xfrm>
                  <a:off x="7205000" y="4190000"/>
                  <a:ext cx="6496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21" name="Detail line"/>
                <p:cNvSpPr/>
                <p:nvPr/>
              </p:nvSpPr>
              <p:spPr>
                <a:xfrm>
                  <a:off x="7205000" y="4290000"/>
                  <a:ext cx="4928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22" name="Checklist track"/>
                <p:cNvSpPr/>
                <p:nvPr/>
              </p:nvSpPr>
              <p:spPr>
                <a:xfrm>
                  <a:off x="7205000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23" name="Assignee"/>
                <p:cNvSpPr/>
                <p:nvPr/>
              </p:nvSpPr>
              <p:spPr>
                <a:xfrm>
                  <a:off x="7760404" y="4420000"/>
                  <a:ext cx="140000" cy="140000"/>
                </a:xfrm>
                <a:prstGeom prst="ellipse">
                  <a:avLst/>
                </a:prstGeom>
                <a:solidFill>
                  <a:srgbClr val="14B8A6"/>
                </a:solidFill>
                <a:ln>
                  <a:noFill/>
                </a:ln>
              </p:spPr>
            </p:sp>
          </p:grpSp>
          <p:grpSp>
            <p:nvGrpSpPr>
              <p:cNvPr id="131" name="Task card"/>
              <p:cNvGrpSpPr/>
              <p:nvPr/>
            </p:nvGrpSpPr>
            <p:grpSpPr>
              <a:xfrm>
                <a:off x="7115000" y="4740000"/>
                <a:ext cx="875404" cy="680000"/>
                <a:chOff x="7115000" y="4740000"/>
                <a:chExt cx="875404" cy="680000"/>
              </a:xfrm>
            </p:grpSpPr>
            <p:sp>
              <p:nvSpPr>
                <p:cNvPr id="125" name="Card"/>
                <p:cNvSpPr/>
                <p:nvPr/>
              </p:nvSpPr>
              <p:spPr>
                <a:xfrm>
                  <a:off x="7115000" y="474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26" name="Tag"/>
                <p:cNvSpPr/>
                <p:nvPr/>
              </p:nvSpPr>
              <p:spPr>
                <a:xfrm>
                  <a:off x="7205000" y="484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27" name="Title line"/>
                <p:cNvSpPr/>
                <p:nvPr/>
              </p:nvSpPr>
              <p:spPr>
                <a:xfrm>
                  <a:off x="7205000" y="4980000"/>
                  <a:ext cx="4928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28" name="Detail line"/>
                <p:cNvSpPr/>
                <p:nvPr/>
              </p:nvSpPr>
              <p:spPr>
                <a:xfrm>
                  <a:off x="7205000" y="5080000"/>
                  <a:ext cx="3808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29" name="Checklist track"/>
                <p:cNvSpPr/>
                <p:nvPr/>
              </p:nvSpPr>
              <p:spPr>
                <a:xfrm>
                  <a:off x="7205000" y="527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30" name="Assignee"/>
                <p:cNvSpPr/>
                <p:nvPr/>
              </p:nvSpPr>
              <p:spPr>
                <a:xfrm>
                  <a:off x="7760404" y="5210000"/>
                  <a:ext cx="140000" cy="140000"/>
                </a:xfrm>
                <a:prstGeom prst="ellipse">
                  <a:avLst/>
                </a:prstGeom>
                <a:solidFill>
                  <a:srgbClr val="A855F7"/>
                </a:solidFill>
                <a:ln>
                  <a:noFill/>
                </a:ln>
              </p:spPr>
            </p:sp>
          </p:grpSp>
        </p:grpSp>
        <p:grpSp>
          <p:nvGrpSpPr>
            <p:cNvPr id="160" name="Column – In Progress"/>
            <p:cNvGrpSpPr/>
            <p:nvPr/>
          </p:nvGrpSpPr>
          <p:grpSpPr>
            <a:xfrm>
              <a:off x="8155404" y="1950000"/>
              <a:ext cx="1025404" cy="3625000"/>
              <a:chOff x="8155404" y="1950000"/>
              <a:chExt cx="1025404" cy="3625000"/>
            </a:xfrm>
          </p:grpSpPr>
          <p:sp>
            <p:nvSpPr>
              <p:cNvPr id="133" name="Column In Progress"/>
              <p:cNvSpPr/>
              <p:nvPr/>
            </p:nvSpPr>
            <p:spPr>
              <a:xfrm>
                <a:off x="8155404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34" name="Status dot"/>
              <p:cNvSpPr/>
              <p:nvPr/>
            </p:nvSpPr>
            <p:spPr>
              <a:xfrm>
                <a:off x="8255404" y="2095000"/>
                <a:ext cx="90000" cy="90000"/>
              </a:xfrm>
              <a:prstGeom prst="ellipse">
                <a:avLst/>
              </a:prstGeom>
              <a:solidFill>
                <a:srgbClr val="4F46E5"/>
              </a:solidFill>
              <a:ln>
                <a:noFill/>
              </a:ln>
            </p:spPr>
          </p:sp>
          <p:sp>
            <p:nvSpPr>
              <p:cNvPr id="135" name="Column label"/>
              <p:cNvSpPr txBox="1"/>
              <p:nvPr/>
            </p:nvSpPr>
            <p:spPr>
              <a:xfrm>
                <a:off x="8415404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In Progress</a:t>
                </a:r>
              </a:p>
            </p:txBody>
          </p:sp>
          <p:grpSp>
            <p:nvGrpSpPr>
              <p:cNvPr id="143" name="Task card"/>
              <p:cNvGrpSpPr/>
              <p:nvPr/>
            </p:nvGrpSpPr>
            <p:grpSpPr>
              <a:xfrm>
                <a:off x="8230404" y="2370000"/>
                <a:ext cx="875404" cy="680000"/>
                <a:chOff x="8230404" y="2370000"/>
                <a:chExt cx="875404" cy="680000"/>
              </a:xfrm>
            </p:grpSpPr>
            <p:sp>
              <p:nvSpPr>
                <p:cNvPr id="136" name="Card"/>
                <p:cNvSpPr/>
                <p:nvPr/>
              </p:nvSpPr>
              <p:spPr>
                <a:xfrm>
                  <a:off x="8230404" y="237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37" name="Tag"/>
                <p:cNvSpPr/>
                <p:nvPr/>
              </p:nvSpPr>
              <p:spPr>
                <a:xfrm>
                  <a:off x="8320404" y="247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D9488"/>
                </a:solidFill>
                <a:ln>
                  <a:noFill/>
                </a:ln>
              </p:spPr>
            </p:sp>
            <p:sp>
              <p:nvSpPr>
                <p:cNvPr id="138" name="Title line"/>
                <p:cNvSpPr/>
                <p:nvPr/>
              </p:nvSpPr>
              <p:spPr>
                <a:xfrm>
                  <a:off x="8320404" y="2610000"/>
                  <a:ext cx="672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39" name="Detail line"/>
                <p:cNvSpPr/>
                <p:nvPr/>
              </p:nvSpPr>
              <p:spPr>
                <a:xfrm>
                  <a:off x="8320404" y="2710000"/>
                  <a:ext cx="4704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40" name="Checklist track"/>
                <p:cNvSpPr/>
                <p:nvPr/>
              </p:nvSpPr>
              <p:spPr>
                <a:xfrm>
                  <a:off x="8320404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41" name="Checklist progress"/>
                <p:cNvSpPr/>
                <p:nvPr/>
              </p:nvSpPr>
              <p:spPr>
                <a:xfrm>
                  <a:off x="8320404" y="2900000"/>
                  <a:ext cx="147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42" name="Assignee"/>
                <p:cNvSpPr/>
                <p:nvPr/>
              </p:nvSpPr>
              <p:spPr>
                <a:xfrm>
                  <a:off x="8875807" y="2840000"/>
                  <a:ext cx="140000" cy="140000"/>
                </a:xfrm>
                <a:prstGeom prst="ellipse">
                  <a:avLst/>
                </a:prstGeom>
                <a:solidFill>
                  <a:srgbClr val="6366F1"/>
                </a:solidFill>
                <a:ln>
                  <a:noFill/>
                </a:ln>
              </p:spPr>
            </p:sp>
          </p:grpSp>
          <p:grpSp>
            <p:nvGrpSpPr>
              <p:cNvPr id="151" name="Task card"/>
              <p:cNvGrpSpPr/>
              <p:nvPr/>
            </p:nvGrpSpPr>
            <p:grpSpPr>
              <a:xfrm>
                <a:off x="8230404" y="3160000"/>
                <a:ext cx="875404" cy="680000"/>
                <a:chOff x="8230404" y="3160000"/>
                <a:chExt cx="875404" cy="680000"/>
              </a:xfrm>
            </p:grpSpPr>
            <p:sp>
              <p:nvSpPr>
                <p:cNvPr id="144" name="Card"/>
                <p:cNvSpPr/>
                <p:nvPr/>
              </p:nvSpPr>
              <p:spPr>
                <a:xfrm>
                  <a:off x="8230404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45" name="Tag"/>
                <p:cNvSpPr/>
                <p:nvPr/>
              </p:nvSpPr>
              <p:spPr>
                <a:xfrm>
                  <a:off x="8320404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46" name="Title line"/>
                <p:cNvSpPr/>
                <p:nvPr/>
              </p:nvSpPr>
              <p:spPr>
                <a:xfrm>
                  <a:off x="8320404" y="3400000"/>
                  <a:ext cx="5824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47" name="Detail line"/>
                <p:cNvSpPr/>
                <p:nvPr/>
              </p:nvSpPr>
              <p:spPr>
                <a:xfrm>
                  <a:off x="8320404" y="3500000"/>
                  <a:ext cx="3584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48" name="Checklist track"/>
                <p:cNvSpPr/>
                <p:nvPr/>
              </p:nvSpPr>
              <p:spPr>
                <a:xfrm>
                  <a:off x="8320404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49" name="Checklist progress"/>
                <p:cNvSpPr/>
                <p:nvPr/>
              </p:nvSpPr>
              <p:spPr>
                <a:xfrm>
                  <a:off x="8320404" y="3690000"/>
                  <a:ext cx="252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50" name="Assignee"/>
                <p:cNvSpPr/>
                <p:nvPr/>
              </p:nvSpPr>
              <p:spPr>
                <a:xfrm>
                  <a:off x="8875807" y="3630000"/>
                  <a:ext cx="140000" cy="140000"/>
                </a:xfrm>
                <a:prstGeom prst="ellipse">
                  <a:avLst/>
                </a:prstGeom>
                <a:solidFill>
                  <a:srgbClr val="EC4899"/>
                </a:solidFill>
                <a:ln>
                  <a:noFill/>
                </a:ln>
              </p:spPr>
            </p:sp>
          </p:grpSp>
          <p:grpSp>
            <p:nvGrpSpPr>
              <p:cNvPr id="159" name="Task card"/>
              <p:cNvGrpSpPr/>
              <p:nvPr/>
            </p:nvGrpSpPr>
            <p:grpSpPr>
              <a:xfrm>
                <a:off x="8230404" y="3950000"/>
                <a:ext cx="875404" cy="680000"/>
                <a:chOff x="8230404" y="3950000"/>
                <a:chExt cx="875404" cy="680000"/>
              </a:xfrm>
            </p:grpSpPr>
            <p:sp>
              <p:nvSpPr>
                <p:cNvPr id="152" name="Card"/>
                <p:cNvSpPr/>
                <p:nvPr/>
              </p:nvSpPr>
              <p:spPr>
                <a:xfrm>
                  <a:off x="8230404" y="395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53" name="Tag"/>
                <p:cNvSpPr/>
                <p:nvPr/>
              </p:nvSpPr>
              <p:spPr>
                <a:xfrm>
                  <a:off x="8320404" y="405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154" name="Title line"/>
                <p:cNvSpPr/>
                <p:nvPr/>
              </p:nvSpPr>
              <p:spPr>
                <a:xfrm>
                  <a:off x="8320404" y="4190000"/>
                  <a:ext cx="6944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55" name="Detail line"/>
                <p:cNvSpPr/>
                <p:nvPr/>
              </p:nvSpPr>
              <p:spPr>
                <a:xfrm>
                  <a:off x="8320404" y="4290000"/>
                  <a:ext cx="4256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56" name="Checklist track"/>
                <p:cNvSpPr/>
                <p:nvPr/>
              </p:nvSpPr>
              <p:spPr>
                <a:xfrm>
                  <a:off x="8320404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57" name="Checklist progress"/>
                <p:cNvSpPr/>
                <p:nvPr/>
              </p:nvSpPr>
              <p:spPr>
                <a:xfrm>
                  <a:off x="8320404" y="4480000"/>
                  <a:ext cx="84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58" name="Assignee"/>
                <p:cNvSpPr/>
                <p:nvPr/>
              </p:nvSpPr>
              <p:spPr>
                <a:xfrm>
                  <a:off x="8875807" y="4420000"/>
                  <a:ext cx="140000" cy="140000"/>
                </a:xfrm>
                <a:prstGeom prst="ellipse">
                  <a:avLst/>
                </a:prstGeom>
                <a:solidFill>
                  <a:srgbClr val="A855F7"/>
                </a:solidFill>
                <a:ln>
                  <a:noFill/>
                </a:ln>
              </p:spPr>
            </p:sp>
          </p:grpSp>
        </p:grpSp>
        <p:grpSp>
          <p:nvGrpSpPr>
            <p:cNvPr id="180" name="Column – In Review"/>
            <p:cNvGrpSpPr/>
            <p:nvPr/>
          </p:nvGrpSpPr>
          <p:grpSpPr>
            <a:xfrm>
              <a:off x="9270808" y="1950000"/>
              <a:ext cx="1025404" cy="3625000"/>
              <a:chOff x="9270808" y="1950000"/>
              <a:chExt cx="1025404" cy="3625000"/>
            </a:xfrm>
          </p:grpSpPr>
          <p:sp>
            <p:nvSpPr>
              <p:cNvPr id="161" name="Column In Review"/>
              <p:cNvSpPr/>
              <p:nvPr/>
            </p:nvSpPr>
            <p:spPr>
              <a:xfrm>
                <a:off x="9270808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62" name="Status dot"/>
              <p:cNvSpPr/>
              <p:nvPr/>
            </p:nvSpPr>
            <p:spPr>
              <a:xfrm>
                <a:off x="9370808" y="2095000"/>
                <a:ext cx="90000" cy="900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163" name="Column label"/>
              <p:cNvSpPr txBox="1"/>
              <p:nvPr/>
            </p:nvSpPr>
            <p:spPr>
              <a:xfrm>
                <a:off x="9530808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In Review</a:t>
                </a:r>
              </a:p>
            </p:txBody>
          </p:sp>
          <p:grpSp>
            <p:nvGrpSpPr>
              <p:cNvPr id="179" name="Task card"/>
              <p:cNvGrpSpPr/>
              <p:nvPr/>
            </p:nvGrpSpPr>
            <p:grpSpPr>
              <a:xfrm>
                <a:off x="9345808" y="3160000"/>
                <a:ext cx="875404" cy="680000"/>
                <a:chOff x="9345808" y="3160000"/>
                <a:chExt cx="875404" cy="680000"/>
              </a:xfrm>
            </p:grpSpPr>
            <p:sp>
              <p:nvSpPr>
                <p:cNvPr id="172" name="Card"/>
                <p:cNvSpPr/>
                <p:nvPr/>
              </p:nvSpPr>
              <p:spPr>
                <a:xfrm>
                  <a:off x="9345808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73" name="Tag"/>
                <p:cNvSpPr/>
                <p:nvPr/>
              </p:nvSpPr>
              <p:spPr>
                <a:xfrm>
                  <a:off x="9435808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174" name="Title line"/>
                <p:cNvSpPr/>
                <p:nvPr/>
              </p:nvSpPr>
              <p:spPr>
                <a:xfrm>
                  <a:off x="9435808" y="3400000"/>
                  <a:ext cx="5376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75" name="Detail line"/>
                <p:cNvSpPr/>
                <p:nvPr/>
              </p:nvSpPr>
              <p:spPr>
                <a:xfrm>
                  <a:off x="9435808" y="3500000"/>
                  <a:ext cx="448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76" name="Checklist track"/>
                <p:cNvSpPr/>
                <p:nvPr/>
              </p:nvSpPr>
              <p:spPr>
                <a:xfrm>
                  <a:off x="9435808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77" name="Checklist progress"/>
                <p:cNvSpPr/>
                <p:nvPr/>
              </p:nvSpPr>
              <p:spPr>
                <a:xfrm>
                  <a:off x="9435808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178" name="Assignee"/>
                <p:cNvSpPr/>
                <p:nvPr/>
              </p:nvSpPr>
              <p:spPr>
                <a:xfrm>
                  <a:off x="9991211" y="3630000"/>
                  <a:ext cx="140000" cy="140000"/>
                </a:xfrm>
                <a:prstGeom prst="ellipse">
                  <a:avLst/>
                </a:prstGeom>
                <a:solidFill>
                  <a:srgbClr val="6366F1"/>
                </a:solidFill>
                <a:ln>
                  <a:noFill/>
                </a:ln>
              </p:spPr>
            </p:sp>
          </p:grpSp>
        </p:grpSp>
        <p:grpSp>
          <p:nvGrpSpPr>
            <p:cNvPr id="208" name="Column – Done"/>
            <p:cNvGrpSpPr/>
            <p:nvPr/>
          </p:nvGrpSpPr>
          <p:grpSpPr>
            <a:xfrm>
              <a:off x="10386211" y="1950000"/>
              <a:ext cx="1025404" cy="3625000"/>
              <a:chOff x="10386211" y="1950000"/>
              <a:chExt cx="1025404" cy="3625000"/>
            </a:xfrm>
          </p:grpSpPr>
          <p:sp>
            <p:nvSpPr>
              <p:cNvPr id="181" name="Column Done"/>
              <p:cNvSpPr/>
              <p:nvPr/>
            </p:nvSpPr>
            <p:spPr>
              <a:xfrm>
                <a:off x="10386211" y="1950000"/>
                <a:ext cx="1025404" cy="3625000"/>
              </a:xfrm>
              <a:prstGeom prst="roundRect">
                <a:avLst>
                  <a:gd name="adj" fmla="val 5851"/>
                </a:avLst>
              </a:prstGeom>
              <a:solidFill>
                <a:srgbClr val="E4E7F2"/>
              </a:solidFill>
              <a:ln>
                <a:noFill/>
              </a:ln>
            </p:spPr>
          </p:sp>
          <p:sp>
            <p:nvSpPr>
              <p:cNvPr id="182" name="Status dot"/>
              <p:cNvSpPr/>
              <p:nvPr/>
            </p:nvSpPr>
            <p:spPr>
              <a:xfrm>
                <a:off x="10486211" y="2095000"/>
                <a:ext cx="90000" cy="90000"/>
              </a:xfrm>
              <a:prstGeom prst="ellipse">
                <a:avLst/>
              </a:prstGeom>
              <a:solidFill>
                <a:srgbClr val="22C55E"/>
              </a:solidFill>
              <a:ln>
                <a:noFill/>
              </a:ln>
            </p:spPr>
          </p:sp>
          <p:sp>
            <p:nvSpPr>
              <p:cNvPr id="183" name="Column label"/>
              <p:cNvSpPr txBox="1"/>
              <p:nvPr/>
            </p:nvSpPr>
            <p:spPr>
              <a:xfrm>
                <a:off x="10646211" y="2050000"/>
                <a:ext cx="725404" cy="180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/>
              <a:lstStyle/>
              <a:p>
                <a:pPr algn="l"/>
                <a:r>
                  <a:rPr lang="en-US" sz="1000" b="1" dirty="0">
                    <a:solidFill>
                      <a:srgbClr val="1E202B"/>
                    </a:solidFill>
                    <a:latin typeface="Calibri"/>
                    <a:cs typeface="Calibri"/>
                  </a:rPr>
                  <a:t>Done</a:t>
                </a:r>
              </a:p>
            </p:txBody>
          </p:sp>
          <p:grpSp>
            <p:nvGrpSpPr>
              <p:cNvPr id="191" name="Task card"/>
              <p:cNvGrpSpPr/>
              <p:nvPr/>
            </p:nvGrpSpPr>
            <p:grpSpPr>
              <a:xfrm>
                <a:off x="10461211" y="2370000"/>
                <a:ext cx="875404" cy="680000"/>
                <a:chOff x="10461211" y="2370000"/>
                <a:chExt cx="875404" cy="680000"/>
              </a:xfrm>
            </p:grpSpPr>
            <p:sp>
              <p:nvSpPr>
                <p:cNvPr id="184" name="Card"/>
                <p:cNvSpPr/>
                <p:nvPr/>
              </p:nvSpPr>
              <p:spPr>
                <a:xfrm>
                  <a:off x="10461211" y="237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85" name="Tag"/>
                <p:cNvSpPr/>
                <p:nvPr/>
              </p:nvSpPr>
              <p:spPr>
                <a:xfrm>
                  <a:off x="10551211" y="247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D9488"/>
                </a:solidFill>
                <a:ln>
                  <a:noFill/>
                </a:ln>
              </p:spPr>
            </p:sp>
            <p:sp>
              <p:nvSpPr>
                <p:cNvPr id="186" name="Title line"/>
                <p:cNvSpPr/>
                <p:nvPr/>
              </p:nvSpPr>
              <p:spPr>
                <a:xfrm>
                  <a:off x="10551211" y="2610000"/>
                  <a:ext cx="672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87" name="Detail line"/>
                <p:cNvSpPr/>
                <p:nvPr/>
              </p:nvSpPr>
              <p:spPr>
                <a:xfrm>
                  <a:off x="10551211" y="2710000"/>
                  <a:ext cx="336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88" name="Checklist track"/>
                <p:cNvSpPr/>
                <p:nvPr/>
              </p:nvSpPr>
              <p:spPr>
                <a:xfrm>
                  <a:off x="10551211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89" name="Checklist progress"/>
                <p:cNvSpPr/>
                <p:nvPr/>
              </p:nvSpPr>
              <p:spPr>
                <a:xfrm>
                  <a:off x="10551211" y="290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190" name="Assignee"/>
                <p:cNvSpPr/>
                <p:nvPr/>
              </p:nvSpPr>
              <p:spPr>
                <a:xfrm>
                  <a:off x="11106615" y="2840000"/>
                  <a:ext cx="140000" cy="140000"/>
                </a:xfrm>
                <a:prstGeom prst="ellipse">
                  <a:avLst/>
                </a:prstGeom>
                <a:solidFill>
                  <a:srgbClr val="A855F7"/>
                </a:solidFill>
                <a:ln>
                  <a:noFill/>
                </a:ln>
              </p:spPr>
            </p:sp>
          </p:grpSp>
          <p:grpSp>
            <p:nvGrpSpPr>
              <p:cNvPr id="199" name="Task card"/>
              <p:cNvGrpSpPr/>
              <p:nvPr/>
            </p:nvGrpSpPr>
            <p:grpSpPr>
              <a:xfrm>
                <a:off x="10461211" y="3160000"/>
                <a:ext cx="875404" cy="680000"/>
                <a:chOff x="10461211" y="3160000"/>
                <a:chExt cx="875404" cy="680000"/>
              </a:xfrm>
            </p:grpSpPr>
            <p:sp>
              <p:nvSpPr>
                <p:cNvPr id="192" name="Card"/>
                <p:cNvSpPr/>
                <p:nvPr/>
              </p:nvSpPr>
              <p:spPr>
                <a:xfrm>
                  <a:off x="10461211" y="316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193" name="Tag"/>
                <p:cNvSpPr/>
                <p:nvPr/>
              </p:nvSpPr>
              <p:spPr>
                <a:xfrm>
                  <a:off x="10551211" y="326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F46E5"/>
                </a:solidFill>
                <a:ln>
                  <a:noFill/>
                </a:ln>
              </p:spPr>
            </p:sp>
            <p:sp>
              <p:nvSpPr>
                <p:cNvPr id="194" name="Title line"/>
                <p:cNvSpPr/>
                <p:nvPr/>
              </p:nvSpPr>
              <p:spPr>
                <a:xfrm>
                  <a:off x="10551211" y="3400000"/>
                  <a:ext cx="5600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195" name="Detail line"/>
                <p:cNvSpPr/>
                <p:nvPr/>
              </p:nvSpPr>
              <p:spPr>
                <a:xfrm>
                  <a:off x="10551211" y="3500000"/>
                  <a:ext cx="4704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196" name="Checklist track"/>
                <p:cNvSpPr/>
                <p:nvPr/>
              </p:nvSpPr>
              <p:spPr>
                <a:xfrm>
                  <a:off x="10551211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197" name="Checklist progress"/>
                <p:cNvSpPr/>
                <p:nvPr/>
              </p:nvSpPr>
              <p:spPr>
                <a:xfrm>
                  <a:off x="10551211" y="369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198" name="Assignee"/>
                <p:cNvSpPr/>
                <p:nvPr/>
              </p:nvSpPr>
              <p:spPr>
                <a:xfrm>
                  <a:off x="11106615" y="3630000"/>
                  <a:ext cx="140000" cy="140000"/>
                </a:xfrm>
                <a:prstGeom prst="ellipse">
                  <a:avLst/>
                </a:prstGeom>
                <a:solidFill>
                  <a:srgbClr val="EC4899"/>
                </a:solidFill>
                <a:ln>
                  <a:noFill/>
                </a:ln>
              </p:spPr>
            </p:sp>
          </p:grpSp>
          <p:grpSp>
            <p:nvGrpSpPr>
              <p:cNvPr id="207" name="Task card"/>
              <p:cNvGrpSpPr/>
              <p:nvPr/>
            </p:nvGrpSpPr>
            <p:grpSpPr>
              <a:xfrm>
                <a:off x="10461211" y="3950000"/>
                <a:ext cx="875404" cy="680000"/>
                <a:chOff x="10461211" y="3950000"/>
                <a:chExt cx="875404" cy="680000"/>
              </a:xfrm>
            </p:grpSpPr>
            <p:sp>
              <p:nvSpPr>
                <p:cNvPr id="200" name="Card"/>
                <p:cNvSpPr/>
                <p:nvPr/>
              </p:nvSpPr>
              <p:spPr>
                <a:xfrm>
                  <a:off x="10461211" y="3950000"/>
                  <a:ext cx="875404" cy="680000"/>
                </a:xfrm>
                <a:prstGeom prst="roundRect">
                  <a:avLst>
                    <a:gd name="adj" fmla="val 7352"/>
                  </a:avLst>
                </a:prstGeom>
                <a:solidFill>
                  <a:srgbClr val="FFFFFF"/>
                </a:solidFill>
                <a:ln w="12700">
                  <a:solidFill>
                    <a:srgbClr val="9AA0B4"/>
                  </a:solidFill>
                </a:ln>
              </p:spPr>
            </p:sp>
            <p:sp>
              <p:nvSpPr>
                <p:cNvPr id="201" name="Tag"/>
                <p:cNvSpPr/>
                <p:nvPr/>
              </p:nvSpPr>
              <p:spPr>
                <a:xfrm>
                  <a:off x="10551211" y="4050000"/>
                  <a:ext cx="280000" cy="70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B2777"/>
                </a:solidFill>
                <a:ln>
                  <a:noFill/>
                </a:ln>
              </p:spPr>
            </p:sp>
            <p:sp>
              <p:nvSpPr>
                <p:cNvPr id="202" name="Title line"/>
                <p:cNvSpPr/>
                <p:nvPr/>
              </p:nvSpPr>
              <p:spPr>
                <a:xfrm>
                  <a:off x="10551211" y="4190000"/>
                  <a:ext cx="627200" cy="5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84C5C"/>
                </a:solidFill>
                <a:ln>
                  <a:noFill/>
                </a:ln>
              </p:spPr>
            </p:sp>
            <p:sp>
              <p:nvSpPr>
                <p:cNvPr id="203" name="Detail line"/>
                <p:cNvSpPr/>
                <p:nvPr/>
              </p:nvSpPr>
              <p:spPr>
                <a:xfrm>
                  <a:off x="10551211" y="4290000"/>
                  <a:ext cx="3808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A3A8BC"/>
                </a:solidFill>
                <a:ln>
                  <a:noFill/>
                </a:ln>
              </p:spPr>
            </p:sp>
            <p:sp>
              <p:nvSpPr>
                <p:cNvPr id="204" name="Checklist track"/>
                <p:cNvSpPr/>
                <p:nvPr/>
              </p:nvSpPr>
              <p:spPr>
                <a:xfrm>
                  <a:off x="10551211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D0D3E0"/>
                </a:solidFill>
                <a:ln>
                  <a:noFill/>
                </a:ln>
              </p:spPr>
            </p:sp>
            <p:sp>
              <p:nvSpPr>
                <p:cNvPr id="205" name="Checklist progress"/>
                <p:cNvSpPr/>
                <p:nvPr/>
              </p:nvSpPr>
              <p:spPr>
                <a:xfrm>
                  <a:off x="10551211" y="4480000"/>
                  <a:ext cx="420000" cy="45000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2C55E"/>
                </a:solidFill>
                <a:ln>
                  <a:noFill/>
                </a:ln>
              </p:spPr>
            </p:sp>
            <p:sp>
              <p:nvSpPr>
                <p:cNvPr id="206" name="Assignee"/>
                <p:cNvSpPr/>
                <p:nvPr/>
              </p:nvSpPr>
              <p:spPr>
                <a:xfrm>
                  <a:off x="11106615" y="4420000"/>
                  <a:ext cx="140000" cy="140000"/>
                </a:xfrm>
                <a:prstGeom prst="ellipse">
                  <a:avLst/>
                </a:prstGeom>
                <a:solidFill>
                  <a:srgbClr val="14B8A6"/>
                </a:solidFill>
                <a:ln>
                  <a:noFill/>
                </a:ln>
              </p:spPr>
            </p:sp>
          </p:grpSp>
        </p:grpSp>
        <p:grpSp>
          <p:nvGrpSpPr>
            <p:cNvPr id="171" name="Card (being dragged)"/>
            <p:cNvGrpSpPr/>
            <p:nvPr/>
          </p:nvGrpSpPr>
          <p:grpSpPr>
            <a:xfrm rot="120000">
              <a:off x="9375807" y="2350000"/>
              <a:ext cx="875404" cy="680000"/>
              <a:chOff x="9375807" y="2350000"/>
              <a:chExt cx="875404" cy="680000"/>
            </a:xfrm>
          </p:grpSpPr>
          <p:sp>
            <p:nvSpPr>
              <p:cNvPr id="164" name="Card"/>
              <p:cNvSpPr/>
              <p:nvPr/>
            </p:nvSpPr>
            <p:spPr>
              <a:xfrm>
                <a:off x="9375807" y="2350000"/>
                <a:ext cx="875404" cy="680000"/>
              </a:xfrm>
              <a:prstGeom prst="roundRect">
                <a:avLst>
                  <a:gd name="adj" fmla="val 7352"/>
                </a:avLst>
              </a:prstGeom>
              <a:solidFill>
                <a:srgbClr val="EEF0FF"/>
              </a:solidFill>
              <a:ln w="25400">
                <a:solidFill>
                  <a:srgbClr val="4F46E5"/>
                </a:solidFill>
              </a:ln>
              <a:effectLst>
                <a:outerShdw blurRad="190500" dist="63500" dir="5400000" algn="t" rotWithShape="0">
                  <a:srgbClr val="1E202B">
                    <a:alpha val="30000"/>
                  </a:srgbClr>
                </a:outerShdw>
              </a:effectLst>
            </p:spPr>
          </p:sp>
          <p:sp>
            <p:nvSpPr>
              <p:cNvPr id="165" name="Tag"/>
              <p:cNvSpPr/>
              <p:nvPr/>
            </p:nvSpPr>
            <p:spPr>
              <a:xfrm>
                <a:off x="9465807" y="2450000"/>
                <a:ext cx="280000" cy="70000"/>
              </a:xfrm>
              <a:prstGeom prst="roundRect">
                <a:avLst>
                  <a:gd name="adj" fmla="val 50000"/>
                </a:avLst>
              </a:prstGeom>
              <a:solidFill>
                <a:srgbClr val="4F46E5"/>
              </a:solidFill>
              <a:ln>
                <a:noFill/>
              </a:ln>
            </p:spPr>
          </p:sp>
          <p:sp>
            <p:nvSpPr>
              <p:cNvPr id="166" name="Title line"/>
              <p:cNvSpPr/>
              <p:nvPr/>
            </p:nvSpPr>
            <p:spPr>
              <a:xfrm>
                <a:off x="9465807" y="2590000"/>
                <a:ext cx="649600" cy="55000"/>
              </a:xfrm>
              <a:prstGeom prst="roundRect">
                <a:avLst>
                  <a:gd name="adj" fmla="val 50000"/>
                </a:avLst>
              </a:prstGeom>
              <a:solidFill>
                <a:srgbClr val="484C5C"/>
              </a:solidFill>
              <a:ln>
                <a:noFill/>
              </a:ln>
            </p:spPr>
          </p:sp>
          <p:sp>
            <p:nvSpPr>
              <p:cNvPr id="167" name="Detail line"/>
              <p:cNvSpPr/>
              <p:nvPr/>
            </p:nvSpPr>
            <p:spPr>
              <a:xfrm>
                <a:off x="9465807" y="2690000"/>
                <a:ext cx="403200" cy="45000"/>
              </a:xfrm>
              <a:prstGeom prst="roundRect">
                <a:avLst>
                  <a:gd name="adj" fmla="val 50000"/>
                </a:avLst>
              </a:prstGeom>
              <a:solidFill>
                <a:srgbClr val="A3A8BC"/>
              </a:solidFill>
              <a:ln>
                <a:noFill/>
              </a:ln>
            </p:spPr>
          </p:sp>
          <p:sp>
            <p:nvSpPr>
              <p:cNvPr id="168" name="Checklist track"/>
              <p:cNvSpPr/>
              <p:nvPr/>
            </p:nvSpPr>
            <p:spPr>
              <a:xfrm>
                <a:off x="9465807" y="2880000"/>
                <a:ext cx="420000" cy="45000"/>
              </a:xfrm>
              <a:prstGeom prst="roundRect">
                <a:avLst>
                  <a:gd name="adj" fmla="val 50000"/>
                </a:avLst>
              </a:prstGeom>
              <a:solidFill>
                <a:srgbClr val="D0D3E0"/>
              </a:solidFill>
              <a:ln>
                <a:noFill/>
              </a:ln>
            </p:spPr>
          </p:sp>
          <p:sp>
            <p:nvSpPr>
              <p:cNvPr id="169" name="Checklist progress"/>
              <p:cNvSpPr/>
              <p:nvPr/>
            </p:nvSpPr>
            <p:spPr>
              <a:xfrm>
                <a:off x="9465807" y="2880000"/>
                <a:ext cx="357000" cy="45000"/>
              </a:xfrm>
              <a:prstGeom prst="roundRect">
                <a:avLst>
                  <a:gd name="adj" fmla="val 50000"/>
                </a:avLst>
              </a:prstGeom>
              <a:solidFill>
                <a:srgbClr val="4F46E5"/>
              </a:solidFill>
              <a:ln>
                <a:noFill/>
              </a:ln>
            </p:spPr>
          </p:sp>
          <p:sp>
            <p:nvSpPr>
              <p:cNvPr id="170" name="Assignee"/>
              <p:cNvSpPr/>
              <p:nvPr/>
            </p:nvSpPr>
            <p:spPr>
              <a:xfrm>
                <a:off x="10021211" y="2820000"/>
                <a:ext cx="140000" cy="140000"/>
              </a:xfrm>
              <a:prstGeom prst="ellipse">
                <a:avLst/>
              </a:prstGeom>
              <a:solidFill>
                <a:srgbClr val="14B8A6"/>
              </a:solidFill>
              <a:ln>
                <a:noFill/>
              </a:ln>
            </p:spPr>
          </p:sp>
        </p:grpSp>
      </p:grpSp>
      <p:sp>
        <p:nvSpPr>
          <p:cNvPr id="14" name="Text 12"/>
          <p:cNvSpPr/>
          <p:nvPr/>
        </p:nvSpPr>
        <p:spPr>
          <a:xfrm>
            <a:off x="640080" y="1350000"/>
            <a:ext cx="5900000" cy="3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15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1620000"/>
            <a:ext cx="5900000" cy="10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640080" y="2720000"/>
            <a:ext cx="5900000" cy="8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" y="3875000"/>
            <a:ext cx="5900000" cy="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115000"/>
            <a:ext cx="59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4515000"/>
            <a:ext cx="5900000" cy="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755000"/>
            <a:ext cx="59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Khalil, Kernel Solution &amp; Innovation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155000"/>
            <a:ext cx="5900000" cy="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395000"/>
            <a:ext cx="59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ISLAIB, Licence GLSI, 2025-2026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40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19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77240" y="3383280"/>
            <a:ext cx="10637215" cy="0"/>
          </a:xfrm>
          <a:prstGeom prst="line">
            <a:avLst/>
          </a:prstGeom>
          <a:noFill/>
          <a:ln w="15875">
            <a:solidFill>
              <a:srgbClr val="C7C9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3300984"/>
            <a:ext cx="164592" cy="164592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context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4248" y="3300984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2293544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93544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&amp; methodology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293544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3300984"/>
            <a:ext cx="164592" cy="164592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5" name="Text 13"/>
          <p:cNvSpPr/>
          <p:nvPr/>
        </p:nvSpPr>
        <p:spPr>
          <a:xfrm>
            <a:off x="4952848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52848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sprints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952848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72855" y="330098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612151" y="365760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612151" y="4023360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results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12151" y="4389120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332159" y="3300984"/>
            <a:ext cx="164592" cy="164592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9265615" y="157276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5615" y="1938528"/>
            <a:ext cx="2286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&amp; next steps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265615" y="2304288"/>
            <a:ext cx="2286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19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products: custom software, mobile apps, web design, and digital marketing.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577840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520440"/>
            <a:ext cx="5577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0920" y="1965960"/>
            <a:ext cx="0" cy="3072384"/>
          </a:xfrm>
          <a:prstGeom prst="line">
            <a:avLst/>
          </a:prstGeom>
          <a:noFill/>
          <a:ln w="15875">
            <a:solidFill>
              <a:srgbClr val="C7C9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06056" y="1911096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7616952" y="1737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82712" y="181965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982712" y="21488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06056" y="2935224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7616952" y="276148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982712" y="284378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82712" y="317296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06056" y="3959352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7616952" y="378561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82712" y="3867912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982712" y="4197096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06056" y="4983480"/>
            <a:ext cx="109728" cy="109728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3" name="Text 21"/>
          <p:cNvSpPr/>
          <p:nvPr/>
        </p:nvSpPr>
        <p:spPr>
          <a:xfrm>
            <a:off x="7616952" y="480974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84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82712" y="489204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982712" y="5221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19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536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together, a combination the market rarely offers in one lightweight product.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926080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926080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51187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51187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6294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76294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01401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1401" y="2697480"/>
            <a:ext cx="1633667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6508" y="2194560"/>
            <a:ext cx="1633667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826508" y="2697480"/>
            <a:ext cx="1633667" cy="0"/>
          </a:xfrm>
          <a:prstGeom prst="line">
            <a:avLst/>
          </a:pr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697480"/>
            <a:ext cx="2194560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97480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Ease of use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71800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simple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96907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22014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147121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872228" y="2697480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fast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3872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538728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71800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696907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22014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47121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72228" y="3538728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37997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79976"/>
            <a:ext cx="2148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granularity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71800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roles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696907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roles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422014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147121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roles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72228" y="4379976"/>
            <a:ext cx="1542227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granular roles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40080" y="5404104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tools sacrifice roles and real-time depth; complete tools become heavy. Synkro targets that gap.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3" name="Shape 41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4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Shape 45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8" name="Shape 46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9" name="Shape 47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0" name="Shape 48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1" name="Shape 49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2" name="Shape 50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3" name="Shape 51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4" name="Shape 52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5" name="Shape 53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6" name="Shape 54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7" name="Shape 55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58" name="Text 56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19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informed. All built solo in seven weeks.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1089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84448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675888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151376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42816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718304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809744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285232"/>
            <a:ext cx="5577840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37960" y="1783080"/>
            <a:ext cx="5212080" cy="2654189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17" name="Image 0" descr="/home/claude/work/deck_assets/landin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212080" cy="2654189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2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Text 3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19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48256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seven-week internship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706624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346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project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49300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21024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collaboration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279392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40740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</a:t>
            </a:r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healthy platform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6577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937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</a:t>
            </a:r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Agile, sprint-based process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Shape 2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8" name="Shape 2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9" name="Shape 2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Text 3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19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including deleting the project and role management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05124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3505124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05124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tasks, manages members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70168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6370168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70168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235211" y="2148840"/>
            <a:ext cx="292608" cy="54864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9235211" y="2286000"/>
            <a:ext cx="23164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35211" y="2633472"/>
            <a:ext cx="23164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work, restricted permissions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LEVEL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authenticated account by default: manages their own profile and projects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460138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5" name="Text 23"/>
          <p:cNvSpPr/>
          <p:nvPr/>
        </p:nvSpPr>
        <p:spPr>
          <a:xfrm>
            <a:off x="4460138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60138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0197" y="4389120"/>
            <a:ext cx="292608" cy="54864"/>
          </a:xfrm>
          <a:prstGeom prst="rect">
            <a:avLst/>
          </a:prstGeom>
          <a:solidFill>
            <a:srgbClr val="2E2A8C"/>
          </a:solidFill>
          <a:ln/>
        </p:spPr>
      </p:sp>
      <p:sp>
        <p:nvSpPr>
          <p:cNvPr id="28" name="Text 26"/>
          <p:cNvSpPr/>
          <p:nvPr/>
        </p:nvSpPr>
        <p:spPr>
          <a:xfrm>
            <a:off x="8280197" y="4526280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80197" y="4873752"/>
            <a:ext cx="327141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9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4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Shape 45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8" name="Shape 46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9" name="Text 47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19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specification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e-mail verification, login &amp; session management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4008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account settings &amp; visual theme management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64008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invitations &amp; role assignment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4008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lifecycle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status, checklists &amp; deliverables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64008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reviewer feedback &amp; real-time notifications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640080" y="544068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user management, suspension appeals &amp; analytics</a:t>
            </a:r>
            <a:endParaRPr lang="en-US" sz="1180" dirty="0"/>
          </a:p>
        </p:txBody>
      </p:sp>
      <p:sp>
        <p:nvSpPr>
          <p:cNvPr id="14" name="Text 12"/>
          <p:cNvSpPr/>
          <p:nvPr/>
        </p:nvSpPr>
        <p:spPr>
          <a:xfrm>
            <a:off x="6263640" y="1783080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Non-functional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63640" y="2148840"/>
            <a:ext cx="5074920" cy="0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2331720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clean, responsive UI on desktop &amp; mobile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6263640" y="2953512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real-time updates with minimal latency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263640" y="3575304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 sensitive action behind role-based authorization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6263640" y="4197096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MVC separation &amp; a normalized data model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6263640" y="4818888"/>
            <a:ext cx="5074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pPr indent="0" marL="0">
              <a:lnSpc>
                <a:spcPct val="115000"/>
              </a:lnSpc>
              <a:buNone/>
            </a:pPr>
            <a:r>
              <a:rPr lang="en-US" sz="118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light &amp; custom colour themes for user comfort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5989320" y="1783080"/>
            <a:ext cx="0" cy="402336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1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2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3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19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2800" dirty="0"/>
          </a:p>
        </p:txBody>
      </p:sp>
      <p:pic>
        <p:nvPicPr>
          <p:cNvPr id="6" name="Image 0" descr="/home/claude/work/deck_assets/uc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4892040" cy="35889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46342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use case diagram of Synkro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783080"/>
            <a:ext cx="55165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35040" y="2194560"/>
            <a:ext cx="5516575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increment, modeled beforehand with UML use case, sequence, and class diagrams.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035040" y="3703320"/>
            <a:ext cx="55165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4023360"/>
            <a:ext cx="5516575" cy="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35040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086600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793328" y="41605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844888" y="41605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+ Inertia.js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086600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793328" y="46177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844888" y="46177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035040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086600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793328" y="5074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44888" y="5074920"/>
            <a:ext cx="1661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A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4" name="Shape 31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39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Text 40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19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82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planning: June 15 to July 31, 2026</a:t>
            </a:r>
            <a:endParaRPr lang="en-US" sz="2500" dirty="0"/>
          </a:p>
        </p:txBody>
      </p:sp>
      <p:pic>
        <p:nvPicPr>
          <p:cNvPr id="6" name="Image 0" descr="/home/claude/work/deck_assets/gantt_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68" y="1600200"/>
            <a:ext cx="8138160" cy="358818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371269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sprints: two weeks each for the functional core (auth, project &amp; task management), one week each for the lighter, incremental features that follow.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19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0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1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2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3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4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5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7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User Management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22 - July 3,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verification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login &amp; logout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appearance themes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sessions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(“logged in devices”)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deactivation, reactivated automatically on next login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On-page restore prompt when a deleted account tries to log 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589278"/>
            <a:ext cx="5257800" cy="2502405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2" name="Image 0" descr="/home/claude/work/deck_assets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278"/>
            <a:ext cx="5257800" cy="2502405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&amp; Task Management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6 - July 17,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updating live for the whole team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My Tasks and Testing Queue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views for finding your own work, plus bulk task actions for reviewers and managers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9194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791456"/>
            <a:ext cx="5349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Pinning and archiving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user-side: any member can use them on their own view, regardless of role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589477"/>
            <a:ext cx="5257800" cy="2502007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2" name="Image 0" descr="/home/claude/work/deck_assets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89477"/>
            <a:ext cx="5257800" cy="2502007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Text 39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Collaboration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20 - July 24,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pushed over </a:t>
            </a:r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log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accountability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Per-project and per-task notification muting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451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5171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dashboard: activity charts, calendars &amp; My Notes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1937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0657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reminders and configurable per-task deadline alerts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32879" y="1783080"/>
            <a:ext cx="4359402" cy="208026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4" name="Image 0" descr="/home/claude/work/deck_assets/notific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2879" y="1783080"/>
            <a:ext cx="4359402" cy="20802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032879" y="4046220"/>
            <a:ext cx="4359402" cy="208026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6" name="Image 1" descr="/home/claude/work/deck_assets/activity_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879" y="4046220"/>
            <a:ext cx="4359402" cy="208026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32879" y="6181344"/>
            <a:ext cx="43594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log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7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55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841248"/>
            <a:ext cx="10271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Administration &amp; Analytics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27 - July 31, 2026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7393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role promotion/demotion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2257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formal appeal process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99923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87121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1985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admins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96512"/>
            <a:ext cx="128016" cy="27432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68496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temporary passwords &amp; configurable feedback categories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80663" y="1783080"/>
            <a:ext cx="3663835" cy="4114800"/>
          </a:xfrm>
          <a:prstGeom prst="rect">
            <a:avLst/>
          </a:prstGeom>
          <a:ln w="12700">
            <a:solidFill>
              <a:srgbClr val="C7C9D3"/>
            </a:solidFill>
            <a:prstDash val="solid"/>
          </a:ln>
        </p:spPr>
      </p:sp>
      <p:pic>
        <p:nvPicPr>
          <p:cNvPr id="20" name="Image 0" descr="/home/claude/work/deck_assets/admi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0663" y="1783080"/>
            <a:ext cx="3663835" cy="41148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19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0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1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2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3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4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5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6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7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8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29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0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1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2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6" name="Shape 33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7" name="Shape 34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8" name="Shape 35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39" name="Shape 36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0" name="Text 37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9384"/>
            <a:ext cx="54864" cy="76809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74520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834640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Browser: React + Inertia.js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01688" y="1874520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807208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953512"/>
            <a:ext cx="54864" cy="768096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98648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34640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13 controllers &amp; policies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01688" y="2898648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 notifications, logs, scheduler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831336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77640"/>
            <a:ext cx="54864" cy="76809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3922776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834640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Reverb (WebSocket server)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01688" y="3922776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Laravel Echo (client subscriber)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855464"/>
            <a:ext cx="10911535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5001768"/>
            <a:ext cx="54864" cy="768096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946904"/>
            <a:ext cx="1828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34640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Eloquent ORM → MySQL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01688" y="4946904"/>
            <a:ext cx="399272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C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Mail queue → notification e-mails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10819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flow top to bottom; broadcast events fan out sideways into either a live WebSocket push or a queued e-mail, depending on the recipient's notification preferences.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Text 43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56032" cy="5029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Laravel ecosystem: policies, jobs, scheduling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 without a separate REST layer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with WebSockets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modelling at platform scale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828800"/>
            <a:ext cx="256032" cy="502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965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5146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real-time updates without duplication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026664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317296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flexible yet simple RBAC model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63640" y="3685032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63640" y="38313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scope within a fixed seven-week window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4343400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8970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my own Agile process end to end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5001768"/>
            <a:ext cx="5120640" cy="0"/>
          </a:xfrm>
          <a:prstGeom prst="line">
            <a:avLst/>
          </a:prstGeom>
          <a:noFill/>
          <a:ln w="6350">
            <a:solidFill>
              <a:srgbClr val="C7C9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6752" y="1828800"/>
            <a:ext cx="0" cy="3383280"/>
          </a:xfrm>
          <a:prstGeom prst="line">
            <a:avLst/>
          </a:prstGeom>
          <a:noFill/>
          <a:ln w="12700">
            <a:solidFill>
              <a:srgbClr val="C7C9D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6" name="Text 4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82296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512064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52144" y="54864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15888" y="1783080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892808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96312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15888" y="2496312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5888" y="2606040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09544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5888" y="3209544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5888" y="3319272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922776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projects, showcased on public profiles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5888" y="3922776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4032504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Custom, configurable project roles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636008"/>
            <a:ext cx="5135728" cy="0"/>
          </a:xfrm>
          <a:prstGeom prst="line">
            <a:avLst/>
          </a:prstGeom>
          <a:noFill/>
          <a:ln w="9525">
            <a:solidFill>
              <a:srgbClr val="C7C9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745736"/>
            <a:ext cx="51357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 system-wide announcement broadcasts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Shape 24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7" name="Shape 25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8" name="Shape 26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9" name="Shape 27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0" name="Shape 28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hape 30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3" name="Shape 31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4" name="Shape 32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Shape 33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6" name="Shape 34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7" name="Shape 35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8" name="Shape 36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2" name="Shape 40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43" name="Text 41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550000"/>
            <a:ext cx="457200" cy="73152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20000"/>
            <a:ext cx="54864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120000"/>
            <a:ext cx="10911535" cy="8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150000"/>
            <a:ext cx="10911535" cy="1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layer, delivered through a disciplined, sprint-based process from requirements to a working product.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600000"/>
            <a:ext cx="10911535" cy="10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engineering: not just a product, but the judgment built while shipping it under real constraints.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C7C9D3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0"/>
            <a:ext cx="9144000" cy="10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720000"/>
            <a:ext cx="9144000" cy="5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5420000"/>
            <a:ext cx="2011680" cy="0"/>
          </a:xfrm>
          <a:prstGeom prst="line">
            <a:avLst/>
          </a:prstGeom>
          <a:noFill/>
          <a:ln w="12700">
            <a:solidFill>
              <a:srgbClr val="9AA0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520000"/>
            <a:ext cx="5486400" cy="3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860000"/>
            <a:ext cx="54864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4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Synkro, ISLAIB, Licence GLSI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8" name="Shape 6"/>
          <p:cNvSpPr/>
          <p:nvPr/>
        </p:nvSpPr>
        <p:spPr>
          <a:xfrm>
            <a:off x="121653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hape 7"/>
          <p:cNvSpPr/>
          <p:nvPr/>
        </p:nvSpPr>
        <p:spPr>
          <a:xfrm>
            <a:off x="179299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0" name="Shape 8"/>
          <p:cNvSpPr/>
          <p:nvPr/>
        </p:nvSpPr>
        <p:spPr>
          <a:xfrm>
            <a:off x="236945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1" name="Shape 9"/>
          <p:cNvSpPr/>
          <p:nvPr/>
        </p:nvSpPr>
        <p:spPr>
          <a:xfrm>
            <a:off x="294590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236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409882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467527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5" name="Shape 13"/>
          <p:cNvSpPr/>
          <p:nvPr/>
        </p:nvSpPr>
        <p:spPr>
          <a:xfrm>
            <a:off x="525173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5828193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4650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8" name="Shape 16"/>
          <p:cNvSpPr/>
          <p:nvPr/>
        </p:nvSpPr>
        <p:spPr>
          <a:xfrm>
            <a:off x="6981107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9" name="Shape 17"/>
          <p:cNvSpPr/>
          <p:nvPr/>
        </p:nvSpPr>
        <p:spPr>
          <a:xfrm>
            <a:off x="7557564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4021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1" name="Shape 19"/>
          <p:cNvSpPr/>
          <p:nvPr/>
        </p:nvSpPr>
        <p:spPr>
          <a:xfrm>
            <a:off x="8710478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2" name="Shape 20"/>
          <p:cNvSpPr/>
          <p:nvPr/>
        </p:nvSpPr>
        <p:spPr>
          <a:xfrm>
            <a:off x="9286935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63392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39849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5" name="Shape 23"/>
          <p:cNvSpPr/>
          <p:nvPr/>
        </p:nvSpPr>
        <p:spPr>
          <a:xfrm>
            <a:off x="11016306" y="6656832"/>
            <a:ext cx="535309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26" name="Text 24"/>
          <p:cNvSpPr/>
          <p:nvPr/>
        </p:nvSpPr>
        <p:spPr>
          <a:xfrm>
            <a:off x="10362895" y="6327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2026-09-18T23:01:54Z</dcterms:created>
  <dcterms:modified xsi:type="dcterms:W3CDTF">2026-09-18T23:01:54Z</dcterms:modified>
</cp:coreProperties>
</file>