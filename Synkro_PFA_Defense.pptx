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99832" y="1188720"/>
            <a:ext cx="960120" cy="4023360"/>
          </a:xfrm>
          <a:prstGeom prst="rect">
            <a:avLst/>
          </a:prstGeom>
          <a:solidFill>
            <a:srgbClr val="1E212F"/>
          </a:solidFill>
          <a:ln w="9525">
            <a:solidFill>
              <a:srgbClr val="3E425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09560" y="1417320"/>
            <a:ext cx="740664" cy="566928"/>
          </a:xfrm>
          <a:prstGeom prst="rect">
            <a:avLst/>
          </a:prstGeom>
          <a:solidFill>
            <a:srgbClr val="262A3C"/>
          </a:solidFill>
          <a:ln/>
        </p:spPr>
      </p:sp>
      <p:sp>
        <p:nvSpPr>
          <p:cNvPr id="4" name="Shape 2"/>
          <p:cNvSpPr/>
          <p:nvPr/>
        </p:nvSpPr>
        <p:spPr>
          <a:xfrm>
            <a:off x="7909560" y="2130552"/>
            <a:ext cx="740664" cy="566928"/>
          </a:xfrm>
          <a:prstGeom prst="rect">
            <a:avLst/>
          </a:prstGeom>
          <a:solidFill>
            <a:srgbClr val="262A3C"/>
          </a:solidFill>
          <a:ln/>
        </p:spPr>
      </p:sp>
      <p:sp>
        <p:nvSpPr>
          <p:cNvPr id="5" name="Shape 3"/>
          <p:cNvSpPr/>
          <p:nvPr/>
        </p:nvSpPr>
        <p:spPr>
          <a:xfrm>
            <a:off x="8942832" y="1188720"/>
            <a:ext cx="960120" cy="4023360"/>
          </a:xfrm>
          <a:prstGeom prst="rect">
            <a:avLst/>
          </a:prstGeom>
          <a:solidFill>
            <a:srgbClr val="1E212F"/>
          </a:solidFill>
          <a:ln w="9525">
            <a:solidFill>
              <a:srgbClr val="3E425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52560" y="1417320"/>
            <a:ext cx="740664" cy="566928"/>
          </a:xfrm>
          <a:prstGeom prst="rect">
            <a:avLst/>
          </a:prstGeom>
          <a:solidFill>
            <a:srgbClr val="262A3C"/>
          </a:solidFill>
          <a:ln/>
        </p:spPr>
      </p:sp>
      <p:sp>
        <p:nvSpPr>
          <p:cNvPr id="7" name="Shape 5"/>
          <p:cNvSpPr/>
          <p:nvPr/>
        </p:nvSpPr>
        <p:spPr>
          <a:xfrm>
            <a:off x="9052560" y="2130552"/>
            <a:ext cx="740664" cy="566928"/>
          </a:xfrm>
          <a:prstGeom prst="rect">
            <a:avLst/>
          </a:prstGeom>
          <a:solidFill>
            <a:srgbClr val="262A3C"/>
          </a:solidFill>
          <a:ln/>
        </p:spPr>
      </p:sp>
      <p:sp>
        <p:nvSpPr>
          <p:cNvPr id="8" name="Shape 6"/>
          <p:cNvSpPr/>
          <p:nvPr/>
        </p:nvSpPr>
        <p:spPr>
          <a:xfrm>
            <a:off x="9052560" y="2843784"/>
            <a:ext cx="740664" cy="566928"/>
          </a:xfrm>
          <a:prstGeom prst="rect">
            <a:avLst/>
          </a:prstGeom>
          <a:solidFill>
            <a:srgbClr val="262A3C"/>
          </a:solidFill>
          <a:ln/>
        </p:spPr>
      </p:sp>
      <p:sp>
        <p:nvSpPr>
          <p:cNvPr id="9" name="Shape 7"/>
          <p:cNvSpPr/>
          <p:nvPr/>
        </p:nvSpPr>
        <p:spPr>
          <a:xfrm>
            <a:off x="10085832" y="1188720"/>
            <a:ext cx="960120" cy="4023360"/>
          </a:xfrm>
          <a:prstGeom prst="rect">
            <a:avLst/>
          </a:prstGeom>
          <a:solidFill>
            <a:srgbClr val="1E212F"/>
          </a:solidFill>
          <a:ln w="9525">
            <a:solidFill>
              <a:srgbClr val="3E425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95560" y="1417320"/>
            <a:ext cx="740664" cy="566928"/>
          </a:xfrm>
          <a:prstGeom prst="rect">
            <a:avLst/>
          </a:prstGeom>
          <a:solidFill>
            <a:srgbClr val="262A3C"/>
          </a:solidFill>
          <a:ln/>
        </p:spPr>
      </p:sp>
      <p:sp>
        <p:nvSpPr>
          <p:cNvPr id="11" name="Shape 9"/>
          <p:cNvSpPr/>
          <p:nvPr/>
        </p:nvSpPr>
        <p:spPr>
          <a:xfrm>
            <a:off x="11228832" y="1188720"/>
            <a:ext cx="960120" cy="4023360"/>
          </a:xfrm>
          <a:prstGeom prst="rect">
            <a:avLst/>
          </a:prstGeom>
          <a:solidFill>
            <a:srgbClr val="1E212F"/>
          </a:solidFill>
          <a:ln w="9525">
            <a:solidFill>
              <a:srgbClr val="3E425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338560" y="1417320"/>
            <a:ext cx="740664" cy="566928"/>
          </a:xfrm>
          <a:prstGeom prst="rect">
            <a:avLst/>
          </a:prstGeom>
          <a:solidFill>
            <a:srgbClr val="262A3C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38560" y="2130552"/>
            <a:ext cx="740664" cy="566928"/>
          </a:xfrm>
          <a:prstGeom prst="rect">
            <a:avLst/>
          </a:prstGeom>
          <a:solidFill>
            <a:srgbClr val="262A3C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15544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EB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END-OF-YEAR INTERNSHIP REPORT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1874520"/>
            <a:ext cx="6858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Synkro</a:t>
            </a:r>
            <a:endParaRPr lang="en-US" sz="6600" dirty="0"/>
          </a:p>
        </p:txBody>
      </p:sp>
      <p:sp>
        <p:nvSpPr>
          <p:cNvPr id="16" name="Text 14"/>
          <p:cNvSpPr/>
          <p:nvPr/>
        </p:nvSpPr>
        <p:spPr>
          <a:xfrm>
            <a:off x="640080" y="2971800"/>
            <a:ext cx="6583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D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development of a collaborative project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D6D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task management platform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470916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06040" y="4709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E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 Ouerhani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507492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supervisor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606040" y="5074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E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Mkaissi Khalil, Kernel Solution &amp; Innovation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54406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606040" y="54406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E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ISLAIB, Licence GLSI, 2025-2026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4" name="Shape 22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3E4258"/>
          </a:solidFill>
          <a:ln/>
        </p:spPr>
      </p:sp>
      <p:sp>
        <p:nvSpPr>
          <p:cNvPr id="25" name="Shape 23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3E4258"/>
          </a:solidFill>
          <a:ln/>
        </p:spPr>
      </p:sp>
      <p:sp>
        <p:nvSpPr>
          <p:cNvPr id="26" name="Shape 24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3E4258"/>
          </a:solidFill>
          <a:ln/>
        </p:spPr>
      </p:sp>
      <p:sp>
        <p:nvSpPr>
          <p:cNvPr id="27" name="Shape 25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3E4258"/>
          </a:solidFill>
          <a:ln/>
        </p:spPr>
      </p:sp>
      <p:sp>
        <p:nvSpPr>
          <p:cNvPr id="28" name="Shape 26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3E4258"/>
          </a:solidFill>
          <a:ln/>
        </p:spPr>
      </p:sp>
      <p:sp>
        <p:nvSpPr>
          <p:cNvPr id="29" name="Shape 27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3E4258"/>
          </a:solidFill>
          <a:ln/>
        </p:spPr>
      </p:sp>
      <p:sp>
        <p:nvSpPr>
          <p:cNvPr id="30" name="Shape 28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3E4258"/>
          </a:solidFill>
          <a:ln/>
        </p:spPr>
      </p:sp>
      <p:sp>
        <p:nvSpPr>
          <p:cNvPr id="31" name="Shape 29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3E4258"/>
          </a:solidFill>
          <a:ln/>
        </p:spPr>
      </p:sp>
      <p:sp>
        <p:nvSpPr>
          <p:cNvPr id="32" name="Shape 30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3E4258"/>
          </a:solidFill>
          <a:ln/>
        </p:spPr>
      </p:sp>
      <p:sp>
        <p:nvSpPr>
          <p:cNvPr id="33" name="Shape 31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3E4258"/>
          </a:solidFill>
          <a:ln/>
        </p:spPr>
      </p:sp>
      <p:sp>
        <p:nvSpPr>
          <p:cNvPr id="34" name="Shape 32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3E4258"/>
          </a:solidFill>
          <a:ln/>
        </p:spPr>
      </p:sp>
      <p:sp>
        <p:nvSpPr>
          <p:cNvPr id="35" name="Shape 33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3E4258"/>
          </a:solidFill>
          <a:ln/>
        </p:spPr>
      </p:sp>
      <p:sp>
        <p:nvSpPr>
          <p:cNvPr id="36" name="Shape 34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3E4258"/>
          </a:solidFill>
          <a:ln/>
        </p:spPr>
      </p:sp>
      <p:sp>
        <p:nvSpPr>
          <p:cNvPr id="37" name="Shape 35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3E4258"/>
          </a:solidFill>
          <a:ln/>
        </p:spPr>
      </p:sp>
      <p:sp>
        <p:nvSpPr>
          <p:cNvPr id="38" name="Shape 36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3E4258"/>
          </a:solidFill>
          <a:ln/>
        </p:spPr>
      </p:sp>
      <p:sp>
        <p:nvSpPr>
          <p:cNvPr id="39" name="Shape 37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3E4258"/>
          </a:solidFill>
          <a:ln/>
        </p:spPr>
      </p:sp>
      <p:sp>
        <p:nvSpPr>
          <p:cNvPr id="40" name="Shape 38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3E4258"/>
          </a:solidFill>
          <a:ln/>
        </p:spPr>
      </p:sp>
      <p:sp>
        <p:nvSpPr>
          <p:cNvPr id="41" name="Shape 39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3E4258"/>
          </a:solidFill>
          <a:ln/>
        </p:spPr>
      </p:sp>
      <p:sp>
        <p:nvSpPr>
          <p:cNvPr id="42" name="Text 40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19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presentation covers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77240" y="3383280"/>
            <a:ext cx="10637215" cy="0"/>
          </a:xfrm>
          <a:prstGeom prst="line">
            <a:avLst/>
          </a:prstGeom>
          <a:noFill/>
          <a:ln w="15875">
            <a:solidFill>
              <a:srgbClr val="C7C9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4944" y="3300984"/>
            <a:ext cx="164592" cy="164592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72768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1938528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context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0080" y="2304288"/>
            <a:ext cx="2286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 company, the market, and the problem Synkro addresses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54248" y="3300984"/>
            <a:ext cx="164592" cy="164592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2293544" y="3657600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293544" y="4023360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 &amp; methodology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2293544" y="4389120"/>
            <a:ext cx="2286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Objectives, actors, tech stack, and the Agile sprint plan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13552" y="3300984"/>
            <a:ext cx="164592" cy="164592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5" name="Text 13"/>
          <p:cNvSpPr/>
          <p:nvPr/>
        </p:nvSpPr>
        <p:spPr>
          <a:xfrm>
            <a:off x="4952848" y="1572768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5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952848" y="1938528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sprints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952848" y="2304288"/>
            <a:ext cx="2286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Authentication, project &amp; task management, real-time collaboration, admin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672855" y="3300984"/>
            <a:ext cx="164592" cy="16459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7612151" y="3657600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612151" y="4023360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&amp; results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612151" y="4389120"/>
            <a:ext cx="2286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it's built, and what the platform looks like today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1332159" y="3300984"/>
            <a:ext cx="164592" cy="164592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23" name="Text 21"/>
          <p:cNvSpPr/>
          <p:nvPr/>
        </p:nvSpPr>
        <p:spPr>
          <a:xfrm>
            <a:off x="9265615" y="1572768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265615" y="1938528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Reflection &amp; next steps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265615" y="2304288"/>
            <a:ext cx="2286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gained, challenges, and where Synkro goes from here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5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6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9" name="Shape 27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0" name="Shape 28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1" name="Shape 29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2" name="Shape 30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3" name="Shape 31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4" name="Shape 32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5" name="Shape 33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6" name="Shape 34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7" name="Shape 35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9" name="Shape 37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0" name="Shape 38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1" name="Shape 39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2" name="Shape 40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3" name="Shape 41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4" name="Shape 42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5" name="Text 43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19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context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Kernel Solution &amp; Innovation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5577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agency in Hammam-Lif, Tunisia, with over seven years of experience turning client ideas into complete digital products: custom software, mobile apps, web design, and digital marketing.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37560"/>
            <a:ext cx="5577840" cy="0"/>
          </a:xfrm>
          <a:prstGeom prst="line">
            <a:avLst/>
          </a:prstGeom>
          <a:noFill/>
          <a:ln w="12700">
            <a:solidFill>
              <a:srgbClr val="C7C9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520440"/>
            <a:ext cx="5577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internship (PFA) was self-directed: full autonomy over the topic and the implementation, under the professional supervision of the agency's CEO, within its own Agile delivery culture.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60920" y="1965960"/>
            <a:ext cx="0" cy="3072384"/>
          </a:xfrm>
          <a:prstGeom prst="line">
            <a:avLst/>
          </a:prstGeom>
          <a:noFill/>
          <a:ln w="15875">
            <a:solidFill>
              <a:srgbClr val="C7C9D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06056" y="1911096"/>
            <a:ext cx="109728" cy="109728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1" name="Text 9"/>
          <p:cNvSpPr/>
          <p:nvPr/>
        </p:nvSpPr>
        <p:spPr>
          <a:xfrm>
            <a:off x="7616952" y="17373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8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982712" y="1819656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982712" y="2148840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goals, define roadmap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06056" y="2935224"/>
            <a:ext cx="109728" cy="109728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5" name="Text 13"/>
          <p:cNvSpPr/>
          <p:nvPr/>
        </p:nvSpPr>
        <p:spPr>
          <a:xfrm>
            <a:off x="7616952" y="276148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8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982712" y="2843784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982712" y="3172968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modern technologies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306056" y="3959352"/>
            <a:ext cx="109728" cy="109728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9" name="Text 17"/>
          <p:cNvSpPr/>
          <p:nvPr/>
        </p:nvSpPr>
        <p:spPr>
          <a:xfrm>
            <a:off x="7616952" y="3785616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8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982712" y="3867912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QA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982712" y="4197096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quality before launch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306056" y="4983480"/>
            <a:ext cx="109728" cy="109728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23" name="Text 21"/>
          <p:cNvSpPr/>
          <p:nvPr/>
        </p:nvSpPr>
        <p:spPr>
          <a:xfrm>
            <a:off x="7616952" y="4809744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8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982712" y="4892040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&amp; support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982712" y="5221224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and support ongoing use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5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6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7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0" name="Shape 28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1" name="Shape 29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2" name="Shape 30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3" name="Shape 31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4" name="Shape 32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5" name="Shape 33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6" name="Shape 34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7" name="Shape 35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9" name="Shape 37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0" name="Shape 38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1" name="Shape 39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2" name="Shape 40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3" name="Shape 41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4" name="Shape 42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5" name="Text 43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19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context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gap in existing project management tools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536192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teams need simplicity, live collaboration, and fine-grained role control together, a combination the market rarely offers in one lightweight product.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926080" y="2194560"/>
            <a:ext cx="1633667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Trello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2926080" y="2697480"/>
            <a:ext cx="1633667" cy="0"/>
          </a:xfrm>
          <a:prstGeom prst="line">
            <a:avLst/>
          </a:prstGeom>
          <a:noFill/>
          <a:ln w="12700">
            <a:solidFill>
              <a:srgbClr val="C7C9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51187" y="2194560"/>
            <a:ext cx="1633667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Asana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651187" y="2697480"/>
            <a:ext cx="1633667" cy="0"/>
          </a:xfrm>
          <a:prstGeom prst="line">
            <a:avLst/>
          </a:prstGeom>
          <a:noFill/>
          <a:ln w="12700">
            <a:solidFill>
              <a:srgbClr val="C7C9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6294" y="2194560"/>
            <a:ext cx="1633667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Jira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376294" y="2697480"/>
            <a:ext cx="1633667" cy="0"/>
          </a:xfrm>
          <a:prstGeom prst="line">
            <a:avLst/>
          </a:prstGeom>
          <a:noFill/>
          <a:ln w="12700">
            <a:solidFill>
              <a:srgbClr val="C7C9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01401" y="2194560"/>
            <a:ext cx="1633667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ClickUp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01401" y="2697480"/>
            <a:ext cx="1633667" cy="0"/>
          </a:xfrm>
          <a:prstGeom prst="line">
            <a:avLst/>
          </a:prstGeom>
          <a:noFill/>
          <a:ln w="12700">
            <a:solidFill>
              <a:srgbClr val="C7C9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26508" y="2194560"/>
            <a:ext cx="1633667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Synkro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826508" y="2697480"/>
            <a:ext cx="1633667" cy="0"/>
          </a:xfrm>
          <a:prstGeom prst="line">
            <a:avLst/>
          </a:prstGeom>
          <a:noFill/>
          <a:ln w="25400">
            <a:solidFill>
              <a:srgbClr val="4F46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2697480"/>
            <a:ext cx="2194560" cy="0"/>
          </a:xfrm>
          <a:prstGeom prst="line">
            <a:avLst/>
          </a:prstGeom>
          <a:noFill/>
          <a:ln w="12700">
            <a:solidFill>
              <a:srgbClr val="C7C9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697480"/>
            <a:ext cx="2148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 of use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2971800" y="2697480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simple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696907" y="2697480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&amp; fast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22014" y="2697480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Steep learning curve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147121" y="2697480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Steep learning curve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872228" y="2697480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&amp; fast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3538728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538728"/>
            <a:ext cx="2148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collaboration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971800" y="3538728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696907" y="3538728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422014" y="3538728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147121" y="3538728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9872228" y="3538728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real-time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40080" y="4379976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4379976"/>
            <a:ext cx="2148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granularity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2971800" y="4379976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roles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696907" y="4379976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roles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422014" y="4379976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roles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8147121" y="4379976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roles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9872228" y="4379976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granular roles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40080" y="5404104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tools sacrifice roles and real-time depth; complete tools become heavy. Synkro targets that gap.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0" name="Shape 38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1" name="Shape 39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2" name="Shape 40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3" name="Shape 41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4" name="Shape 42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5" name="Shape 43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6" name="Shape 44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7" name="Shape 45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8" name="Shape 46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9" name="Shape 47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50" name="Shape 48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51" name="Shape 49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52" name="Shape 50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53" name="Shape 51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54" name="Shape 52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55" name="Shape 53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56" name="Shape 54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57" name="Shape 55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58" name="Text 56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19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context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Introducing Synkro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5577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collaborative web platform where teams create projects, assign role-based responsibilities, move tasks through a clear status workflow, and stay instantly informed. All built solo in seven weeks.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17520"/>
            <a:ext cx="5577840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10896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Role-aware projects: Owner, Manager, Member, Tester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584448"/>
            <a:ext cx="5577840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675888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task lifecycle with checklists &amp; deliverables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4151376"/>
            <a:ext cx="5577840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242816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notifications powered by WebSockets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718304"/>
            <a:ext cx="5577840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809744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Administration, moderation &amp; analytics layer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5285232"/>
            <a:ext cx="5577840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37960" y="1783080"/>
            <a:ext cx="5212080" cy="2654189"/>
          </a:xfrm>
          <a:prstGeom prst="rect">
            <a:avLst/>
          </a:prstGeom>
          <a:ln w="12700">
            <a:solidFill>
              <a:srgbClr val="C7C9D3"/>
            </a:solidFill>
            <a:prstDash val="solid"/>
          </a:ln>
        </p:spPr>
      </p:sp>
      <p:pic>
        <p:nvPicPr>
          <p:cNvPr id="17" name="Image 0" descr="/home/claude/work/deck_assets/landin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212080" cy="2654189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9" name="Shape 16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0" name="Shape 17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1" name="Shape 18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2" name="Shape 19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3" name="Shape 20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4" name="Shape 21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5" name="Shape 22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6" name="Shape 23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7" name="Shape 24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8" name="Shape 25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9" name="Shape 26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0" name="Shape 27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1" name="Shape 28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2" name="Shape 29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3" name="Shape 30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4" name="Shape 31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5" name="Shape 32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6" name="Shape 33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7" name="Text 34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19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methodology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048256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complete, usable platform within a </a:t>
            </a:r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seven-week internship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706624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83464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Fine-grained, </a:t>
            </a:r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</a:t>
            </a:r>
            <a:pPr indent="0" marL="0">
              <a:buNone/>
            </a:pPr>
            <a:r>
              <a:rPr lang="en-US" sz="15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across every project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493008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621024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</a:t>
            </a:r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collaboration</a:t>
            </a:r>
            <a:pPr indent="0" marL="0">
              <a:buNone/>
            </a:pPr>
            <a:r>
              <a:rPr lang="en-US" sz="15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via </a:t>
            </a:r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279392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407408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&amp; moderation tooling</a:t>
            </a:r>
            <a:pPr indent="0" marL="0">
              <a:buNone/>
            </a:pPr>
            <a:r>
              <a:rPr lang="en-US" sz="15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 healthy platform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5065776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5193792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internship itself as an </a:t>
            </a:r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Agile, sprint-based process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5852160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8" name="Shape 16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9" name="Shape 17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0" name="Shape 18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1" name="Shape 19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2" name="Shape 20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3" name="Shape 21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4" name="Shape 22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5" name="Shape 23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6" name="Shape 24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7" name="Shape 25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8" name="Shape 26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9" name="Shape 27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0" name="Shape 28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1" name="Shape 29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2" name="Shape 30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3" name="Shape 31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4" name="Shape 32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5" name="Shape 33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6" name="Text 34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19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methodology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Actors &amp; roles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LEVEL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" y="2148840"/>
            <a:ext cx="292608" cy="54864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286000"/>
            <a:ext cx="23164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633472"/>
            <a:ext cx="23164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control, including deleting the project and role management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05124" y="2148840"/>
            <a:ext cx="292608" cy="54864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1" name="Text 9"/>
          <p:cNvSpPr/>
          <p:nvPr/>
        </p:nvSpPr>
        <p:spPr>
          <a:xfrm>
            <a:off x="3505124" y="2286000"/>
            <a:ext cx="23164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05124" y="2633472"/>
            <a:ext cx="23164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and assigns tasks, manages members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370168" y="2148840"/>
            <a:ext cx="292608" cy="54864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4" name="Text 12"/>
          <p:cNvSpPr/>
          <p:nvPr/>
        </p:nvSpPr>
        <p:spPr>
          <a:xfrm>
            <a:off x="6370168" y="2286000"/>
            <a:ext cx="23164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Member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70168" y="2633472"/>
            <a:ext cx="23164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assigned tasks, checklists and deliverables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235211" y="2148840"/>
            <a:ext cx="292608" cy="54864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7" name="Text 15"/>
          <p:cNvSpPr/>
          <p:nvPr/>
        </p:nvSpPr>
        <p:spPr>
          <a:xfrm>
            <a:off x="9235211" y="2286000"/>
            <a:ext cx="23164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235211" y="2633472"/>
            <a:ext cx="23164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submitted work, restricted permissions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3794760"/>
            <a:ext cx="10911535" cy="0"/>
          </a:xfrm>
          <a:prstGeom prst="line">
            <a:avLst/>
          </a:prstGeom>
          <a:noFill/>
          <a:ln w="12700">
            <a:solidFill>
              <a:srgbClr val="C7C9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LEVEL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389120"/>
            <a:ext cx="292608" cy="54864"/>
          </a:xfrm>
          <a:prstGeom prst="rect">
            <a:avLst/>
          </a:prstGeom>
          <a:solidFill>
            <a:srgbClr val="2E2A8C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26280"/>
            <a:ext cx="327141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" y="4873752"/>
            <a:ext cx="327141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authenticated account by default: manages their own profile and projects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460138" y="4389120"/>
            <a:ext cx="292608" cy="54864"/>
          </a:xfrm>
          <a:prstGeom prst="rect">
            <a:avLst/>
          </a:prstGeom>
          <a:solidFill>
            <a:srgbClr val="2E2A8C"/>
          </a:solidFill>
          <a:ln/>
        </p:spPr>
      </p:sp>
      <p:sp>
        <p:nvSpPr>
          <p:cNvPr id="25" name="Text 23"/>
          <p:cNvSpPr/>
          <p:nvPr/>
        </p:nvSpPr>
        <p:spPr>
          <a:xfrm>
            <a:off x="4460138" y="4526280"/>
            <a:ext cx="327141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Administrator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460138" y="4873752"/>
            <a:ext cx="327141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Moderates users, handles tickets and appeals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0197" y="4389120"/>
            <a:ext cx="292608" cy="54864"/>
          </a:xfrm>
          <a:prstGeom prst="rect">
            <a:avLst/>
          </a:prstGeom>
          <a:solidFill>
            <a:srgbClr val="2E2A8C"/>
          </a:solidFill>
          <a:ln/>
        </p:spPr>
      </p:sp>
      <p:sp>
        <p:nvSpPr>
          <p:cNvPr id="28" name="Text 26"/>
          <p:cNvSpPr/>
          <p:nvPr/>
        </p:nvSpPr>
        <p:spPr>
          <a:xfrm>
            <a:off x="8280197" y="4526280"/>
            <a:ext cx="327141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Superadmin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80197" y="4873752"/>
            <a:ext cx="327141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Promotes/demotes users, deletes accounts, edits user info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9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30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31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4" name="Shape 32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5" name="Shape 33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6" name="Shape 34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7" name="Shape 35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8" name="Shape 36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9" name="Shape 37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0" name="Shape 38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1" name="Shape 39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2" name="Shape 40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3" name="Shape 41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4" name="Shape 42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5" name="Shape 43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6" name="Shape 44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7" name="Shape 45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8" name="Shape 46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9" name="Text 47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19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methodology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 specification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148840"/>
            <a:ext cx="5074920" cy="0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331720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e-mail verification, login &amp; session management</a:t>
            </a:r>
            <a:endParaRPr lang="en-US" sz="1180" dirty="0"/>
          </a:p>
        </p:txBody>
      </p:sp>
      <p:sp>
        <p:nvSpPr>
          <p:cNvPr id="9" name="Text 7"/>
          <p:cNvSpPr/>
          <p:nvPr/>
        </p:nvSpPr>
        <p:spPr>
          <a:xfrm>
            <a:off x="640080" y="2953512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account settings &amp; visual theme management</a:t>
            </a:r>
            <a:endParaRPr lang="en-US" sz="1180" dirty="0"/>
          </a:p>
        </p:txBody>
      </p:sp>
      <p:sp>
        <p:nvSpPr>
          <p:cNvPr id="10" name="Text 8"/>
          <p:cNvSpPr/>
          <p:nvPr/>
        </p:nvSpPr>
        <p:spPr>
          <a:xfrm>
            <a:off x="640080" y="3575304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creation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invitations &amp; role assignment</a:t>
            </a:r>
            <a:endParaRPr lang="en-US" sz="1180" dirty="0"/>
          </a:p>
        </p:txBody>
      </p:sp>
      <p:sp>
        <p:nvSpPr>
          <p:cNvPr id="11" name="Text 9"/>
          <p:cNvSpPr/>
          <p:nvPr/>
        </p:nvSpPr>
        <p:spPr>
          <a:xfrm>
            <a:off x="640080" y="4197096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lifecycle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status, checklists &amp; deliverables</a:t>
            </a:r>
            <a:endParaRPr lang="en-US" sz="1180" dirty="0"/>
          </a:p>
        </p:txBody>
      </p:sp>
      <p:sp>
        <p:nvSpPr>
          <p:cNvPr id="12" name="Text 10"/>
          <p:cNvSpPr/>
          <p:nvPr/>
        </p:nvSpPr>
        <p:spPr>
          <a:xfrm>
            <a:off x="640080" y="4818888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Comments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reviewer feedback &amp; real-time notifications</a:t>
            </a:r>
            <a:endParaRPr lang="en-US" sz="1180" dirty="0"/>
          </a:p>
        </p:txBody>
      </p:sp>
      <p:sp>
        <p:nvSpPr>
          <p:cNvPr id="13" name="Text 11"/>
          <p:cNvSpPr/>
          <p:nvPr/>
        </p:nvSpPr>
        <p:spPr>
          <a:xfrm>
            <a:off x="640080" y="5440680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user management, suspension appeals &amp; analytics</a:t>
            </a:r>
            <a:endParaRPr lang="en-US" sz="1180" dirty="0"/>
          </a:p>
        </p:txBody>
      </p:sp>
      <p:sp>
        <p:nvSpPr>
          <p:cNvPr id="14" name="Text 12"/>
          <p:cNvSpPr/>
          <p:nvPr/>
        </p:nvSpPr>
        <p:spPr>
          <a:xfrm>
            <a:off x="6263640" y="1783080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Non-functional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63640" y="2148840"/>
            <a:ext cx="5074920" cy="0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3640" y="2331720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clean, responsive UI on desktop &amp; mobile</a:t>
            </a:r>
            <a:endParaRPr lang="en-US" sz="1180" dirty="0"/>
          </a:p>
        </p:txBody>
      </p:sp>
      <p:sp>
        <p:nvSpPr>
          <p:cNvPr id="17" name="Text 15"/>
          <p:cNvSpPr/>
          <p:nvPr/>
        </p:nvSpPr>
        <p:spPr>
          <a:xfrm>
            <a:off x="6263640" y="2953512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real-time updates with minimal latency</a:t>
            </a:r>
            <a:endParaRPr lang="en-US" sz="1180" dirty="0"/>
          </a:p>
        </p:txBody>
      </p:sp>
      <p:sp>
        <p:nvSpPr>
          <p:cNvPr id="18" name="Text 16"/>
          <p:cNvSpPr/>
          <p:nvPr/>
        </p:nvSpPr>
        <p:spPr>
          <a:xfrm>
            <a:off x="6263640" y="3575304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every sensitive action behind role-based authorization</a:t>
            </a:r>
            <a:endParaRPr lang="en-US" sz="1180" dirty="0"/>
          </a:p>
        </p:txBody>
      </p:sp>
      <p:sp>
        <p:nvSpPr>
          <p:cNvPr id="19" name="Text 17"/>
          <p:cNvSpPr/>
          <p:nvPr/>
        </p:nvSpPr>
        <p:spPr>
          <a:xfrm>
            <a:off x="6263640" y="4197096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Maintainability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MVC separation &amp; a normalized data model</a:t>
            </a:r>
            <a:endParaRPr lang="en-US" sz="1180" dirty="0"/>
          </a:p>
        </p:txBody>
      </p:sp>
      <p:sp>
        <p:nvSpPr>
          <p:cNvPr id="20" name="Text 18"/>
          <p:cNvSpPr/>
          <p:nvPr/>
        </p:nvSpPr>
        <p:spPr>
          <a:xfrm>
            <a:off x="6263640" y="4818888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light &amp; custom colour themes for user comfort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>
            <a:off x="5989320" y="1783080"/>
            <a:ext cx="0" cy="4023360"/>
          </a:xfrm>
          <a:prstGeom prst="line">
            <a:avLst/>
          </a:prstGeom>
          <a:noFill/>
          <a:ln w="12700">
            <a:solidFill>
              <a:srgbClr val="C7C9D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3" name="Shape 21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4" name="Shape 22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3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Shape 24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5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6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7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8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1" name="Shape 29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2" name="Shape 30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3" name="Shape 31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4" name="Shape 32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5" name="Shape 33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6" name="Shape 34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7" name="Shape 35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8" name="Shape 36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9" name="Shape 37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0" name="Shape 38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1" name="Text 39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19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methodology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 &amp; tech stack</a:t>
            </a:r>
            <a:endParaRPr lang="en-US" sz="2800" dirty="0"/>
          </a:p>
        </p:txBody>
      </p:sp>
      <p:pic>
        <p:nvPicPr>
          <p:cNvPr id="6" name="Image 0" descr="/home/claude/work/deck_assets/uc_gene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4892040" cy="35889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463422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use case diagram of Synkro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783080"/>
            <a:ext cx="55165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Agile, sprint-based delivery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035040" y="2194560"/>
            <a:ext cx="5516575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sole developer and de facto product owner, the internship followed a planning sprint (Sprint 0) plus four development sprints, each shipping a working, demonstrable increment, modeled beforehand with UML use case, sequence, and class diagrams.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035040" y="3703320"/>
            <a:ext cx="55165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035040" y="4023360"/>
            <a:ext cx="5516575" cy="0"/>
          </a:xfrm>
          <a:prstGeom prst="line">
            <a:avLst/>
          </a:prstGeom>
          <a:noFill/>
          <a:ln w="12700">
            <a:solidFill>
              <a:srgbClr val="C7C9D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035040" y="41605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086600" y="4160520"/>
            <a:ext cx="1661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Laravel 13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793328" y="41605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844888" y="4160520"/>
            <a:ext cx="1661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 + Inertia.js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6035040" y="46177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086600" y="4617720"/>
            <a:ext cx="1661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Laravel Reverb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793328" y="46177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Styling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844888" y="4617720"/>
            <a:ext cx="1661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Tailwind CSS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035040" y="50749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086600" y="5074920"/>
            <a:ext cx="1661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MySQL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8793328" y="50749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844888" y="5074920"/>
            <a:ext cx="1661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Recharts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2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Shape 23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4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5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6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7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8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29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30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4" name="Shape 31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5" name="Shape 32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6" name="Shape 33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7" name="Shape 34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8" name="Shape 35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9" name="Shape 36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0" name="Shape 37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1" name="Shape 38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2" name="Shape 39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3" name="Text 40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19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methodology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planning: June 15 to July 31, 2026</a:t>
            </a:r>
            <a:endParaRPr lang="en-US" sz="2500" dirty="0"/>
          </a:p>
        </p:txBody>
      </p:sp>
      <p:pic>
        <p:nvPicPr>
          <p:cNvPr id="6" name="Image 0" descr="/home/claude/work/deck_assets/gantt_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6768" y="1600200"/>
            <a:ext cx="8138160" cy="358818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371269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full working weeks, split into one planning sprint and four development sprints: two weeks each for the functional core (auth, project &amp; task management), one week each for the lighter, incremental features that follow.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9" name="Shape 6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0" name="Shape 7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1" name="Shape 8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2" name="Shape 9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3" name="Shape 10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4" name="Shape 11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5" name="Shape 12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6" name="Shape 13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7" name="Shape 14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8" name="Shape 15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19" name="Shape 16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0" name="Shape 17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1" name="Shape 18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2" name="Shape 19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3" name="Shape 20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4" name="Shape 21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5" name="Shape 22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6" name="Shape 23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7" name="Text 24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19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5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sprints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502920" cy="27432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144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80160" y="841248"/>
            <a:ext cx="102714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Authentication &amp; User Management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40080" y="129844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22 - July 3, 2026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190195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77393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with 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verification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login &amp; logout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45059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32257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reset and full profile management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99923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87121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Light, dark &amp; black 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appearance themes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54787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41985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list of 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sessions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(“logged in devices”)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09651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96849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deactivation, reactivated automatically on next login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64515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51713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On-page restore prompt when a deleted account tries to log in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583680" y="2589278"/>
            <a:ext cx="5257800" cy="2502405"/>
          </a:xfrm>
          <a:prstGeom prst="rect">
            <a:avLst/>
          </a:prstGeom>
          <a:ln w="12700">
            <a:solidFill>
              <a:srgbClr val="C7C9D3"/>
            </a:solidFill>
            <a:prstDash val="solid"/>
          </a:ln>
        </p:spPr>
      </p:sp>
      <p:pic>
        <p:nvPicPr>
          <p:cNvPr id="22" name="Image 0" descr="/home/claude/work/deck_assets/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2589278"/>
            <a:ext cx="5257800" cy="2502405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4" name="Shape 21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2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Shape 23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4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5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6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7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8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29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30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4" name="Shape 31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5" name="Shape 32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6" name="Shape 33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7" name="Shape 34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8" name="Shape 35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9" name="Shape 36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1" name="Shape 38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2" name="Text 39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19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5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sprints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502920" cy="27432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144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80160" y="841248"/>
            <a:ext cx="102714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&amp; Task Management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40080" y="129844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6 - July 17, 2026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190195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77393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creation, invitations &amp; role assignment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45059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32257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task lifecycle: To Do → In Progress → Submitted → In Review → Done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99923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87121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Checklists and file/link deliverables per task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54787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41985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Kanban-style board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updating live for the whole team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09651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968496"/>
            <a:ext cx="5349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Projects, My Tasks and Testing Queue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views for finding your own work, plus bulk task actions for reviewers and managers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91947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791456"/>
            <a:ext cx="5349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Pinning and archiving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user-side: any member can use them on their own view, regardless of role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583680" y="2589477"/>
            <a:ext cx="5257800" cy="2502007"/>
          </a:xfrm>
          <a:prstGeom prst="rect">
            <a:avLst/>
          </a:prstGeom>
          <a:ln w="12700">
            <a:solidFill>
              <a:srgbClr val="C7C9D3"/>
            </a:solidFill>
            <a:prstDash val="solid"/>
          </a:ln>
        </p:spPr>
      </p:sp>
      <p:pic>
        <p:nvPicPr>
          <p:cNvPr id="22" name="Image 0" descr="/home/claude/work/deck_assets/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2589477"/>
            <a:ext cx="5257800" cy="2502007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4" name="Shape 21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2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Shape 23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4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5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6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7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8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29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30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4" name="Shape 31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5" name="Shape 32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6" name="Shape 33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7" name="Shape 34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8" name="Shape 35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9" name="Shape 36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1" name="Shape 38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2" name="Text 39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19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5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sprints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502920" cy="27432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144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80160" y="841248"/>
            <a:ext cx="102714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Real-Time Collaboration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40080" y="129844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20 - July 24, 2026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190195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77393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comments &amp; structured reviewer feedback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45059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32257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notifications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pushed over 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99923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87121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notes and shared project resources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54787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41985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activity log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accountability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09651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96849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Per-project and per-task notification muting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64515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51713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dashboard: activity charts, calendars &amp; My Notes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519379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506577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reminders and configurable per-task deadline alerts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032879" y="1783080"/>
            <a:ext cx="4359402" cy="2080260"/>
          </a:xfrm>
          <a:prstGeom prst="rect">
            <a:avLst/>
          </a:prstGeom>
          <a:ln w="12700">
            <a:solidFill>
              <a:srgbClr val="C7C9D3"/>
            </a:solidFill>
            <a:prstDash val="solid"/>
          </a:ln>
        </p:spPr>
      </p:sp>
      <p:pic>
        <p:nvPicPr>
          <p:cNvPr id="24" name="Image 0" descr="/home/claude/work/deck_assets/notifica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32879" y="1783080"/>
            <a:ext cx="4359402" cy="20802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7032879" y="4046220"/>
            <a:ext cx="4359402" cy="2080260"/>
          </a:xfrm>
          <a:prstGeom prst="rect">
            <a:avLst/>
          </a:prstGeom>
          <a:ln w="12700">
            <a:solidFill>
              <a:srgbClr val="C7C9D3"/>
            </a:solidFill>
            <a:prstDash val="solid"/>
          </a:ln>
        </p:spPr>
      </p:sp>
      <p:pic>
        <p:nvPicPr>
          <p:cNvPr id="26" name="Image 1" descr="/home/claude/work/deck_assets/activity_l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2879" y="4046220"/>
            <a:ext cx="4359402" cy="208026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32879" y="6181344"/>
            <a:ext cx="43594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activity log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5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6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7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28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29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4" name="Shape 30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5" name="Shape 31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6" name="Shape 32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7" name="Shape 33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8" name="Shape 34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9" name="Shape 35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0" name="Shape 36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1" name="Shape 37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2" name="Shape 38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3" name="Shape 39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4" name="Shape 40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5" name="Shape 41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6" name="Shape 42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7" name="Text 43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19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5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sprints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502920" cy="27432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144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80160" y="841248"/>
            <a:ext cx="102714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Administration &amp; Analytics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40080" y="129844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27 - July 31, 2026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190195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77393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role promotion/demotion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45059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32257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Suspension workflow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formal appeal process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99923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87121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/ support ticket tracking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54787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41985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Platform-wide analytics dashboard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admins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09651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96849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temporary passwords &amp; configurable feedback categories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80663" y="1783080"/>
            <a:ext cx="3663835" cy="4114800"/>
          </a:xfrm>
          <a:prstGeom prst="rect">
            <a:avLst/>
          </a:prstGeom>
          <a:ln w="12700">
            <a:solidFill>
              <a:srgbClr val="C7C9D3"/>
            </a:solidFill>
            <a:prstDash val="solid"/>
          </a:ln>
        </p:spPr>
      </p:sp>
      <p:pic>
        <p:nvPicPr>
          <p:cNvPr id="20" name="Image 0" descr="/home/claude/work/deck_assets/admin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0663" y="1783080"/>
            <a:ext cx="3663835" cy="411480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2" name="Shape 19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3" name="Shape 20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4" name="Shape 21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2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Shape 23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4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5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6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7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8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29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30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4" name="Shape 31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5" name="Shape 32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6" name="Shape 33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7" name="Shape 34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8" name="Shape 35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9" name="Shape 36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0" name="Text 37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19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results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architecture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929384"/>
            <a:ext cx="54864" cy="76809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1874520"/>
            <a:ext cx="1828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834640" y="1874520"/>
            <a:ext cx="39927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C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Browser: React + Inertia.js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101688" y="1874520"/>
            <a:ext cx="39927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C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Tailwind CSS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807208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953512"/>
            <a:ext cx="54864" cy="76809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2898648"/>
            <a:ext cx="1828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834640" y="2898648"/>
            <a:ext cx="39927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C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Laravel 13 controllers &amp; policies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01688" y="2898648"/>
            <a:ext cx="39927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C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Services: notifications, logs, scheduler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831336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977640"/>
            <a:ext cx="54864" cy="76809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" y="3922776"/>
            <a:ext cx="1828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Real-time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834640" y="3922776"/>
            <a:ext cx="39927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C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Laravel Reverb (WebSocket server)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01688" y="3922776"/>
            <a:ext cx="39927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C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Laravel Echo (client subscriber)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855464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5001768"/>
            <a:ext cx="54864" cy="768096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946904"/>
            <a:ext cx="1828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Persistence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834640" y="4946904"/>
            <a:ext cx="39927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C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Eloquent ORM → MySQL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01688" y="4946904"/>
            <a:ext cx="39927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C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Mail queue → notification e-mails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6108192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flow top to bottom; broadcast events fan out sideways into either a live WebSocket push or a queued e-mail, depending on the recipient's notification preferences.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5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6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7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8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9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30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31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4" name="Shape 32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5" name="Shape 33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6" name="Shape 34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7" name="Shape 35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9" name="Shape 37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0" name="Shape 38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1" name="Shape 39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2" name="Shape 40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3" name="Shape 41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4" name="Shape 42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5" name="Text 43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19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&amp; next steps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gained &amp; challenges faced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256032" cy="50292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965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gained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Laravel ecosystem: policies, jobs, scheduling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026664"/>
            <a:ext cx="5120640" cy="0"/>
          </a:xfrm>
          <a:prstGeom prst="line">
            <a:avLst/>
          </a:prstGeom>
          <a:noFill/>
          <a:ln w="6350">
            <a:solidFill>
              <a:srgbClr val="C7C9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172968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Inertia.js without a separate REST layer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685032"/>
            <a:ext cx="5120640" cy="0"/>
          </a:xfrm>
          <a:prstGeom prst="line">
            <a:avLst/>
          </a:prstGeom>
          <a:noFill/>
          <a:ln w="6350">
            <a:solidFill>
              <a:srgbClr val="C7C9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831336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systems with WebSockets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343400"/>
            <a:ext cx="5120640" cy="0"/>
          </a:xfrm>
          <a:prstGeom prst="line">
            <a:avLst/>
          </a:prstGeom>
          <a:noFill/>
          <a:ln w="6350">
            <a:solidFill>
              <a:srgbClr val="C7C9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489704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data modelling at platform scale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5001768"/>
            <a:ext cx="5120640" cy="0"/>
          </a:xfrm>
          <a:prstGeom prst="line">
            <a:avLst/>
          </a:prstGeom>
          <a:noFill/>
          <a:ln w="6350">
            <a:solidFill>
              <a:srgbClr val="C7C9D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63640" y="1828800"/>
            <a:ext cx="256032" cy="5029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6263640" y="1965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faced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251460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Coordinating real-time updates without duplication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026664"/>
            <a:ext cx="5120640" cy="0"/>
          </a:xfrm>
          <a:prstGeom prst="line">
            <a:avLst/>
          </a:prstGeom>
          <a:noFill/>
          <a:ln w="6350">
            <a:solidFill>
              <a:srgbClr val="C7C9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3172968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a flexible yet simple RBAC model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63640" y="3685032"/>
            <a:ext cx="5120640" cy="0"/>
          </a:xfrm>
          <a:prstGeom prst="line">
            <a:avLst/>
          </a:prstGeom>
          <a:noFill/>
          <a:ln w="6350">
            <a:solidFill>
              <a:srgbClr val="C7C9D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63640" y="3831336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Prioritizing scope within a fixed seven-week window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63640" y="4343400"/>
            <a:ext cx="5120640" cy="0"/>
          </a:xfrm>
          <a:prstGeom prst="line">
            <a:avLst/>
          </a:prstGeom>
          <a:noFill/>
          <a:ln w="6350">
            <a:solidFill>
              <a:srgbClr val="C7C9D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63640" y="4489704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my own Agile process end to end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263640" y="5001768"/>
            <a:ext cx="5120640" cy="0"/>
          </a:xfrm>
          <a:prstGeom prst="line">
            <a:avLst/>
          </a:prstGeom>
          <a:noFill/>
          <a:ln w="6350">
            <a:solidFill>
              <a:srgbClr val="C7C9D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16752" y="1828800"/>
            <a:ext cx="0" cy="3383280"/>
          </a:xfrm>
          <a:prstGeom prst="line">
            <a:avLst/>
          </a:prstGeom>
          <a:noFill/>
          <a:ln w="12700">
            <a:solidFill>
              <a:srgbClr val="C7C9D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6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7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8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9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30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31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4" name="Shape 32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5" name="Shape 33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6" name="Shape 34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7" name="Shape 35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8" name="Shape 36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9" name="Shape 37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0" name="Shape 38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1" name="Shape 39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2" name="Shape 40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3" name="Shape 41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4" name="Shape 42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5" name="Shape 43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6" name="Text 44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19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&amp; next steps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perspectives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135728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892808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2FA / CAPTCHA and Google sign-in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15888" y="1783080"/>
            <a:ext cx="5135728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5888" y="1892808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user profiles, separate from account settings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496312"/>
            <a:ext cx="5135728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606040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Messaging: direct, per-project, and admin broadcast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15888" y="2496312"/>
            <a:ext cx="5135728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5888" y="2606040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in-app chatbot assistant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209544"/>
            <a:ext cx="5135728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319272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Graduated warnings before suspension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15888" y="3209544"/>
            <a:ext cx="5135728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15888" y="3319272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search across users, projects and tasks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3922776"/>
            <a:ext cx="5135728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032504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projects, showcased on public profiles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5888" y="3922776"/>
            <a:ext cx="5135728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15888" y="4032504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Custom, configurable project roles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4636008"/>
            <a:ext cx="5135728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745736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Superadmin system-wide announcement broadcasts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3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Shape 24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5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6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7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8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9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30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31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4" name="Shape 32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5" name="Shape 33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6" name="Shape 34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7" name="Shape 35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8" name="Shape 36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9" name="Shape 37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0" name="Shape 38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1" name="Shape 39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2" name="Shape 40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3" name="Text 41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19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920240"/>
            <a:ext cx="457200" cy="7315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1031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2423160"/>
            <a:ext cx="9875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complete platform, built solo, in seven weeks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3611880"/>
            <a:ext cx="8778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D6D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Synkro meets every objective set out at the start of this internship: role-aware collaboration, real-time updates, and a full administration layer, delivered through a disciplined, sprint-based process from requirements to a working product.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4572000"/>
            <a:ext cx="8778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internship was a complete, hands-on exercise in software engineering: not just a product, but the judgment built while shipping it under real constraints.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8" name="Shape 6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9" name="Shape 7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0" name="Shape 8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1" name="Shape 9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2" name="Shape 10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3" name="Shape 11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4" name="Shape 12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5" name="Shape 13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6" name="Shape 14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8" name="Shape 16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9" name="Shape 17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0" name="Shape 18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1" name="Shape 19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2" name="Shape 20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3" name="Shape 21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4" name="Shape 22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3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3E4258"/>
          </a:solidFill>
          <a:ln/>
        </p:spPr>
      </p:sp>
      <p:sp>
        <p:nvSpPr>
          <p:cNvPr id="26" name="Text 24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19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D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5760720"/>
            <a:ext cx="2011680" cy="0"/>
          </a:xfrm>
          <a:prstGeom prst="line">
            <a:avLst/>
          </a:prstGeom>
          <a:noFill/>
          <a:ln w="12700">
            <a:solidFill>
              <a:srgbClr val="3E425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58704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E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 Ouerhani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61264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CA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Synkro, ISLAIB, Licence GLSI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8" name="Shape 6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9" name="Shape 7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0" name="Shape 8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1" name="Shape 9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2" name="Shape 10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3" name="Shape 11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4" name="Shape 12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5" name="Shape 13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6" name="Shape 14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8" name="Shape 16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9" name="Shape 17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0" name="Shape 18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1" name="Shape 19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2" name="Shape 20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3" name="Shape 21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4" name="Shape 22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3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Text 24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19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2026-09-18T23:01:54Z</dcterms:created>
  <dcterms:modified xsi:type="dcterms:W3CDTF">2026-09-18T23:01:54Z</dcterms:modified>
</cp:coreProperties>
</file>