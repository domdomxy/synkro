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0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75" r:id="rId26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  <Relationship Id="rId26" Type="http://schemas.openxmlformats.org/officeDocument/2006/relationships/slide" Target="slides/slide20.xml"/>
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77350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754880" cy="4754880"/>
          </a:xfrm>
          <a:prstGeom prst="ellipse">
            <a:avLst/>
          </a:prstGeom>
          <a:solidFill>
            <a:srgbClr val="252B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-1645920" y="4572000"/>
            <a:ext cx="3840480" cy="3840480"/>
          </a:xfrm>
          <a:prstGeom prst="ellipse">
            <a:avLst/>
          </a:prstGeom>
          <a:solidFill>
            <a:srgbClr val="252B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822960" y="13716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9CA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END-OF-YEAR INTERNSHIP REPORT (PFA)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77240" y="1828800"/>
            <a:ext cx="8229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Synkro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822960" y="3246120"/>
            <a:ext cx="8961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C7C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and Development of a Collaborative Project</a:t>
            </a:r>
            <a:endParaRPr lang="en-US" sz="1900" dirty="0"/>
          </a:p>
          <a:p>
            <a:pPr marL="0" indent="0">
              <a:buNone/>
            </a:pPr>
            <a:r>
              <a:rPr lang="en-US" sz="1900" dirty="0">
                <a:solidFill>
                  <a:srgbClr val="C7C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Task Management Platform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822960" y="4343400"/>
            <a:ext cx="2194560" cy="1828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22960" y="4572000"/>
            <a:ext cx="86868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9CA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  </a:t>
            </a: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Adem Ouerhani
</a:t>
            </a:r>
            <a:r>
              <a:rPr lang="en-US" sz="1300" dirty="0">
                <a:solidFill>
                  <a:srgbClr val="9CA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Professional Supervisor  </a:t>
            </a: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Mr. Mkaissi Khalil — Kernel Solution &amp; Innovation
</a:t>
            </a:r>
            <a:r>
              <a:rPr lang="en-US" sz="1300" dirty="0">
                <a:solidFill>
                  <a:srgbClr val="9CA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Institution  </a:t>
            </a: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ISLAIB — Licence GLSI — Academic Year 2025–2026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3A407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0" y="6784848"/>
            <a:ext cx="609585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9B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/ 20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1219170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presentation covers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11064240" cy="713232"/>
          </a:xfrm>
          <a:prstGeom prst="roundRect">
            <a:avLst>
              <a:gd name="adj" fmla="val 10256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77240" y="1874520"/>
            <a:ext cx="822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C7C2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1600200" y="1929384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context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943600" y="1874520"/>
            <a:ext cx="5394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host company, the market, and the problem Synkro addresses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2715768"/>
            <a:ext cx="11064240" cy="713232"/>
          </a:xfrm>
          <a:prstGeom prst="roundRect">
            <a:avLst>
              <a:gd name="adj" fmla="val 10256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777240" y="2715768"/>
            <a:ext cx="822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C7C2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1600200" y="2770632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&amp; methodology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943600" y="2715768"/>
            <a:ext cx="5394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Objectives, actors, tech stack, and the Agile sprint plan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11064240" cy="713232"/>
          </a:xfrm>
          <a:prstGeom prst="roundRect">
            <a:avLst>
              <a:gd name="adj" fmla="val 10256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777240" y="3557016"/>
            <a:ext cx="822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C7C2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1600200" y="3611880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sprints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943600" y="3557016"/>
            <a:ext cx="5394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Authentication, project &amp; task management, real-time collaboration, admin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4398264"/>
            <a:ext cx="11064240" cy="713232"/>
          </a:xfrm>
          <a:prstGeom prst="roundRect">
            <a:avLst>
              <a:gd name="adj" fmla="val 10256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777240" y="4398264"/>
            <a:ext cx="822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C7C2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1600200" y="4453128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&amp; results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943600" y="4398264"/>
            <a:ext cx="5394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it's built, and what the platform looks like today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48640" y="5239512"/>
            <a:ext cx="11064240" cy="713232"/>
          </a:xfrm>
          <a:prstGeom prst="roundRect">
            <a:avLst>
              <a:gd name="adj" fmla="val 10256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777240" y="5239512"/>
            <a:ext cx="822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C7C2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1600200" y="5294376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Reflection &amp; next steps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5943600" y="5239512"/>
            <a:ext cx="5394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gained, challenges, and where Synkro goes from here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1828754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PROJECT CONTEXT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Kernel Solution &amp; Innovation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548640" y="1600200"/>
            <a:ext cx="56692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digital agency in Hammam-Lif, Tunisia, with over seven years of experience turning client ideas into complete digital products — custom software, mobile apps, web design, and digital marketing.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3063240"/>
            <a:ext cx="56692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internship (PFA) was self-directed: </a:t>
            </a: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autonomy over the topic and the implementation, under the professional supervision of the agency's CEO, within its own Agile delivery culture.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675120" y="1691640"/>
            <a:ext cx="502920" cy="50292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675120" y="16916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1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10" dirty="0"/>
          </a:p>
        </p:txBody>
      </p:sp>
      <p:sp>
        <p:nvSpPr>
          <p:cNvPr id="11" name="Text 9"/>
          <p:cNvSpPr/>
          <p:nvPr/>
        </p:nvSpPr>
        <p:spPr>
          <a:xfrm>
            <a:off x="7360920" y="1664208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7360920" y="1947672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goals, define roadmap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926580" y="2194560"/>
            <a:ext cx="0" cy="502920"/>
          </a:xfrm>
          <a:prstGeom prst="line">
            <a:avLst/>
          </a:prstGeom>
          <a:noFill/>
          <a:ln w="19050">
            <a:solidFill>
              <a:srgbClr val="D7D9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6675120" y="2743200"/>
            <a:ext cx="502920" cy="50292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675120" y="27432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1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10" dirty="0"/>
          </a:p>
        </p:txBody>
      </p:sp>
      <p:sp>
        <p:nvSpPr>
          <p:cNvPr id="16" name="Text 14"/>
          <p:cNvSpPr/>
          <p:nvPr/>
        </p:nvSpPr>
        <p:spPr>
          <a:xfrm>
            <a:off x="7360920" y="2715768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7360920" y="2999232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with modern technologies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926580" y="3246120"/>
            <a:ext cx="0" cy="502920"/>
          </a:xfrm>
          <a:prstGeom prst="line">
            <a:avLst/>
          </a:prstGeom>
          <a:noFill/>
          <a:ln w="19050">
            <a:solidFill>
              <a:srgbClr val="D7D9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6675120" y="3794760"/>
            <a:ext cx="502920" cy="50292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675120" y="37947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1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10" dirty="0"/>
          </a:p>
        </p:txBody>
      </p:sp>
      <p:sp>
        <p:nvSpPr>
          <p:cNvPr id="21" name="Text 19"/>
          <p:cNvSpPr/>
          <p:nvPr/>
        </p:nvSpPr>
        <p:spPr>
          <a:xfrm>
            <a:off x="7360920" y="3767328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&amp; QA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7360920" y="4050792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quality before launch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926580" y="4297680"/>
            <a:ext cx="0" cy="502920"/>
          </a:xfrm>
          <a:prstGeom prst="line">
            <a:avLst/>
          </a:prstGeom>
          <a:noFill/>
          <a:ln w="19050">
            <a:solidFill>
              <a:srgbClr val="D7D9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6675120" y="4846320"/>
            <a:ext cx="502920" cy="50292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6675120" y="48463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1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10" dirty="0"/>
          </a:p>
        </p:txBody>
      </p:sp>
      <p:sp>
        <p:nvSpPr>
          <p:cNvPr id="26" name="Text 24"/>
          <p:cNvSpPr/>
          <p:nvPr/>
        </p:nvSpPr>
        <p:spPr>
          <a:xfrm>
            <a:off x="7360920" y="4818888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&amp; Support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7360920" y="5102352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 and support ongoing use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2438339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PROJECT CONTEXT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gap in existing project management tools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548640" y="1554480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teams need simplicity, live collaboration, and fine-grained role control together — a combination the market rarely offers in one lightweight product.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48640" y="2286000"/>
            <a:ext cx="2075688" cy="2377440"/>
          </a:xfrm>
          <a:prstGeom prst="roundRect">
            <a:avLst>
              <a:gd name="adj" fmla="val 3524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94944" y="2450592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Trello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94944" y="292608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Very simple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94944" y="342900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Limited real-time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694944" y="393192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Basic roles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807208" y="2286000"/>
            <a:ext cx="2075688" cy="2377440"/>
          </a:xfrm>
          <a:prstGeom prst="roundRect">
            <a:avLst>
              <a:gd name="adj" fmla="val 3524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2953512" y="2450592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Asana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953512" y="292608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Easy to learn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2953512" y="342900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Moderate real-time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2953512" y="393192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Moderate roles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065776" y="2286000"/>
            <a:ext cx="2075688" cy="2377440"/>
          </a:xfrm>
          <a:prstGeom prst="roundRect">
            <a:avLst>
              <a:gd name="adj" fmla="val 3524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212080" y="2450592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Jira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212080" y="292608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Steep learning curve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212080" y="342900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Moderate real-time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212080" y="393192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Advanced roles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7324344" y="2286000"/>
            <a:ext cx="2075688" cy="2377440"/>
          </a:xfrm>
          <a:prstGeom prst="roundRect">
            <a:avLst>
              <a:gd name="adj" fmla="val 3524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7470648" y="2450592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ClickUp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7470648" y="292608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Steep learning curve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7470648" y="342900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Moderate real-time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470648" y="393192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Advanced roles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9582912" y="2194560"/>
            <a:ext cx="2075688" cy="2560320"/>
          </a:xfrm>
          <a:prstGeom prst="roundRect">
            <a:avLst>
              <a:gd name="adj" fmla="val 3524"/>
            </a:avLst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9729216" y="237744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Synkro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9729216" y="288036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E4E1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Simple &amp; fast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9729216" y="338328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E4E1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True real-time (WS)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9729216" y="388620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E4E1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4 granular roles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548640" y="502920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Observation: simple tools sacrifice roles and real-time depth; complete tools become heavy. Synkro targets that gap.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3047924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PROJECT CONTEXT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Introducing Synkro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548640" y="1600200"/>
            <a:ext cx="52120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4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collaborative web platform where teams create projects, assign role-based responsibilities, move tasks through a clear status workflow, and stay instantly informed — all built solo in seven weeks.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48640" y="3300984"/>
            <a:ext cx="91440" cy="9144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77240" y="3172968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Role-aware projects: Owner, Manager, Member, Tester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3776472"/>
            <a:ext cx="91440" cy="9144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77240" y="3648456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task lifecycle with checklists &amp; deliverables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4251960"/>
            <a:ext cx="91440" cy="9144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77240" y="4123944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notifications powered by WebSockets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4727448"/>
            <a:ext cx="91440" cy="9144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77240" y="4599432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Administration, moderation &amp; analytics layer</a:t>
            </a:r>
            <a:endParaRPr lang="en-US" sz="1300" dirty="0"/>
          </a:p>
        </p:txBody>
      </p:sp>
      <p:pic>
        <p:nvPicPr>
          <p:cNvPr id="16" name="Image 0" descr="/home/claude/work/build/assets/screenshot_sprint1_registration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126480" y="1508760"/>
            <a:ext cx="5532120" cy="2632965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6126480" y="1508760"/>
            <a:ext cx="5532120" cy="2632965"/>
          </a:xfrm>
          <a:prstGeom prst="rect">
            <a:avLst/>
          </a:prstGeom>
          <a:ln w="12700">
            <a:solidFill>
              <a:srgbClr val="D7D9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3657508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SOLUTION &amp; METHODOLOGY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Objectives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777240" y="1920240"/>
            <a:ext cx="502920" cy="50292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77240" y="19202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1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10" dirty="0"/>
          </a:p>
        </p:txBody>
      </p:sp>
      <p:sp>
        <p:nvSpPr>
          <p:cNvPr id="10" name="Text 8"/>
          <p:cNvSpPr/>
          <p:nvPr/>
        </p:nvSpPr>
        <p:spPr>
          <a:xfrm>
            <a:off x="1600200" y="1783080"/>
            <a:ext cx="9784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 a complete, usable platform within a seven-week internship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48640" y="26974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777240" y="2834640"/>
            <a:ext cx="502920" cy="50292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77240" y="28346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1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10" dirty="0"/>
          </a:p>
        </p:txBody>
      </p:sp>
      <p:sp>
        <p:nvSpPr>
          <p:cNvPr id="14" name="Text 12"/>
          <p:cNvSpPr/>
          <p:nvPr/>
        </p:nvSpPr>
        <p:spPr>
          <a:xfrm>
            <a:off x="1600200" y="2697480"/>
            <a:ext cx="9784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Fine-grained, role-based access control across every project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48640" y="36118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777240" y="3749040"/>
            <a:ext cx="502920" cy="50292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777240" y="37490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1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10" dirty="0"/>
          </a:p>
        </p:txBody>
      </p:sp>
      <p:sp>
        <p:nvSpPr>
          <p:cNvPr id="18" name="Text 16"/>
          <p:cNvSpPr/>
          <p:nvPr/>
        </p:nvSpPr>
        <p:spPr>
          <a:xfrm>
            <a:off x="1600200" y="3611880"/>
            <a:ext cx="9784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real-time collaboration via WebSockets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48640" y="45262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777240" y="4663440"/>
            <a:ext cx="502920" cy="50292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777240" y="46634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1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10" dirty="0"/>
          </a:p>
        </p:txBody>
      </p:sp>
      <p:sp>
        <p:nvSpPr>
          <p:cNvPr id="22" name="Text 20"/>
          <p:cNvSpPr/>
          <p:nvPr/>
        </p:nvSpPr>
        <p:spPr>
          <a:xfrm>
            <a:off x="1600200" y="4526280"/>
            <a:ext cx="9784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Administration &amp; moderation tooling for a healthy platform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548640" y="54406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777240" y="5577840"/>
            <a:ext cx="502920" cy="50292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777240" y="55778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1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10" dirty="0"/>
          </a:p>
        </p:txBody>
      </p:sp>
      <p:sp>
        <p:nvSpPr>
          <p:cNvPr id="26" name="Text 24"/>
          <p:cNvSpPr/>
          <p:nvPr/>
        </p:nvSpPr>
        <p:spPr>
          <a:xfrm>
            <a:off x="1600200" y="5440680"/>
            <a:ext cx="9784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internship itself as an Agile, sprint-based process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4267093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SOLUTION &amp; METHODOLOGY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Actors &amp; roles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777240" y="1920240"/>
            <a:ext cx="411480" cy="41148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77240" y="2441448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Owner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77240" y="2807208"/>
            <a:ext cx="3063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control of a project, including archiving and role management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343400" y="169164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572000" y="1920240"/>
            <a:ext cx="411480" cy="411480"/>
          </a:xfrm>
          <a:prstGeom prst="ellipse">
            <a:avLst/>
          </a:prstGeom>
          <a:solidFill>
            <a:srgbClr val="6D63E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572000" y="2441448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Manager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572000" y="2807208"/>
            <a:ext cx="3063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 and assigns tasks; manages other members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138160" y="169164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8366760" y="1920240"/>
            <a:ext cx="411480" cy="411480"/>
          </a:xfrm>
          <a:prstGeom prst="ellipse">
            <a:avLst/>
          </a:prstGeom>
          <a:solidFill>
            <a:srgbClr val="8B8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8366760" y="2441448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Member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366760" y="2807208"/>
            <a:ext cx="3063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on assigned tasks, checklists and deliverables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397764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777240" y="4206240"/>
            <a:ext cx="411480" cy="411480"/>
          </a:xfrm>
          <a:prstGeom prst="ellipse">
            <a:avLst/>
          </a:prstGeom>
          <a:solidFill>
            <a:srgbClr val="ABA5F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777240" y="4727448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Tester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77240" y="5093208"/>
            <a:ext cx="3063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Validates submitted work with restricted permissions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343400" y="397764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4572000" y="4206240"/>
            <a:ext cx="411480" cy="411480"/>
          </a:xfrm>
          <a:prstGeom prst="ellipse">
            <a:avLst/>
          </a:prstGeom>
          <a:solidFill>
            <a:srgbClr val="252B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572000" y="4727448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Administrator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4572000" y="5093208"/>
            <a:ext cx="3063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Moderates users, handles tickets and appeals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8138160" y="397764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8366760" y="4206240"/>
            <a:ext cx="411480" cy="411480"/>
          </a:xfrm>
          <a:prstGeom prst="ellipse">
            <a:avLst/>
          </a:prstGeom>
          <a:solidFill>
            <a:srgbClr val="12163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8366760" y="4727448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Superadmin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8366760" y="5093208"/>
            <a:ext cx="3063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Promotes/demotes users, deletes accounts, edits user info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5486263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SOLUTION &amp; METHODOLOGY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Methodology &amp; tech stack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548640" y="160020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Agile, sprint-based delivery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2011680"/>
            <a:ext cx="51206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sole developer and de facto product owner, the internship followed a planning sprint (Sprint 0) plus four development sprints, each shipping a working, demonstrable increment — modeled beforehand with UML use case, sequence, and class diagrams.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39319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Technology stack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4389120"/>
            <a:ext cx="1645920" cy="384048"/>
          </a:xfrm>
          <a:prstGeom prst="roundRect">
            <a:avLst>
              <a:gd name="adj" fmla="val 50000"/>
            </a:avLst>
          </a:prstGeom>
          <a:solidFill>
            <a:srgbClr val="EDEB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48640" y="4389120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Laravel 13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331720" y="4389120"/>
            <a:ext cx="1645920" cy="384048"/>
          </a:xfrm>
          <a:prstGeom prst="roundRect">
            <a:avLst>
              <a:gd name="adj" fmla="val 50000"/>
            </a:avLst>
          </a:prstGeom>
          <a:solidFill>
            <a:srgbClr val="EDEB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2331720" y="4389120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+ Inertia.js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114800" y="4389120"/>
            <a:ext cx="1645920" cy="384048"/>
          </a:xfrm>
          <a:prstGeom prst="roundRect">
            <a:avLst>
              <a:gd name="adj" fmla="val 50000"/>
            </a:avLst>
          </a:prstGeom>
          <a:solidFill>
            <a:srgbClr val="EDEB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114800" y="4389120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Laravel Reverb (WS)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4892040"/>
            <a:ext cx="1645920" cy="384048"/>
          </a:xfrm>
          <a:prstGeom prst="roundRect">
            <a:avLst>
              <a:gd name="adj" fmla="val 50000"/>
            </a:avLst>
          </a:prstGeom>
          <a:solidFill>
            <a:srgbClr val="EDEB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48640" y="4892040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2331720" y="4892040"/>
            <a:ext cx="1645920" cy="384048"/>
          </a:xfrm>
          <a:prstGeom prst="roundRect">
            <a:avLst>
              <a:gd name="adj" fmla="val 50000"/>
            </a:avLst>
          </a:prstGeom>
          <a:solidFill>
            <a:srgbClr val="EDEB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2331720" y="4892040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CSS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114800" y="4892040"/>
            <a:ext cx="1645920" cy="384048"/>
          </a:xfrm>
          <a:prstGeom prst="roundRect">
            <a:avLst>
              <a:gd name="adj" fmla="val 50000"/>
            </a:avLst>
          </a:prstGeom>
          <a:solidFill>
            <a:srgbClr val="EDEB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114800" y="4892040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Recharts</a:t>
            </a:r>
            <a:endParaRPr lang="en-US" sz="1050" dirty="0"/>
          </a:p>
        </p:txBody>
      </p:sp>
      <p:pic>
        <p:nvPicPr>
          <p:cNvPr id="22" name="Image 0" descr="/home/claude/work/build/assets/fig_uc_general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172200" y="1984041"/>
            <a:ext cx="5486400" cy="3359951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6095848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SOLUTION &amp; METHODOLOGY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Sprint planning — June 15 to July 31, 2026</a:t>
            </a:r>
            <a:endParaRPr lang="en-US" sz="3200" dirty="0"/>
          </a:p>
        </p:txBody>
      </p:sp>
      <p:pic>
        <p:nvPicPr>
          <p:cNvPr id="7" name="Image 0" descr="/home/claude/work/build/assets/fig_gant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0968" y="1568123"/>
            <a:ext cx="9509760" cy="383478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22960" y="5507994"/>
            <a:ext cx="10515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full working weeks, split into one planning sprint and four development sprints — two weeks each for the functional core (auth, project &amp; task management), one week each for the lighter, incremental features that follow.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6705432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THE FOUR SPRINTS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5440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Sprint 1 — Authentication &amp; User Management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48640" y="14173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22 – July 3, 2026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029968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77240" y="1892808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 with e-mail verification, login &amp; logout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2688336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77240" y="2551176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 reset and full profile management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346704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77240" y="3209544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Light, dark &amp; black appearance themes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4005072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77240" y="3867912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list of active sessions (“logged in devices”)</a:t>
            </a:r>
            <a:endParaRPr lang="en-US" sz="1300" dirty="0"/>
          </a:p>
        </p:txBody>
      </p:sp>
      <p:sp>
        <p:nvSpPr>
          <p:cNvPr id="100" name="Shape 98"/>
          <p:cNvSpPr/>
          <p:nvPr/>
        </p:nvSpPr>
        <p:spPr>
          <a:xfrm>
            <a:off x="548640" y="4663440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1" name="Text 99"/>
          <p:cNvSpPr/>
          <p:nvPr/>
        </p:nvSpPr>
        <p:spPr>
          <a:xfrm>
            <a:off x="777240" y="4526280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deactivation, reactivated automatically on next login</a:t>
            </a:r>
            <a:endParaRPr lang="en-US" sz="1300" dirty="0"/>
          </a:p>
        </p:txBody>
      </p:sp>
      <p:sp>
        <p:nvSpPr>
          <p:cNvPr id="200" name="Shape 198"/>
          <p:cNvSpPr/>
          <p:nvPr/>
        </p:nvSpPr>
        <p:spPr>
          <a:xfrm>
            <a:off x="548640" y="5321808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1" name="Text 199"/>
          <p:cNvSpPr/>
          <p:nvPr/>
        </p:nvSpPr>
        <p:spPr>
          <a:xfrm>
            <a:off x="777240" y="5184648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On-page restore prompt when a deleted account tries to log in</a:t>
            </a:r>
            <a:endParaRPr lang="en-US" sz="1300" dirty="0"/>
          </a:p>
        </p:txBody>
      </p:sp>
      <p:pic>
        <p:nvPicPr>
          <p:cNvPr id="16" name="Image 0" descr="/home/claude/work/build/assets/screenshot_sprint1_log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2724078"/>
            <a:ext cx="5532120" cy="2644284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6126480" y="2724078"/>
            <a:ext cx="5532120" cy="2644284"/>
          </a:xfrm>
          <a:prstGeom prst="rect">
            <a:avLst/>
          </a:prstGeom>
          <a:ln w="12700">
            <a:solidFill>
              <a:srgbClr val="D7D9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7315017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THE FOUR SPRINTS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5440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Sprint 2 — Project &amp; Task Management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48640" y="14173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6 – July 17, 2026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029968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77240" y="1892808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creation, invitations &amp; role assignment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2688336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77240" y="2551176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task lifecycle: To Do → In Progress → Submitted → In Review → Done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346704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77240" y="3209544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Checklists and file/link deliverables per task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4005072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77240" y="3867912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Kanban-style board updating live for the whole team</a:t>
            </a:r>
            <a:endParaRPr lang="en-US" sz="1300" dirty="0"/>
          </a:p>
        </p:txBody>
      </p:sp>
      <p:sp>
        <p:nvSpPr>
          <p:cNvPr id="100" name="Shape 98"/>
          <p:cNvSpPr/>
          <p:nvPr/>
        </p:nvSpPr>
        <p:spPr>
          <a:xfrm>
            <a:off x="548640" y="4663440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1" name="Text 99"/>
          <p:cNvSpPr/>
          <p:nvPr/>
        </p:nvSpPr>
        <p:spPr>
          <a:xfrm>
            <a:off x="777240" y="4526280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Queue, personal My Tasks list with pinning and archiving, and bulk task actions for reviewers and managers</a:t>
            </a:r>
            <a:endParaRPr lang="en-US" sz="1300" dirty="0"/>
          </a:p>
        </p:txBody>
      </p:sp>
      <p:pic>
        <p:nvPicPr>
          <p:cNvPr id="16" name="Image 0" descr="/home/claude/work/build/assets/screenshot_sprint2_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2729947"/>
            <a:ext cx="5532120" cy="2632546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6126480" y="2729947"/>
            <a:ext cx="5532120" cy="2632546"/>
          </a:xfrm>
          <a:prstGeom prst="rect">
            <a:avLst/>
          </a:prstGeom>
          <a:ln w="12700">
            <a:solidFill>
              <a:srgbClr val="D7D9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7924602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THE FOUR SPRINTS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5440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Sprint 3 — Real-Time Collaboration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48640" y="14173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 – July 24, 2026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029968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77240" y="1892808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comments &amp; structured reviewer feedback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2688336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77240" y="2551176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notifications pushed over WebSockets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346704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77240" y="3209544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notes and shared project resources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4005072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77240" y="3867912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project activity log for accountability</a:t>
            </a:r>
            <a:endParaRPr lang="en-US" sz="1300" dirty="0"/>
          </a:p>
        </p:txBody>
      </p:sp>
      <p:sp>
        <p:nvSpPr>
          <p:cNvPr id="100" name="Shape 98"/>
          <p:cNvSpPr/>
          <p:nvPr/>
        </p:nvSpPr>
        <p:spPr>
          <a:xfrm>
            <a:off x="548640" y="4663440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1" name="Text 99"/>
          <p:cNvSpPr/>
          <p:nvPr/>
        </p:nvSpPr>
        <p:spPr>
          <a:xfrm>
            <a:off x="777240" y="4526280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Per-project and per-task notification muting</a:t>
            </a:r>
            <a:endParaRPr lang="en-US" sz="1300" dirty="0"/>
          </a:p>
        </p:txBody>
      </p:sp>
      <p:sp>
        <p:nvSpPr>
          <p:cNvPr id="200" name="Shape 198"/>
          <p:cNvSpPr/>
          <p:nvPr/>
        </p:nvSpPr>
        <p:spPr>
          <a:xfrm>
            <a:off x="548640" y="5321808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1" name="Text 199"/>
          <p:cNvSpPr/>
          <p:nvPr/>
        </p:nvSpPr>
        <p:spPr>
          <a:xfrm>
            <a:off x="777240" y="5184648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dashboard: activity charts, calendars &amp; My Notes</a:t>
            </a:r>
            <a:endParaRPr lang="en-US" sz="1300" dirty="0"/>
          </a:p>
        </p:txBody>
      </p:sp>
      <p:sp>
        <p:nvSpPr>
          <p:cNvPr id="300" name="Shape 298"/>
          <p:cNvSpPr/>
          <p:nvPr/>
        </p:nvSpPr>
        <p:spPr>
          <a:xfrm>
            <a:off x="548640" y="5980176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1" name="Text 299"/>
          <p:cNvSpPr/>
          <p:nvPr/>
        </p:nvSpPr>
        <p:spPr>
          <a:xfrm>
            <a:off x="777240" y="5843016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reminders and configurable per-task deadline alerts</a:t>
            </a:r>
            <a:endParaRPr lang="en-US" sz="1300" dirty="0"/>
          </a:p>
        </p:txBody>
      </p:sp>
      <p:pic>
        <p:nvPicPr>
          <p:cNvPr id="16" name="Image 0" descr="/home/claude/work/build/assets/screenshot_sprint3_notificatio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2726286"/>
            <a:ext cx="5532120" cy="2639868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6126480" y="2726286"/>
            <a:ext cx="5532120" cy="2639868"/>
          </a:xfrm>
          <a:prstGeom prst="rect">
            <a:avLst/>
          </a:prstGeom>
          <a:ln w="12700">
            <a:solidFill>
              <a:srgbClr val="D7D9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8534186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THE FOUR SPRINTS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5440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Sprint 4 — Administration &amp; Analytics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48640" y="14173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27 – July 31, 2026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029968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77240" y="1892808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management with role promotion/demotion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2688336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77240" y="2551176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Suspension workflow with a formal appeal process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346704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77240" y="3209544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/ support ticket tracking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4005072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77240" y="3867912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Platform-wide analytics dashboard for admins</a:t>
            </a:r>
            <a:endParaRPr lang="en-US" sz="1300" dirty="0"/>
          </a:p>
        </p:txBody>
      </p:sp>
      <p:sp>
        <p:nvSpPr>
          <p:cNvPr id="100" name="Shape 98"/>
          <p:cNvSpPr/>
          <p:nvPr/>
        </p:nvSpPr>
        <p:spPr>
          <a:xfrm>
            <a:off x="548640" y="4663440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1" name="Text 99"/>
          <p:cNvSpPr/>
          <p:nvPr/>
        </p:nvSpPr>
        <p:spPr>
          <a:xfrm>
            <a:off x="777240" y="4526280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temporary passwords &amp; configurable feedback categories</a:t>
            </a:r>
            <a:endParaRPr lang="en-US" sz="1300" dirty="0"/>
          </a:p>
        </p:txBody>
      </p:sp>
      <p:pic>
        <p:nvPicPr>
          <p:cNvPr id="16" name="Image 0" descr="/home/claude/work/build/assets/screenshot_sprint4_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6887" y="1508760"/>
            <a:ext cx="4471306" cy="5074920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6656887" y="1508760"/>
            <a:ext cx="4471306" cy="5074920"/>
          </a:xfrm>
          <a:prstGeom prst="rect">
            <a:avLst/>
          </a:prstGeom>
          <a:ln w="12700">
            <a:solidFill>
              <a:srgbClr val="D7D9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9143771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ARCHITECTURE &amp; RESULTS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Technical architecture</a:t>
            </a:r>
            <a:endParaRPr lang="en-US" sz="3200" dirty="0"/>
          </a:p>
        </p:txBody>
      </p:sp>
      <p:pic>
        <p:nvPicPr>
          <p:cNvPr id="7" name="Image 0" descr="/home/claude/work/build/assets/fig_architecture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1249527" y="1479208"/>
            <a:ext cx="9692640" cy="4557952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3A407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9753356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9B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ARCHITECTURE &amp; RESULTS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platform today, in numbers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86588" y="2377440"/>
            <a:ext cx="2514600" cy="1920240"/>
          </a:xfrm>
          <a:prstGeom prst="roundRect">
            <a:avLst>
              <a:gd name="adj" fmla="val 4286"/>
            </a:avLst>
          </a:prstGeom>
          <a:solidFill>
            <a:srgbClr val="252B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86588" y="2606040"/>
            <a:ext cx="2514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9C9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769468" y="352044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C7C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registered users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3421228" y="2377440"/>
            <a:ext cx="2514600" cy="1920240"/>
          </a:xfrm>
          <a:prstGeom prst="roundRect">
            <a:avLst>
              <a:gd name="adj" fmla="val 4286"/>
            </a:avLst>
          </a:prstGeom>
          <a:solidFill>
            <a:srgbClr val="252B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421228" y="2606040"/>
            <a:ext cx="2514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9C9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3604108" y="352044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C7C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projects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255868" y="2377440"/>
            <a:ext cx="2514600" cy="1920240"/>
          </a:xfrm>
          <a:prstGeom prst="roundRect">
            <a:avLst>
              <a:gd name="adj" fmla="val 4286"/>
            </a:avLst>
          </a:prstGeom>
          <a:solidFill>
            <a:srgbClr val="252B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255868" y="2606040"/>
            <a:ext cx="2514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9C9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6438748" y="352044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C7C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 tracked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9090508" y="2377440"/>
            <a:ext cx="2514600" cy="1920240"/>
          </a:xfrm>
          <a:prstGeom prst="roundRect">
            <a:avLst>
              <a:gd name="adj" fmla="val 4286"/>
            </a:avLst>
          </a:prstGeom>
          <a:solidFill>
            <a:srgbClr val="252B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9090508" y="2606040"/>
            <a:ext cx="2514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9C9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+100%</a:t>
            </a:r>
            <a:endParaRPr lang="en-US" sz="4000" dirty="0"/>
          </a:p>
        </p:txBody>
      </p:sp>
      <p:sp>
        <p:nvSpPr>
          <p:cNvPr id="18" name="Text 16"/>
          <p:cNvSpPr/>
          <p:nvPr/>
        </p:nvSpPr>
        <p:spPr>
          <a:xfrm>
            <a:off x="9273388" y="352044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C7C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growth this month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822960" y="493776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9CA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snapshot from the admin analytics dashboard, built during Sprint 4.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10362941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REFLECTION &amp; NEXT STEPS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Skills gained &amp; challenges faced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5349240" cy="4480560"/>
          </a:xfrm>
          <a:prstGeom prst="roundRect">
            <a:avLst>
              <a:gd name="adj" fmla="val 1837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68680" y="19202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Skills gained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68680" y="2423160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Full Laravel ecosystem: policies, jobs, scheduling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68680" y="2990088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React + Inertia.js without a separate REST layer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68680" y="3557016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Real-time systems with WebSockets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68680" y="4123944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Relational data modelling at platform scale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68680" y="4690872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Running my own Agile process end to end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263640" y="1691640"/>
            <a:ext cx="5349240" cy="4480560"/>
          </a:xfrm>
          <a:prstGeom prst="roundRect">
            <a:avLst>
              <a:gd name="adj" fmla="val 1837"/>
            </a:avLst>
          </a:prstGeom>
          <a:solidFill>
            <a:srgbClr val="1B1F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583680" y="19202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Challenges faced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583680" y="2423160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7C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Coordinating real-time updates without duplication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583680" y="2990088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7C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Designing a flexible yet simple RBAC model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583680" y="3557016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7C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Prioritizing scope within a fixed seven-week window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10972526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REFLECTION &amp; NEXT STEPS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Future perspectives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349240" cy="1234440"/>
          </a:xfrm>
          <a:prstGeom prst="roundRect">
            <a:avLst>
              <a:gd name="adj" fmla="val 5926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749808" y="2125980"/>
            <a:ext cx="457200" cy="45720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49808" y="21259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417320" y="1737360"/>
            <a:ext cx="42976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2FA / CAPTCHA and Google sign-in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263640" y="1737360"/>
            <a:ext cx="5349240" cy="1234440"/>
          </a:xfrm>
          <a:prstGeom prst="roundRect">
            <a:avLst>
              <a:gd name="adj" fmla="val 5926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6464808" y="2125980"/>
            <a:ext cx="457200" cy="45720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464808" y="21259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132320" y="1737360"/>
            <a:ext cx="42976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Dedicated user profiles, separate from account settings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3200400"/>
            <a:ext cx="5349240" cy="1234440"/>
          </a:xfrm>
          <a:prstGeom prst="roundRect">
            <a:avLst>
              <a:gd name="adj" fmla="val 5926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749808" y="3589020"/>
            <a:ext cx="457200" cy="45720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749808" y="35890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417320" y="3200400"/>
            <a:ext cx="42976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Messaging: direct, per-project, and admin broadcast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263640" y="3200400"/>
            <a:ext cx="5349240" cy="1234440"/>
          </a:xfrm>
          <a:prstGeom prst="roundRect">
            <a:avLst>
              <a:gd name="adj" fmla="val 5926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6464808" y="3589020"/>
            <a:ext cx="457200" cy="45720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464808" y="35890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132320" y="3200400"/>
            <a:ext cx="42976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in-app chatbot assistant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48640" y="4663440"/>
            <a:ext cx="5349240" cy="1234440"/>
          </a:xfrm>
          <a:prstGeom prst="roundRect">
            <a:avLst>
              <a:gd name="adj" fmla="val 5926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749808" y="5052060"/>
            <a:ext cx="457200" cy="45720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749808" y="50520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417320" y="4663440"/>
            <a:ext cx="42976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Graduated warnings before suspension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263640" y="4663440"/>
            <a:ext cx="5349240" cy="1234440"/>
          </a:xfrm>
          <a:prstGeom prst="roundRect">
            <a:avLst>
              <a:gd name="adj" fmla="val 5926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6464808" y="5052060"/>
            <a:ext cx="457200" cy="45720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6464808" y="50520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7132320" y="4663440"/>
            <a:ext cx="42976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search across users, projects and tasks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3A407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11582110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9B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20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-1828800" y="-1828800"/>
            <a:ext cx="4572000" cy="4572000"/>
          </a:xfrm>
          <a:prstGeom prst="ellipse">
            <a:avLst/>
          </a:prstGeom>
          <a:solidFill>
            <a:srgbClr val="252B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2296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22960" y="713232"/>
            <a:ext cx="10332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complete platform, built solo, in seven weeks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822960" y="1920240"/>
            <a:ext cx="98755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550" dirty="0">
                <a:solidFill>
                  <a:srgbClr val="D7D9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Synkro meets every objective set out at the start of this internship: role-aware collaboration, real-time updates, and a full administration layer — delivered through a disciplined, sprint-based process from requirements to a working product.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822960" y="3474720"/>
            <a:ext cx="9875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550" i="1" dirty="0">
                <a:solidFill>
                  <a:srgbClr val="9CA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internship was a complete, hands-on exercise in software engineering — not just a product, but the judgment built while shipping it under real constraints.</a:t>
            </a:r>
            <a:endParaRPr lang="en-US" sz="15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2926080"/>
            <a:ext cx="5486400" cy="5486400"/>
          </a:xfrm>
          <a:prstGeom prst="ellipse">
            <a:avLst/>
          </a:prstGeom>
          <a:solidFill>
            <a:srgbClr val="252B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822960" y="2468880"/>
            <a:ext cx="9144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868680" y="35204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9CA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868680" y="4206240"/>
            <a:ext cx="1828800" cy="1828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68680" y="44348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38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Adem Ouerhani  ·  Synkro  ·  ISLAIB — Licence GLSI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3A407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9B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20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4876678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SOLUTION &amp; METHODOLOGY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Requirements specification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5349240" cy="4480560"/>
          </a:xfrm>
          <a:prstGeom prst="roundRect">
            <a:avLst>
              <a:gd name="adj" fmla="val 1837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68680" y="19202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Functional requirements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68680" y="2423160"/>
            <a:ext cx="4754880" cy="4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Registration, e-mail verification, login &amp; session management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68680" y="2913160"/>
            <a:ext cx="4754880" cy="4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Profile, account settings &amp; visual theme management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68680" y="3403160"/>
            <a:ext cx="4754880" cy="4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Project creation, invitations &amp; role assignment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68680" y="3893160"/>
            <a:ext cx="4754880" cy="4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Task lifecycle: status, checklists &amp; deliverables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68680" y="4383160"/>
            <a:ext cx="4754880" cy="4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Comments, reviewer feedback &amp; real-time notifications</a:t>
            </a:r>
            <a:endParaRPr lang="en-US" sz="1250" dirty="0"/>
          </a:p>
        </p:txBody>
      </p:sp>
      <p:sp>
        <p:nvSpPr>
          <p:cNvPr id="101" name="Text 101"/>
          <p:cNvSpPr/>
          <p:nvPr/>
        </p:nvSpPr>
        <p:spPr>
          <a:xfrm>
            <a:off x="868680" y="4873160"/>
            <a:ext cx="4754880" cy="4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Admin: user management, suspension appeals &amp; analytics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263640" y="1691640"/>
            <a:ext cx="5349240" cy="4480560"/>
          </a:xfrm>
          <a:prstGeom prst="roundRect">
            <a:avLst>
              <a:gd name="adj" fmla="val 1837"/>
            </a:avLst>
          </a:prstGeom>
          <a:solidFill>
            <a:srgbClr val="1B1F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583680" y="19202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Non-functional requirements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583680" y="2423160"/>
            <a:ext cx="4754880" cy="4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7C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Usability: clean, responsive UI on desktop &amp; mobile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583680" y="2913160"/>
            <a:ext cx="4754880" cy="4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7C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Performance: real-time updates with minimal latency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583680" y="3403160"/>
            <a:ext cx="4754880" cy="4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7C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Security: every sensitive action behind role-based authorization</a:t>
            </a:r>
            <a:endParaRPr lang="en-US" sz="1250" dirty="0"/>
          </a:p>
        </p:txBody>
      </p:sp>
      <p:sp>
        <p:nvSpPr>
          <p:cNvPr id="102" name="Text 102"/>
          <p:cNvSpPr/>
          <p:nvPr/>
        </p:nvSpPr>
        <p:spPr>
          <a:xfrm>
            <a:off x="6583680" y="3893160"/>
            <a:ext cx="4754880" cy="4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7C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Maintainability: MVC separation &amp; a normalized data model</a:t>
            </a:r>
            <a:endParaRPr lang="en-US" sz="1250" dirty="0"/>
          </a:p>
        </p:txBody>
      </p:sp>
      <p:sp>
        <p:nvSpPr>
          <p:cNvPr id="103" name="Text 103"/>
          <p:cNvSpPr/>
          <p:nvPr/>
        </p:nvSpPr>
        <p:spPr>
          <a:xfrm>
            <a:off x="6583680" y="4383160"/>
            <a:ext cx="4754880" cy="4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7C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Dark, light &amp; custom colour themes for user comfort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1200</Words>
  <Application>Microsoft Office PowerPoint</Application>
  <PresentationFormat>Widescreen</PresentationFormat>
  <Paragraphs>221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Edem Werhani</cp:lastModifiedBy>
  <cp:revision>2</cp:revision>
  <dcterms:created xsi:type="dcterms:W3CDTF">2026-08-18T01:32:46Z</dcterms:created>
  <dcterms:modified xsi:type="dcterms:W3CDTF">2026-08-20T10:09:51Z</dcterms:modified>
</cp:coreProperties>
</file>