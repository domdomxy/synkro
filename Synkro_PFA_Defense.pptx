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437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09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4" name="Shape 2"/>
          <p:cNvSpPr/>
          <p:nvPr/>
        </p:nvSpPr>
        <p:spPr>
          <a:xfrm>
            <a:off x="7909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5" name="Shape 3"/>
          <p:cNvSpPr/>
          <p:nvPr/>
        </p:nvSpPr>
        <p:spPr>
          <a:xfrm>
            <a:off x="8942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437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52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8" name="Shape 6"/>
          <p:cNvSpPr/>
          <p:nvPr/>
        </p:nvSpPr>
        <p:spPr>
          <a:xfrm>
            <a:off x="9052560" y="2843784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9" name="Shape 7"/>
          <p:cNvSpPr/>
          <p:nvPr/>
        </p:nvSpPr>
        <p:spPr>
          <a:xfrm>
            <a:off x="10085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437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95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1" name="Shape 9"/>
          <p:cNvSpPr/>
          <p:nvPr/>
        </p:nvSpPr>
        <p:spPr>
          <a:xfrm>
            <a:off x="11228832" y="1188720"/>
            <a:ext cx="960120" cy="4023360"/>
          </a:xfrm>
          <a:prstGeom prst="rect">
            <a:avLst/>
          </a:prstGeom>
          <a:solidFill>
            <a:srgbClr val="1E212F"/>
          </a:solidFill>
          <a:ln w="9525">
            <a:solidFill>
              <a:srgbClr val="3437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38560" y="1417320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0" y="2130552"/>
            <a:ext cx="740664" cy="566928"/>
          </a:xfrm>
          <a:prstGeom prst="rect">
            <a:avLst/>
          </a:prstGeom>
          <a:solidFill>
            <a:srgbClr val="262A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554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8745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709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060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Khalil, Kernel Solution &amp; Innovation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606040" y="5440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ISLAIB, Licence GLSI, 2025-2026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6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7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0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1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5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7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39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42" name="Text 40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3383280"/>
            <a:ext cx="10637215" cy="0"/>
          </a:xfrm>
          <a:prstGeom prst="line">
            <a:avLst/>
          </a:prstGeom>
          <a:noFill/>
          <a:ln w="15875">
            <a:solidFill>
              <a:srgbClr val="DB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3300984"/>
            <a:ext cx="164592" cy="16459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context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4248" y="3300984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293544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93544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&amp; methodology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93544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3300984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52848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52848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sprints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952848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72855" y="330098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612151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12151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results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12151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332159" y="3300984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9265615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5615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&amp; next steps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65615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5" name="Text 4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52044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60920" y="1965960"/>
            <a:ext cx="0" cy="3072384"/>
          </a:xfrm>
          <a:prstGeom prst="line">
            <a:avLst/>
          </a:prstGeom>
          <a:noFill/>
          <a:ln w="15875">
            <a:solidFill>
              <a:srgbClr val="DB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06056" y="1911096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7616952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82712" y="181965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982712" y="21488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06056" y="2935224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7616952" y="27614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82712" y="284378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982712" y="317296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06056" y="3959352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7616952" y="378561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982712" y="386791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82712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06056" y="4983480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7616952" y="480974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982712" y="48920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982712" y="5221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0" name="Shape 28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2" name="Shape 30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3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4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5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6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7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8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9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26080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926080" y="2697480"/>
            <a:ext cx="1633667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1187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651187" y="2697480"/>
            <a:ext cx="1633667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6294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76294" y="2697480"/>
            <a:ext cx="1633667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01401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01401" y="2697480"/>
            <a:ext cx="1633667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6508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826508" y="2697480"/>
            <a:ext cx="1633667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697480"/>
            <a:ext cx="2194560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of use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71800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simple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96907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22014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47121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872228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538728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538728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971800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96907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22014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47121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72228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4379976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379976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granularity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971800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roles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696907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roles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22014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47121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72228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granular roles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5404104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tools sacrifice roles and real-time depth; complete tools become heavy. Synkro targets that gap.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6" name="Shape 44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7" name="Shape 45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8" name="Shape 46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9" name="Shape 47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0" name="Shape 48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1" name="Shape 49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2" name="Shape 50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3" name="Shape 51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4" name="Shape 52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57" name="Text 55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5577840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08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584448"/>
            <a:ext cx="5577840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6758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151376"/>
            <a:ext cx="5577840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24281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718304"/>
            <a:ext cx="5577840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80974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285232"/>
            <a:ext cx="5577840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783080"/>
            <a:ext cx="5212080" cy="2480645"/>
          </a:xfrm>
          <a:prstGeom prst="rect">
            <a:avLst/>
          </a:prstGeom>
          <a:ln w="12700">
            <a:solidFill>
              <a:srgbClr val="DBDCE3"/>
            </a:solidFill>
            <a:prstDash val="solid"/>
          </a:ln>
        </p:spPr>
      </p:sp>
      <p:pic>
        <p:nvPicPr>
          <p:cNvPr id="16" name="Image 0" descr="/home/claude/work/deck_assets/regist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212080" cy="248064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3" name="Shape 2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4" name="Shape 2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5" name="Shape 2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6" name="Shape 2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7" name="Shape 2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8" name="Shape 2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9" name="Shape 2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0" name="Shape 2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1" name="Shape 2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2" name="Shape 2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Text 3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48256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34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493008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21024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279392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40740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1937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852160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4" name="Shape 2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7" name="Shape 2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8" name="Shape 2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9" name="Shape 2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0" name="Shape 2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1" name="Shape 2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Text 3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including archiving and role management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05124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3505124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5124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tasks, manages members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70168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6370168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70168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235211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9235211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235211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work, restricted permissions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LEVEL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526280"/>
            <a:ext cx="518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873752"/>
            <a:ext cx="51814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70168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4" name="Text 22"/>
          <p:cNvSpPr/>
          <p:nvPr/>
        </p:nvSpPr>
        <p:spPr>
          <a:xfrm>
            <a:off x="6370168" y="4526280"/>
            <a:ext cx="518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70168" y="4873752"/>
            <a:ext cx="51814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5" name="Text 4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e-mail verification, login &amp; session management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64008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Profile, account settings &amp; visual theme management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4008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64008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lifecycle: status, checklists &amp; deliverables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4008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reviewer feedback &amp; real-time notifications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640080" y="544068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user management, suspension appeals &amp; analytics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26364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Usability: clean, responsive UI on desktop &amp; mobile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626364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real-time updates with minimal latency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26364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every sensitive action behind role-based authorization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26364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Maintainability: MVC separation &amp; a normalized data model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626364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light &amp; custom colour themes for user comfort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5989320" y="1783080"/>
            <a:ext cx="0" cy="402336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0" name="Shape 28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1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2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3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5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Text 38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2800" dirty="0"/>
          </a:p>
        </p:txBody>
      </p:sp>
      <p:pic>
        <p:nvPicPr>
          <p:cNvPr id="5" name="Image 0" descr="/home/claude/work/deck_assets/uc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892040" cy="35889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46342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use case diagram of Synkro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035040" y="1783080"/>
            <a:ext cx="5516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35040" y="2194560"/>
            <a:ext cx="551657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35040" y="3703320"/>
            <a:ext cx="5516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4023360"/>
            <a:ext cx="5516575" cy="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793328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844888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+ Inertia.js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035040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086600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93328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844888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035040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086600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793328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844888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Text 39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2500" dirty="0"/>
          </a:p>
        </p:txBody>
      </p:sp>
      <p:pic>
        <p:nvPicPr>
          <p:cNvPr id="5" name="Image 0" descr="/home/claude/work/deck_assets/gantt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00200"/>
            <a:ext cx="8138160" cy="358818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71269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18" name="Shape 1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19" name="Shape 1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1" name="Shape 1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2" name="Shape 1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3" name="Shape 2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4" name="Shape 2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5" name="Shape 2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26" name="Text 2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User Management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2589278"/>
            <a:ext cx="5257800" cy="2502405"/>
          </a:xfrm>
          <a:prstGeom prst="rect">
            <a:avLst/>
          </a:prstGeom>
          <a:ln w="12700">
            <a:solidFill>
              <a:srgbClr val="DBDCE3"/>
            </a:solidFill>
            <a:prstDash val="solid"/>
          </a:ln>
        </p:spPr>
      </p:sp>
      <p:pic>
        <p:nvPicPr>
          <p:cNvPr id="21" name="Image 0" descr="/home/claude/work/deck_asse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278"/>
            <a:ext cx="5257800" cy="250240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1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2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3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4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5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7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Text 38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&amp; Task Management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6849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 with pinning and archiving, and bulk task actions for reviewers and managers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2589477"/>
            <a:ext cx="5257800" cy="2502007"/>
          </a:xfrm>
          <a:prstGeom prst="rect">
            <a:avLst/>
          </a:prstGeom>
          <a:ln w="12700">
            <a:solidFill>
              <a:srgbClr val="DBDCE3"/>
            </a:solidFill>
            <a:prstDash val="solid"/>
          </a:ln>
        </p:spPr>
      </p:sp>
      <p:pic>
        <p:nvPicPr>
          <p:cNvPr id="19" name="Image 0" descr="/home/claude/work/deck_assets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477"/>
            <a:ext cx="5257800" cy="2502007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3" name="Shape 30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4" name="Shape 31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2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3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4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5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Text 36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Collaboration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0657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2585997"/>
            <a:ext cx="5257800" cy="2508966"/>
          </a:xfrm>
          <a:prstGeom prst="rect">
            <a:avLst/>
          </a:prstGeom>
          <a:ln w="12700">
            <a:solidFill>
              <a:srgbClr val="DBDCE3"/>
            </a:solidFill>
            <a:prstDash val="solid"/>
          </a:ln>
        </p:spPr>
      </p:sp>
      <p:pic>
        <p:nvPicPr>
          <p:cNvPr id="23" name="Image 0" descr="/home/claude/work/deck_assets/notif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5997"/>
            <a:ext cx="5257800" cy="2508966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0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Text 40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&amp; Analytics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80663" y="1783080"/>
            <a:ext cx="3663835" cy="4114800"/>
          </a:xfrm>
          <a:prstGeom prst="rect">
            <a:avLst/>
          </a:prstGeom>
          <a:ln w="12700">
            <a:solidFill>
              <a:srgbClr val="DBDCE3"/>
            </a:solidFill>
            <a:prstDash val="solid"/>
          </a:ln>
        </p:spPr>
      </p:sp>
      <p:pic>
        <p:nvPicPr>
          <p:cNvPr id="19" name="Image 0" descr="/home/claude/work/deck_asset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0663" y="1783080"/>
            <a:ext cx="3663835" cy="41148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5" name="Shape 32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6" name="Shape 33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7" name="Shape 34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8" name="Shape 35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39" name="Text 36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9384"/>
            <a:ext cx="54864" cy="7680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874520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Browser: React + Inertia.js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01688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807208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53512"/>
            <a:ext cx="54864" cy="7680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898648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34640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 controllers &amp; policies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01688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 notifications, logs, scheduler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831336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977640"/>
            <a:ext cx="54864" cy="7680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22776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834640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 (WebSocket server)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01688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Echo (client subscriber)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855464"/>
            <a:ext cx="10911535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5001768"/>
            <a:ext cx="54864" cy="7680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946904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834640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Eloquent ORM → MySQL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01688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Mail queue → notification e-mails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108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top to bottom; broadcast events fan out sideways into either a live WebSocket push or a queued e-mail, depending on the recipient's notification preferences.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9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" cy="5029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Laravel ecosystem: policies, jobs, scheduling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 without a separate REST layer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85032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with WebSockets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modelling at platform scale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001768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828800"/>
            <a:ext cx="256032" cy="502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6364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real-time updates without duplication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026664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flexible yet simple RBAC model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3685032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scope within a fixed seven-week window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4343400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my own Agile process end to end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5001768"/>
            <a:ext cx="5120640" cy="0"/>
          </a:xfrm>
          <a:prstGeom prst="line">
            <a:avLst/>
          </a:prstGeom>
          <a:noFill/>
          <a:ln w="6350">
            <a:solidFill>
              <a:srgbClr val="DBDC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16752" y="1828800"/>
            <a:ext cx="0" cy="3383280"/>
          </a:xfrm>
          <a:prstGeom prst="line">
            <a:avLst/>
          </a:prstGeom>
          <a:noFill/>
          <a:ln w="12700">
            <a:solidFill>
              <a:srgbClr val="DBDC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5" name="Text 43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1945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212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5888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5888" y="2496312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09544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5888" y="3209544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5888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22776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projects, showcased on public profiles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15888" y="3922776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configurable project roles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636008"/>
            <a:ext cx="5135728" cy="0"/>
          </a:xfrm>
          <a:prstGeom prst="line">
            <a:avLst/>
          </a:prstGeom>
          <a:noFill/>
          <a:ln w="9525">
            <a:solidFill>
              <a:srgbClr val="DBDC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745736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system-wide announcement broadcasts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DBDCE3"/>
          </a:solidFill>
          <a:ln/>
        </p:spPr>
      </p:sp>
      <p:sp>
        <p:nvSpPr>
          <p:cNvPr id="42" name="Text 40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920240"/>
            <a:ext cx="4572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8778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3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343748"/>
          </a:solidFill>
          <a:ln/>
        </p:spPr>
      </p:sp>
      <p:sp>
        <p:nvSpPr>
          <p:cNvPr id="26" name="Text 24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5760720"/>
            <a:ext cx="2011680" cy="0"/>
          </a:xfrm>
          <a:prstGeom prst="line">
            <a:avLst/>
          </a:prstGeom>
          <a:noFill/>
          <a:ln w="12700">
            <a:solidFill>
              <a:srgbClr val="3437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8704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E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E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Synkro, ISLAIB, Licence GLSI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10545775" y="63642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2026-09-15T20:04:13Z</dcterms:created>
  <dcterms:modified xsi:type="dcterms:W3CDTF">2026-09-15T20:04:13Z</dcterms:modified>
</cp:coreProperties>
</file>